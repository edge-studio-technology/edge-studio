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6256000" cy="9144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50282-FF4C-4F7A-BDEA-9C5B67B4FB50}" type="datetimeFigureOut">
              <a:rPr lang="sv-SE" smtClean="0"/>
              <a:t>2026-10-28</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3C1CA-0B42-490B-AB28-42559BACEE59}" type="slidenum">
              <a:rPr lang="sv-SE" smtClean="0"/>
              <a:t>‹#›</a:t>
            </a:fld>
            <a:endParaRPr lang="sv-SE"/>
          </a:p>
        </p:txBody>
      </p:sp>
    </p:spTree>
    <p:extLst>
      <p:ext uri="{BB962C8B-B14F-4D97-AF65-F5344CB8AC3E}">
        <p14:creationId xmlns:p14="http://schemas.microsoft.com/office/powerpoint/2010/main" val="1556395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 Module Builder
Screenshot: screenshots/01-local-workspace.png. Original demo capture; no generated UI artwork.
Stakeholder walkthrough based on the revised workshop decisions. Every UI image is a fresh capture from the frontend demo. The extension runtime, backup/restore, hosted library and commerce are not implemented. Estimates are planning hypotheses, not commitments.</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a:t>
            </a:fld>
            <a:endParaRPr lang="sv-SE"/>
          </a:p>
        </p:txBody>
      </p:sp>
    </p:spTree>
    <p:extLst>
      <p:ext uri="{BB962C8B-B14F-4D97-AF65-F5344CB8AC3E}">
        <p14:creationId xmlns:p14="http://schemas.microsoft.com/office/powerpoint/2010/main" val="2781110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 One package. Two delivery phases.
AI generation is expected in the user's own harness, guided by a planned module-builder-skill. Code editing and the module tools are in the app. Automated acceptance checks run BEFORE publication; initial human spam/content moderation occurs AFTER publication. The second card is a conceptual list, not a reversal of that ordering.</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2</a:t>
            </a:fld>
            <a:endParaRPr lang="sv-SE"/>
          </a:p>
        </p:txBody>
      </p:sp>
    </p:spTree>
    <p:extLst>
      <p:ext uri="{BB962C8B-B14F-4D97-AF65-F5344CB8AC3E}">
        <p14:creationId xmlns:p14="http://schemas.microsoft.com/office/powerpoint/2010/main" val="291652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3: 01 / Start in your local workspace
Screenshot: screenshots/01-local-workspace.png. Original demo capture; no generated UI artwork.
One place to manage: See installed capabilities, drafts, manual updates and recent activity.
Choose your next step: Create from a template or import a module from another instance.
Local first: Creation and local activation need no publisher account or hosted library.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3</a:t>
            </a:fld>
            <a:endParaRPr lang="sv-SE"/>
          </a:p>
        </p:txBody>
      </p:sp>
    </p:spTree>
    <p:extLst>
      <p:ext uri="{BB962C8B-B14F-4D97-AF65-F5344CB8AC3E}">
        <p14:creationId xmlns:p14="http://schemas.microsoft.com/office/powerpoint/2010/main" val="222311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4: 02 / Choose what the module contributes
Screenshot: screenshots/02-template-selection.png. Original demo capture; no generated UI artwork.
Three contribution surfaces: Start with a workflow block, device integration or hardware capability.
Reduce boilerplate: Templates provide an example manifest, source, configuration schema and documentation.
Keep the contract clear: Modules integrate through defined contracts; arbitrary code is not automatically a device.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4</a:t>
            </a:fld>
            <a:endParaRPr lang="sv-SE"/>
          </a:p>
        </p:txBody>
      </p:sp>
    </p:spTree>
    <p:extLst>
      <p:ext uri="{BB962C8B-B14F-4D97-AF65-F5344CB8AC3E}">
        <p14:creationId xmlns:p14="http://schemas.microsoft.com/office/powerpoint/2010/main" val="3604761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5: 03 / Generate in your own AI harness
Screenshot: screenshots/03-ai-harness-handoff.png. Original demo capture; no generated UI artwork.
Bring the contract to the AI: Use our planned skill and template in the harness you already work with.
Bring code back to the app: Paste or import generated source, then edit and check it locally.
A deliberate product boundary: We provide the module journey without building an AI coding harness or CLI.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5</a:t>
            </a:fld>
            <a:endParaRPr lang="sv-SE"/>
          </a:p>
        </p:txBody>
      </p:sp>
    </p:spTree>
    <p:extLst>
      <p:ext uri="{BB962C8B-B14F-4D97-AF65-F5344CB8AC3E}">
        <p14:creationId xmlns:p14="http://schemas.microsoft.com/office/powerpoint/2010/main" val="3852946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6: 04 / Edit code with the outcome in view
Screenshot: screenshots/04-edit-and-preview.png. Original demo capture; no generated UI artwork.
Code editing stays in the app: Inspect files and make changes after the external generation step.
Configuration is a schema: Forms, guides and wizard steps use common rendering contracts.
Scope stays focused: Arbitrary custom views and block editors wait for a concrete required example.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6</a:t>
            </a:fld>
            <a:endParaRPr lang="sv-SE"/>
          </a:p>
        </p:txBody>
      </p:sp>
    </p:spTree>
    <p:extLst>
      <p:ext uri="{BB962C8B-B14F-4D97-AF65-F5344CB8AC3E}">
        <p14:creationId xmlns:p14="http://schemas.microsoft.com/office/powerpoint/2010/main" val="2944770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7: 05 / Preview device setup
Screenshot: screenshots/05-device-schema-preview.png. Original demo capture; no generated UI artwork.
Preview before activation: See the fields and guidance an operator would encounter when adding a device.
Keep the UI consistent: Modules contribute configuration and instructions to the existing app experience.
Separate preview from execution: A visual preview is not proof that a sensor, driver or host action works.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7</a:t>
            </a:fld>
            <a:endParaRPr lang="sv-SE"/>
          </a:p>
        </p:txBody>
      </p:sp>
    </p:spTree>
    <p:extLst>
      <p:ext uri="{BB962C8B-B14F-4D97-AF65-F5344CB8AC3E}">
        <p14:creationId xmlns:p14="http://schemas.microsoft.com/office/powerpoint/2010/main" val="3464189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Slide 8: 06 / Preview a hardware capability
Screenshot: screenshots/06-hardware-preview.png. Original demo capture; no generated UI artwork.
Declare lifecycle actions: Hardware packages need setup, enable/disable, status and cleanup behavior.
Full host access is intentional: A privileged extension is trusted host software, not sandboxed code.
Show the operational outcome: Explain prerequisites, failures, reboot needs and what uninstall can leave behind.
</a:t>
            </a:r>
          </a:p>
        </p:txBody>
      </p:sp>
      <p:sp>
        <p:nvSpPr>
          <p:cNvPr id="4" name="Slide Number Placeholder 3"/>
          <p:cNvSpPr>
            <a:spLocks noGrp="1"/>
          </p:cNvSpPr>
          <p:nvPr>
            <p:ph type="sldNum" sz="quarter" idx="5"/>
          </p:nvPr>
        </p:nvSpPr>
        <p:spPr/>
        <p:txBody>
          <a:bodyPr/>
          <a:lstStyle/>
          <a:p>
            <a:fld id="{F5C3C1CA-0B42-490B-AB28-42559BACEE59}" type="slidenum">
              <a:rPr lang="sv-SE" smtClean="0"/>
              <a:t>8</a:t>
            </a:fld>
            <a:endParaRPr lang="sv-SE"/>
          </a:p>
        </p:txBody>
      </p:sp>
    </p:spTree>
    <p:extLst>
      <p:ext uri="{BB962C8B-B14F-4D97-AF65-F5344CB8AC3E}">
        <p14:creationId xmlns:p14="http://schemas.microsoft.com/office/powerpoint/2010/main" val="2209315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Slide 9: 07 / Test, validate and package a revision
Screenshot: screenshots/07-validated-package.png. Original demo capture; no generated UI artwork.
Try sample inputs: Preview representative outputs and inspect logs before activation.
Validate package structure: Check metadata, configuration and entry points; deeper implementation checks follow the runtime contract.
Package the exact revision: Code or metadata changes invalidate preparation and require a fresh package.
</a:t>
            </a:r>
          </a:p>
        </p:txBody>
      </p:sp>
      <p:sp>
        <p:nvSpPr>
          <p:cNvPr id="4" name="Slide Number Placeholder 3"/>
          <p:cNvSpPr>
            <a:spLocks noGrp="1"/>
          </p:cNvSpPr>
          <p:nvPr>
            <p:ph type="sldNum" sz="quarter" idx="5"/>
          </p:nvPr>
        </p:nvSpPr>
        <p:spPr/>
        <p:txBody>
          <a:bodyPr/>
          <a:lstStyle/>
          <a:p>
            <a:fld id="{F5C3C1CA-0B42-490B-AB28-42559BACEE59}" type="slidenum">
              <a:rPr lang="sv-SE" smtClean="0"/>
              <a:t>9</a:t>
            </a:fld>
            <a:endParaRPr lang="sv-SE"/>
          </a:p>
        </p:txBody>
      </p:sp>
    </p:spTree>
    <p:extLst>
      <p:ext uri="{BB962C8B-B14F-4D97-AF65-F5344CB8AC3E}">
        <p14:creationId xmlns:p14="http://schemas.microsoft.com/office/powerpoint/2010/main" val="803861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10: 08 / Back up before changing the device
Screenshot: screenshots/08-backup-before-activation.png. Original demo capture; no generated UI artwork.
Prompt before execution: Offer device and log exports before install/update hooks or local activation.
Restore managed state: The planned app-wide device backup must have a tested restore path.
Be precise about coverage: Logs are diagnostic. App backups do not universally undo OS, firmware or hardware changes.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10</a:t>
            </a:fld>
            <a:endParaRPr lang="sv-SE"/>
          </a:p>
        </p:txBody>
      </p:sp>
    </p:spTree>
    <p:extLst>
      <p:ext uri="{BB962C8B-B14F-4D97-AF65-F5344CB8AC3E}">
        <p14:creationId xmlns:p14="http://schemas.microsoft.com/office/powerpoint/2010/main" val="3146008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11: 09 / Activate locally and retain control
Screenshot: screenshots/09-local-activation.png. Original demo capture; no generated UI artwork.
Activate explicitly: A library installation first adds an inactive package; the operator chooses when to activate.
Keep lifecycle actions manual: Enable, disable and update through clear user actions.
Preserve useful state: Removal retains device/workflow configuration and history unless deletion is explicitly requested.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11</a:t>
            </a:fld>
            <a:endParaRPr lang="sv-SE"/>
          </a:p>
        </p:txBody>
      </p:sp>
    </p:spTree>
    <p:extLst>
      <p:ext uri="{BB962C8B-B14F-4D97-AF65-F5344CB8AC3E}">
        <p14:creationId xmlns:p14="http://schemas.microsoft.com/office/powerpoint/2010/main" val="1832364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12: 10 / Share directly between instances
Screenshot: screenshots/10-local-import-export.png. Original demo capture; no generated UI artwork.
Export source or a package: Prepare a shareable module without exporting configured credentials or device history.
Import on another instance: Prove author independence without publishing or changing core source.
Keep three artifacts distinct: Source, installable packages and complete device backups serve different purposes.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12</a:t>
            </a:fld>
            <a:endParaRPr lang="sv-SE"/>
          </a:p>
        </p:txBody>
      </p:sp>
    </p:spTree>
    <p:extLst>
      <p:ext uri="{BB962C8B-B14F-4D97-AF65-F5344CB8AC3E}">
        <p14:creationId xmlns:p14="http://schemas.microsoft.com/office/powerpoint/2010/main" val="2933090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13: 11 / Discover a module in the hosted library
Screenshot: screenshots/14-library-discovery.png. Original demo capture; no generated UI artwork.
Find capabilities: Search by module and contribution type rather than waiting for a core release.
Understand the publisher: Publisher profiles, module ratings, aggregate builder ratings and downloads provide context.
Retain operator choice: Inspect a release and its requested access before adding it to the device.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13</a:t>
            </a:fld>
            <a:endParaRPr lang="sv-SE"/>
          </a:p>
        </p:txBody>
      </p:sp>
    </p:spTree>
    <p:extLst>
      <p:ext uri="{BB962C8B-B14F-4D97-AF65-F5344CB8AC3E}">
        <p14:creationId xmlns:p14="http://schemas.microsoft.com/office/powerpoint/2010/main" val="259834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14: 12 / Inspect the exact release source
Screenshot: screenshots/13-release-source.png. Original demo capture; no generated UI artwork.
Inspect a versioned snapshot: The published release remains unchanged when an author later edits a local draft.
Review dependencies and access: Read the manifest, source and release notes; provenance must match the installed artifact.
Separate the signals: Inspection reports are distinct from ratings and verified-purchase reviews.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14</a:t>
            </a:fld>
            <a:endParaRPr lang="sv-SE"/>
          </a:p>
        </p:txBody>
      </p:sp>
    </p:spTree>
    <p:extLst>
      <p:ext uri="{BB962C8B-B14F-4D97-AF65-F5344CB8AC3E}">
        <p14:creationId xmlns:p14="http://schemas.microsoft.com/office/powerpoint/2010/main" val="2067657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15: 13 / Publish after automated acceptance checks
Screenshot: screenshots/11-publishing-checks.png. Original demo capture; no generated UI artwork.
Package first: Publication uses a prepared revision plus metadata and documentation.
Run acceptance checks: Automated checks precede publication; exact production rules still need definition.
Acknowledge the contents: The author confirms their right to share; this is not a manual reviewer approval.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15</a:t>
            </a:fld>
            <a:endParaRPr lang="sv-SE"/>
          </a:p>
        </p:txBody>
      </p:sp>
    </p:spTree>
    <p:extLst>
      <p:ext uri="{BB962C8B-B14F-4D97-AF65-F5344CB8AC3E}">
        <p14:creationId xmlns:p14="http://schemas.microsoft.com/office/powerpoint/2010/main" val="752515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16: 14 / Community feedback after publication
Screenshot: screenshots/12-community-listing.png. Original demo capture; no generated UI artwork.
Initial rollout: Human moderation after publication filters spam and inappropriate uploads.
Long-term operating model: Community-managed inspection, reports and moderation supported by automation.
Separate service ownership: The web library is maintained separately from community module creation.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16</a:t>
            </a:fld>
            <a:endParaRPr lang="sv-SE"/>
          </a:p>
        </p:txBody>
      </p:sp>
    </p:spTree>
    <p:extLst>
      <p:ext uri="{BB962C8B-B14F-4D97-AF65-F5344CB8AC3E}">
        <p14:creationId xmlns:p14="http://schemas.microsoft.com/office/powerpoint/2010/main" val="32283611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17: 15 / Paid official distribution, inspectable source
Screenshot: screenshots/15-paid-module-concept.png. Original demo capture; no generated UI artwork.
Inspect before purchasing: Source remains inspectable; publisher identity and release provenance matter.
Use installed versions offline: The direction supports local entitlements without continuous license-server access.
Commerce is part of Phase 2: Paid distribution is required. Pricing, provider, subscription and redistribution/fork policies still need definition.
</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17</a:t>
            </a:fld>
            <a:endParaRPr lang="sv-SE"/>
          </a:p>
        </p:txBody>
      </p:sp>
    </p:spTree>
    <p:extLst>
      <p:ext uri="{BB962C8B-B14F-4D97-AF65-F5344CB8AC3E}">
        <p14:creationId xmlns:p14="http://schemas.microsoft.com/office/powerpoint/2010/main" val="1453516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18: Delivery: local value first, hosted services second
App-wide device/log export and tested restore are an enabling dependency for D7. M3 may begin once M1 contracts are usable and run alongside migration, but calendar estimates below conservatively avoid assuming free parallel capacity.</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18</a:t>
            </a:fld>
            <a:endParaRPr lang="sv-SE"/>
          </a:p>
        </p:txBody>
      </p:sp>
    </p:spTree>
    <p:extLst>
      <p:ext uri="{BB962C8B-B14F-4D97-AF65-F5344CB8AC3E}">
        <p14:creationId xmlns:p14="http://schemas.microsoft.com/office/powerpoint/2010/main" val="139254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19: How to read the development estimates
These are original engineering judgments, not the workshop's ordinal resource scores or industry benchmarks. Two engineers are an explicit assumption pending stakeholder confirmation. QA/infrastructure availability is assumed, not counted as a zero-cost service; their separate staffing/cost is not estimated here. AI usage is not assigned an unsupported productivity multiplier.</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19</a:t>
            </a:fld>
            <a:endParaRPr lang="sv-SE"/>
          </a:p>
        </p:txBody>
      </p:sp>
    </p:spTree>
    <p:extLst>
      <p:ext uri="{BB962C8B-B14F-4D97-AF65-F5344CB8AC3E}">
        <p14:creationId xmlns:p14="http://schemas.microsoft.com/office/powerpoint/2010/main" val="1490778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20: Phase 1 estimates: prove local extensibility
M1 covers capability inventory, contracts, local storage/installer/supervisor foundation and one vertical slice. M2 covers hardware supervisor migration, device registries, workflow dispatch, legacy-ID/state migration and parity/failure tests. M3 covers editing, templates, skill guidance, schema previews, test/log tooling, packaging/import/export and independent-author acceptance. Backup/restore is app-wide work, not a module-specific replacement. If delivered by another team, subtract its 6–10 engineer-weeks from this team's Phase 1 effort but retain the integration dependency. No overlap is subtracted from this total.</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20</a:t>
            </a:fld>
            <a:endParaRPr lang="sv-SE"/>
          </a:p>
        </p:txBody>
      </p:sp>
    </p:spTree>
    <p:extLst>
      <p:ext uri="{BB962C8B-B14F-4D97-AF65-F5344CB8AC3E}">
        <p14:creationId xmlns:p14="http://schemas.microsoft.com/office/powerpoint/2010/main" val="2944453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21: Phase 2 estimates: library and commerce
M4a includes production-service setup, backups/monitoring and app-library integration, but not continuous operation after launch. M4b includes implementing post-publication moderation/reporting tools, not indefinite reviewer staffing. M4c commerce is REQUIRED in Phase 2. Its estimate assumes one established payment provider, a simple purchase model and agreed policies. Subscriptions, strict copy enforcement, multi-provider payments, hosted builds and automated AI review pipelines are not included. Legal/accounting policy, payment-provider approval and commercial terms are unestimated dependencies, not hidden zero-cost work.</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21</a:t>
            </a:fld>
            <a:endParaRPr lang="sv-SE"/>
          </a:p>
        </p:txBody>
      </p:sp>
    </p:spTree>
    <p:extLst>
      <p:ext uri="{BB962C8B-B14F-4D97-AF65-F5344CB8AC3E}">
        <p14:creationId xmlns:p14="http://schemas.microsoft.com/office/powerpoint/2010/main" val="914908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22: A planning envelope, not a promised launch date
Totals include the app-wide backup/restore prerequisite. Ranges are sums of milestone ranges, not calibrated statistical confidence intervals. They are not fixed commitments or monetary quotes. Reuse of existing backup work or scope reductions can reduce effort; unknown hardware/migration requirements can increase it. Sustainable operating staffing is separate from development effort.</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22</a:t>
            </a:fld>
            <a:endParaRPr lang="sv-SE"/>
          </a:p>
        </p:txBody>
      </p:sp>
    </p:spTree>
    <p:extLst>
      <p:ext uri="{BB962C8B-B14F-4D97-AF65-F5344CB8AC3E}">
        <p14:creationId xmlns:p14="http://schemas.microsoft.com/office/powerpoint/2010/main" val="999541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23: Validate the first slice before committing the full build
No funding, staffing or delivery-date commitment is implied by this deck. D1–D7 directions have qualifications; D8, detailed purchase/provider terms, checks/ownership and the backup skip policy remain open. Commerce is required within Phase 2. The source plan and workshop revision are the current references, not the older stakeholder deck.</a:t>
            </a:r>
            <a:endParaRPr lang="sv-SE"/>
          </a:p>
        </p:txBody>
      </p:sp>
      <p:sp>
        <p:nvSpPr>
          <p:cNvPr id="4" name="Slide Number Placeholder 3"/>
          <p:cNvSpPr>
            <a:spLocks noGrp="1"/>
          </p:cNvSpPr>
          <p:nvPr>
            <p:ph type="sldNum" sz="quarter" idx="5"/>
          </p:nvPr>
        </p:nvSpPr>
        <p:spPr/>
        <p:txBody>
          <a:bodyPr/>
          <a:lstStyle/>
          <a:p>
            <a:fld id="{F5C3C1CA-0B42-490B-AB28-42559BACEE59}" type="slidenum">
              <a:rPr lang="sv-SE" smtClean="0"/>
              <a:t>23</a:t>
            </a:fld>
            <a:endParaRPr lang="sv-SE"/>
          </a:p>
        </p:txBody>
      </p:sp>
    </p:spTree>
    <p:extLst>
      <p:ext uri="{BB962C8B-B14F-4D97-AF65-F5344CB8AC3E}">
        <p14:creationId xmlns:p14="http://schemas.microsoft.com/office/powerpoint/2010/main" val="3669709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78DA5-ACFF-4857-DF22-DB096555B011}"/>
              </a:ext>
            </a:extLst>
          </p:cNvPr>
          <p:cNvSpPr>
            <a:spLocks noGrp="1"/>
          </p:cNvSpPr>
          <p:nvPr>
            <p:ph type="ctrTitle"/>
          </p:nvPr>
        </p:nvSpPr>
        <p:spPr>
          <a:xfrm>
            <a:off x="2032000" y="1496484"/>
            <a:ext cx="12192000" cy="3183467"/>
          </a:xfrm>
        </p:spPr>
        <p:txBody>
          <a:bodyPr anchor="b"/>
          <a:lstStyle>
            <a:lvl1pPr algn="ctr">
              <a:defRPr sz="6000"/>
            </a:lvl1pPr>
          </a:lstStyle>
          <a:p>
            <a:r>
              <a:rPr lang="en-US"/>
              <a:t>Click to edit Master title style</a:t>
            </a:r>
            <a:endParaRPr lang="sv-SE"/>
          </a:p>
        </p:txBody>
      </p:sp>
      <p:sp>
        <p:nvSpPr>
          <p:cNvPr id="3" name="Subtitle 2">
            <a:extLst>
              <a:ext uri="{FF2B5EF4-FFF2-40B4-BE49-F238E27FC236}">
                <a16:creationId xmlns:a16="http://schemas.microsoft.com/office/drawing/2014/main" id="{9BEABD98-890D-F808-4AE1-4F1C8AB7EB49}"/>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4" name="Date Placeholder 3">
            <a:extLst>
              <a:ext uri="{FF2B5EF4-FFF2-40B4-BE49-F238E27FC236}">
                <a16:creationId xmlns:a16="http://schemas.microsoft.com/office/drawing/2014/main" id="{E2CB0041-B475-9535-B22B-5C4B59F5ABCE}"/>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5" name="Footer Placeholder 4">
            <a:extLst>
              <a:ext uri="{FF2B5EF4-FFF2-40B4-BE49-F238E27FC236}">
                <a16:creationId xmlns:a16="http://schemas.microsoft.com/office/drawing/2014/main" id="{620579F7-AB89-8BE5-6DE4-F42140B59648}"/>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E289705F-EA55-C33F-8D1D-164AA7A3E9B9}"/>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2928704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0640-44A2-6598-64E1-E0932884E40F}"/>
              </a:ext>
            </a:extLst>
          </p:cNvPr>
          <p:cNvSpPr>
            <a:spLocks noGrp="1"/>
          </p:cNvSpPr>
          <p:nvPr>
            <p:ph type="title"/>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15CA00AD-5176-AF9C-88B7-684D098995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65270739-E58B-B8E7-BED8-2A23C39A827D}"/>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5" name="Footer Placeholder 4">
            <a:extLst>
              <a:ext uri="{FF2B5EF4-FFF2-40B4-BE49-F238E27FC236}">
                <a16:creationId xmlns:a16="http://schemas.microsoft.com/office/drawing/2014/main" id="{39386514-0C0E-60A8-CB1A-4927B3E08AD9}"/>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D27EB613-F91D-065A-D426-1606F747BE24}"/>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3716847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3841B-BEE0-5EB0-2543-14ECAD012209}"/>
              </a:ext>
            </a:extLst>
          </p:cNvPr>
          <p:cNvSpPr>
            <a:spLocks noGrp="1"/>
          </p:cNvSpPr>
          <p:nvPr>
            <p:ph type="title"/>
          </p:nvPr>
        </p:nvSpPr>
        <p:spPr>
          <a:xfrm>
            <a:off x="1109133" y="2279653"/>
            <a:ext cx="14020800" cy="3803649"/>
          </a:xfrm>
        </p:spPr>
        <p:txBody>
          <a:bodyPr anchor="b"/>
          <a:lstStyle>
            <a:lvl1pPr>
              <a:defRPr sz="6000"/>
            </a:lvl1pPr>
          </a:lstStyle>
          <a:p>
            <a:r>
              <a:rPr lang="en-US"/>
              <a:t>Click to edit Master title style</a:t>
            </a:r>
            <a:endParaRPr lang="sv-SE"/>
          </a:p>
        </p:txBody>
      </p:sp>
      <p:sp>
        <p:nvSpPr>
          <p:cNvPr id="3" name="Text Placeholder 2">
            <a:extLst>
              <a:ext uri="{FF2B5EF4-FFF2-40B4-BE49-F238E27FC236}">
                <a16:creationId xmlns:a16="http://schemas.microsoft.com/office/drawing/2014/main" id="{C096961A-B9C1-9CE0-FBF8-F48C42EB80AE}"/>
              </a:ext>
            </a:extLst>
          </p:cNvPr>
          <p:cNvSpPr>
            <a:spLocks noGrp="1"/>
          </p:cNvSpPr>
          <p:nvPr>
            <p:ph type="body" idx="1"/>
          </p:nvPr>
        </p:nvSpPr>
        <p:spPr>
          <a:xfrm>
            <a:off x="1109133" y="6119286"/>
            <a:ext cx="14020800" cy="200024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98881-CE54-81BF-EF20-AD36E8F3C096}"/>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5" name="Footer Placeholder 4">
            <a:extLst>
              <a:ext uri="{FF2B5EF4-FFF2-40B4-BE49-F238E27FC236}">
                <a16:creationId xmlns:a16="http://schemas.microsoft.com/office/drawing/2014/main" id="{DC9A44CA-8351-F340-0265-A28E827C1DBD}"/>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7E69F15F-E7E5-34EF-609E-3E9E27C9BA57}"/>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4262983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B3AC-4EC3-D1C9-C693-337F43FA72A7}"/>
              </a:ext>
            </a:extLst>
          </p:cNvPr>
          <p:cNvSpPr>
            <a:spLocks noGrp="1"/>
          </p:cNvSpPr>
          <p:nvPr>
            <p:ph type="title"/>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7AF51D21-CC75-2A6E-3D53-31256AF61CCF}"/>
              </a:ext>
            </a:extLst>
          </p:cNvPr>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ontent Placeholder 3">
            <a:extLst>
              <a:ext uri="{FF2B5EF4-FFF2-40B4-BE49-F238E27FC236}">
                <a16:creationId xmlns:a16="http://schemas.microsoft.com/office/drawing/2014/main" id="{6C2AFFBA-4422-E042-CB50-5CFC5308455A}"/>
              </a:ext>
            </a:extLst>
          </p:cNvPr>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Date Placeholder 4">
            <a:extLst>
              <a:ext uri="{FF2B5EF4-FFF2-40B4-BE49-F238E27FC236}">
                <a16:creationId xmlns:a16="http://schemas.microsoft.com/office/drawing/2014/main" id="{DB39B774-97C8-8BE8-BF11-C5D2811C19C6}"/>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6" name="Footer Placeholder 5">
            <a:extLst>
              <a:ext uri="{FF2B5EF4-FFF2-40B4-BE49-F238E27FC236}">
                <a16:creationId xmlns:a16="http://schemas.microsoft.com/office/drawing/2014/main" id="{D4651137-4C1A-F152-764C-51366BFCC4D3}"/>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483BF345-FD21-3DA7-4C3F-EFD85BA4A315}"/>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387714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6B213-C1B6-656E-71AE-C38A7B6DFFAE}"/>
              </a:ext>
            </a:extLst>
          </p:cNvPr>
          <p:cNvSpPr>
            <a:spLocks noGrp="1"/>
          </p:cNvSpPr>
          <p:nvPr>
            <p:ph type="title"/>
          </p:nvPr>
        </p:nvSpPr>
        <p:spPr>
          <a:xfrm>
            <a:off x="1119717" y="486836"/>
            <a:ext cx="14020800" cy="1767417"/>
          </a:xfrm>
        </p:spPr>
        <p:txBody>
          <a:bodyPr/>
          <a:lstStyle/>
          <a:p>
            <a:r>
              <a:rPr lang="en-US"/>
              <a:t>Click to edit Master title style</a:t>
            </a:r>
            <a:endParaRPr lang="sv-SE"/>
          </a:p>
        </p:txBody>
      </p:sp>
      <p:sp>
        <p:nvSpPr>
          <p:cNvPr id="3" name="Text Placeholder 2">
            <a:extLst>
              <a:ext uri="{FF2B5EF4-FFF2-40B4-BE49-F238E27FC236}">
                <a16:creationId xmlns:a16="http://schemas.microsoft.com/office/drawing/2014/main" id="{2586EB61-D33D-3861-EE5D-97755CF11CB9}"/>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6CD51F-9EE2-88DC-5F77-E98F1106C537}"/>
              </a:ext>
            </a:extLst>
          </p:cNvPr>
          <p:cNvSpPr>
            <a:spLocks noGrp="1"/>
          </p:cNvSpPr>
          <p:nvPr>
            <p:ph sz="half" idx="2"/>
          </p:nvPr>
        </p:nvSpPr>
        <p:spPr>
          <a:xfrm>
            <a:off x="1119719"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Text Placeholder 4">
            <a:extLst>
              <a:ext uri="{FF2B5EF4-FFF2-40B4-BE49-F238E27FC236}">
                <a16:creationId xmlns:a16="http://schemas.microsoft.com/office/drawing/2014/main" id="{719A70E2-9239-D462-AAC4-06EB3F712634}"/>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336A9E-DCD8-82D6-3CF3-93E4EC483E10}"/>
              </a:ext>
            </a:extLst>
          </p:cNvPr>
          <p:cNvSpPr>
            <a:spLocks noGrp="1"/>
          </p:cNvSpPr>
          <p:nvPr>
            <p:ph sz="quarter" idx="4"/>
          </p:nvPr>
        </p:nvSpPr>
        <p:spPr>
          <a:xfrm>
            <a:off x="8229601"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Date Placeholder 6">
            <a:extLst>
              <a:ext uri="{FF2B5EF4-FFF2-40B4-BE49-F238E27FC236}">
                <a16:creationId xmlns:a16="http://schemas.microsoft.com/office/drawing/2014/main" id="{77C688AA-83C1-5345-C9CA-B21EC42D3A01}"/>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8" name="Footer Placeholder 7">
            <a:extLst>
              <a:ext uri="{FF2B5EF4-FFF2-40B4-BE49-F238E27FC236}">
                <a16:creationId xmlns:a16="http://schemas.microsoft.com/office/drawing/2014/main" id="{8CA104B2-7CBB-502B-8439-CD97805BC7A9}"/>
              </a:ext>
            </a:extLst>
          </p:cNvPr>
          <p:cNvSpPr>
            <a:spLocks noGrp="1"/>
          </p:cNvSpPr>
          <p:nvPr>
            <p:ph type="ftr" sz="quarter" idx="11"/>
          </p:nvPr>
        </p:nvSpPr>
        <p:spPr/>
        <p:txBody>
          <a:bodyPr/>
          <a:lstStyle/>
          <a:p>
            <a:endParaRPr lang="sv-SE"/>
          </a:p>
        </p:txBody>
      </p:sp>
      <p:sp>
        <p:nvSpPr>
          <p:cNvPr id="9" name="Slide Number Placeholder 8">
            <a:extLst>
              <a:ext uri="{FF2B5EF4-FFF2-40B4-BE49-F238E27FC236}">
                <a16:creationId xmlns:a16="http://schemas.microsoft.com/office/drawing/2014/main" id="{67C387E0-58A8-47DE-D6B3-4E82D58C1049}"/>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4259245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711FE-D0AB-7E2E-9CCC-A5100F360634}"/>
              </a:ext>
            </a:extLst>
          </p:cNvPr>
          <p:cNvSpPr>
            <a:spLocks noGrp="1"/>
          </p:cNvSpPr>
          <p:nvPr>
            <p:ph type="title"/>
          </p:nvPr>
        </p:nvSpPr>
        <p:spPr/>
        <p:txBody>
          <a:bodyPr/>
          <a:lstStyle/>
          <a:p>
            <a:r>
              <a:rPr lang="en-US"/>
              <a:t>Click to edit Master title style</a:t>
            </a:r>
            <a:endParaRPr lang="sv-SE"/>
          </a:p>
        </p:txBody>
      </p:sp>
      <p:sp>
        <p:nvSpPr>
          <p:cNvPr id="3" name="Date Placeholder 2">
            <a:extLst>
              <a:ext uri="{FF2B5EF4-FFF2-40B4-BE49-F238E27FC236}">
                <a16:creationId xmlns:a16="http://schemas.microsoft.com/office/drawing/2014/main" id="{455A0C1A-F446-859E-C255-0B9663634B37}"/>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4" name="Footer Placeholder 3">
            <a:extLst>
              <a:ext uri="{FF2B5EF4-FFF2-40B4-BE49-F238E27FC236}">
                <a16:creationId xmlns:a16="http://schemas.microsoft.com/office/drawing/2014/main" id="{FEE884B6-CE7B-ED8E-9FB3-BAE5693E445E}"/>
              </a:ext>
            </a:extLst>
          </p:cNvPr>
          <p:cNvSpPr>
            <a:spLocks noGrp="1"/>
          </p:cNvSpPr>
          <p:nvPr>
            <p:ph type="ftr" sz="quarter" idx="11"/>
          </p:nvPr>
        </p:nvSpPr>
        <p:spPr/>
        <p:txBody>
          <a:bodyPr/>
          <a:lstStyle/>
          <a:p>
            <a:endParaRPr lang="sv-SE"/>
          </a:p>
        </p:txBody>
      </p:sp>
      <p:sp>
        <p:nvSpPr>
          <p:cNvPr id="5" name="Slide Number Placeholder 4">
            <a:extLst>
              <a:ext uri="{FF2B5EF4-FFF2-40B4-BE49-F238E27FC236}">
                <a16:creationId xmlns:a16="http://schemas.microsoft.com/office/drawing/2014/main" id="{523F3EEB-F0CD-14C5-6AB3-2598E2E5568D}"/>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286505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66BAA-35E0-6B3D-25B5-38E71F7DDAE0}"/>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3" name="Footer Placeholder 2">
            <a:extLst>
              <a:ext uri="{FF2B5EF4-FFF2-40B4-BE49-F238E27FC236}">
                <a16:creationId xmlns:a16="http://schemas.microsoft.com/office/drawing/2014/main" id="{3E87CC9F-5D4B-CFEB-7304-304E9A251471}"/>
              </a:ext>
            </a:extLst>
          </p:cNvPr>
          <p:cNvSpPr>
            <a:spLocks noGrp="1"/>
          </p:cNvSpPr>
          <p:nvPr>
            <p:ph type="ftr" sz="quarter" idx="11"/>
          </p:nvPr>
        </p:nvSpPr>
        <p:spPr/>
        <p:txBody>
          <a:bodyPr/>
          <a:lstStyle/>
          <a:p>
            <a:endParaRPr lang="sv-SE"/>
          </a:p>
        </p:txBody>
      </p:sp>
      <p:sp>
        <p:nvSpPr>
          <p:cNvPr id="4" name="Slide Number Placeholder 3">
            <a:extLst>
              <a:ext uri="{FF2B5EF4-FFF2-40B4-BE49-F238E27FC236}">
                <a16:creationId xmlns:a16="http://schemas.microsoft.com/office/drawing/2014/main" id="{37E20317-17F6-6F1E-73EE-0B2064DB4C5A}"/>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3830196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1EFB5-1783-038F-E7D6-70CF3AC4DF17}"/>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endParaRPr lang="sv-SE"/>
          </a:p>
        </p:txBody>
      </p:sp>
      <p:sp>
        <p:nvSpPr>
          <p:cNvPr id="3" name="Content Placeholder 2">
            <a:extLst>
              <a:ext uri="{FF2B5EF4-FFF2-40B4-BE49-F238E27FC236}">
                <a16:creationId xmlns:a16="http://schemas.microsoft.com/office/drawing/2014/main" id="{73BFF0BD-BE85-B103-42B4-DB45744C0B3E}"/>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a:extLst>
              <a:ext uri="{FF2B5EF4-FFF2-40B4-BE49-F238E27FC236}">
                <a16:creationId xmlns:a16="http://schemas.microsoft.com/office/drawing/2014/main" id="{1B6147E2-A277-FB4C-AD1E-DBC0912D19D7}"/>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C3C18-3BDD-83B6-4C3E-94F5E7A3DB19}"/>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6" name="Footer Placeholder 5">
            <a:extLst>
              <a:ext uri="{FF2B5EF4-FFF2-40B4-BE49-F238E27FC236}">
                <a16:creationId xmlns:a16="http://schemas.microsoft.com/office/drawing/2014/main" id="{90D6C456-EB70-5C00-C636-EB5DFA4F2920}"/>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37D39C01-4EC4-1A8F-5FF1-2284CE28A30F}"/>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3485554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5BB7-D98C-0827-727A-6CAE534834E1}"/>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endParaRPr lang="sv-SE"/>
          </a:p>
        </p:txBody>
      </p:sp>
      <p:sp>
        <p:nvSpPr>
          <p:cNvPr id="3" name="Picture Placeholder 2">
            <a:extLst>
              <a:ext uri="{FF2B5EF4-FFF2-40B4-BE49-F238E27FC236}">
                <a16:creationId xmlns:a16="http://schemas.microsoft.com/office/drawing/2014/main" id="{1184C16D-EB05-875B-BE7B-9AC173DF759D}"/>
              </a:ext>
            </a:extLst>
          </p:cNvPr>
          <p:cNvSpPr>
            <a:spLocks noGrp="1" noChangeAspect="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a:extLst>
              <a:ext uri="{FF2B5EF4-FFF2-40B4-BE49-F238E27FC236}">
                <a16:creationId xmlns:a16="http://schemas.microsoft.com/office/drawing/2014/main" id="{19042C3A-5A05-EF2C-5B18-BE029386C159}"/>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6340CE-E69F-E5D9-9E99-D5DC98E9A954}"/>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6" name="Footer Placeholder 5">
            <a:extLst>
              <a:ext uri="{FF2B5EF4-FFF2-40B4-BE49-F238E27FC236}">
                <a16:creationId xmlns:a16="http://schemas.microsoft.com/office/drawing/2014/main" id="{33EC3F25-F9C2-4151-40E1-26598C952D06}"/>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6281EDFA-F9F1-A036-55DD-F5DBCC5D7C14}"/>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1516363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E62E9-65B4-4779-F139-DC136259E8EC}"/>
              </a:ext>
            </a:extLst>
          </p:cNvPr>
          <p:cNvSpPr>
            <a:spLocks noGrp="1"/>
          </p:cNvSpPr>
          <p:nvPr>
            <p:ph type="title"/>
          </p:nvPr>
        </p:nvSpPr>
        <p:spPr/>
        <p:txBody>
          <a:bodyPr/>
          <a:lstStyle/>
          <a:p>
            <a:r>
              <a:rPr lang="en-US"/>
              <a:t>Click to edit Master title style</a:t>
            </a:r>
            <a:endParaRPr lang="sv-SE"/>
          </a:p>
        </p:txBody>
      </p:sp>
      <p:sp>
        <p:nvSpPr>
          <p:cNvPr id="3" name="Vertical Text Placeholder 2">
            <a:extLst>
              <a:ext uri="{FF2B5EF4-FFF2-40B4-BE49-F238E27FC236}">
                <a16:creationId xmlns:a16="http://schemas.microsoft.com/office/drawing/2014/main" id="{0D86D870-97F3-81AD-0A60-466D19474B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51A03F0B-EFA6-7DCB-8637-0A948B71D4C4}"/>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5" name="Footer Placeholder 4">
            <a:extLst>
              <a:ext uri="{FF2B5EF4-FFF2-40B4-BE49-F238E27FC236}">
                <a16:creationId xmlns:a16="http://schemas.microsoft.com/office/drawing/2014/main" id="{7C055A27-967C-2806-22E8-04160CEC5A2B}"/>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D9CD8EAC-1577-C4EF-E96A-CEDB87A48676}"/>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1880800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C82549-6703-D84D-97A7-7D04F02B0A10}"/>
              </a:ext>
            </a:extLst>
          </p:cNvPr>
          <p:cNvSpPr>
            <a:spLocks noGrp="1"/>
          </p:cNvSpPr>
          <p:nvPr>
            <p:ph type="title" orient="vert"/>
          </p:nvPr>
        </p:nvSpPr>
        <p:spPr>
          <a:xfrm>
            <a:off x="11633200" y="486834"/>
            <a:ext cx="3505200" cy="7749117"/>
          </a:xfrm>
        </p:spPr>
        <p:txBody>
          <a:bodyPr vert="eaVert"/>
          <a:lstStyle/>
          <a:p>
            <a:r>
              <a:rPr lang="en-US"/>
              <a:t>Click to edit Master title style</a:t>
            </a:r>
            <a:endParaRPr lang="sv-SE"/>
          </a:p>
        </p:txBody>
      </p:sp>
      <p:sp>
        <p:nvSpPr>
          <p:cNvPr id="3" name="Vertical Text Placeholder 2">
            <a:extLst>
              <a:ext uri="{FF2B5EF4-FFF2-40B4-BE49-F238E27FC236}">
                <a16:creationId xmlns:a16="http://schemas.microsoft.com/office/drawing/2014/main" id="{926447D7-9E18-889F-1C79-8288E137A9EC}"/>
              </a:ext>
            </a:extLst>
          </p:cNvPr>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DF16237A-85AD-BBA9-F2A6-3E235FB21ECF}"/>
              </a:ext>
            </a:extLst>
          </p:cNvPr>
          <p:cNvSpPr>
            <a:spLocks noGrp="1"/>
          </p:cNvSpPr>
          <p:nvPr>
            <p:ph type="dt" sz="half" idx="10"/>
          </p:nvPr>
        </p:nvSpPr>
        <p:spPr/>
        <p:txBody>
          <a:bodyPr/>
          <a:lstStyle/>
          <a:p>
            <a:fld id="{CF509759-F6D6-4DE4-8F1C-3E416741D48D}" type="datetimeFigureOut">
              <a:rPr lang="sv-SE" smtClean="0"/>
              <a:t>2026-10-28</a:t>
            </a:fld>
            <a:endParaRPr lang="sv-SE"/>
          </a:p>
        </p:txBody>
      </p:sp>
      <p:sp>
        <p:nvSpPr>
          <p:cNvPr id="5" name="Footer Placeholder 4">
            <a:extLst>
              <a:ext uri="{FF2B5EF4-FFF2-40B4-BE49-F238E27FC236}">
                <a16:creationId xmlns:a16="http://schemas.microsoft.com/office/drawing/2014/main" id="{2844DA1C-4DE6-08C5-3504-E81B5E2A0AFE}"/>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7B08F924-CEFB-C904-234E-FD298733318F}"/>
              </a:ext>
            </a:extLst>
          </p:cNvPr>
          <p:cNvSpPr>
            <a:spLocks noGrp="1"/>
          </p:cNvSpPr>
          <p:nvPr>
            <p:ph type="sldNum" sz="quarter" idx="12"/>
          </p:nvPr>
        </p:nvSpPr>
        <p:spPr/>
        <p:txBody>
          <a:bodyPr/>
          <a:lstStyle/>
          <a:p>
            <a:fld id="{777EEB65-6ED8-47E4-BAE9-EF25A218170A}" type="slidenum">
              <a:rPr lang="sv-SE" smtClean="0"/>
              <a:t>‹#›</a:t>
            </a:fld>
            <a:endParaRPr lang="sv-SE"/>
          </a:p>
        </p:txBody>
      </p:sp>
    </p:spTree>
    <p:extLst>
      <p:ext uri="{BB962C8B-B14F-4D97-AF65-F5344CB8AC3E}">
        <p14:creationId xmlns:p14="http://schemas.microsoft.com/office/powerpoint/2010/main" val="1636107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CE0311-3465-1A51-C8F7-2E453D494593}"/>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en-US"/>
              <a:t>Click to edit Master title style</a:t>
            </a:r>
            <a:endParaRPr lang="sv-SE"/>
          </a:p>
        </p:txBody>
      </p:sp>
      <p:sp>
        <p:nvSpPr>
          <p:cNvPr id="3" name="Text Placeholder 2">
            <a:extLst>
              <a:ext uri="{FF2B5EF4-FFF2-40B4-BE49-F238E27FC236}">
                <a16:creationId xmlns:a16="http://schemas.microsoft.com/office/drawing/2014/main" id="{3592511B-F850-8635-FE45-1C7202C893FB}"/>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877E945A-F3B8-2B92-D87B-94CBF4069E85}"/>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CF509759-F6D6-4DE4-8F1C-3E416741D48D}" type="datetimeFigureOut">
              <a:rPr lang="sv-SE" smtClean="0"/>
              <a:t>2026-10-28</a:t>
            </a:fld>
            <a:endParaRPr lang="sv-SE"/>
          </a:p>
        </p:txBody>
      </p:sp>
      <p:sp>
        <p:nvSpPr>
          <p:cNvPr id="5" name="Footer Placeholder 4">
            <a:extLst>
              <a:ext uri="{FF2B5EF4-FFF2-40B4-BE49-F238E27FC236}">
                <a16:creationId xmlns:a16="http://schemas.microsoft.com/office/drawing/2014/main" id="{C1898FE6-25CD-0FC5-9046-2AF15FBBB651}"/>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a:extLst>
              <a:ext uri="{FF2B5EF4-FFF2-40B4-BE49-F238E27FC236}">
                <a16:creationId xmlns:a16="http://schemas.microsoft.com/office/drawing/2014/main" id="{40AA99DB-3C99-49AC-1259-7EA97121538F}"/>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777EEB65-6ED8-47E4-BAE9-EF25A218170A}" type="slidenum">
              <a:rPr lang="sv-SE" smtClean="0"/>
              <a:t>‹#›</a:t>
            </a:fld>
            <a:endParaRPr lang="sv-SE"/>
          </a:p>
        </p:txBody>
      </p:sp>
    </p:spTree>
    <p:extLst>
      <p:ext uri="{BB962C8B-B14F-4D97-AF65-F5344CB8AC3E}">
        <p14:creationId xmlns:p14="http://schemas.microsoft.com/office/powerpoint/2010/main" val="252763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1A3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F22CCC-1801-7E9D-5E39-C8D4651CFB35}"/>
              </a:ext>
            </a:extLst>
          </p:cNvPr>
          <p:cNvSpPr/>
          <p:nvPr/>
        </p:nvSpPr>
        <p:spPr>
          <a:xfrm>
            <a:off x="508000" y="342900"/>
            <a:ext cx="152400" cy="152400"/>
          </a:xfrm>
          <a:prstGeom prst="rect">
            <a:avLst/>
          </a:prstGeom>
          <a:solidFill>
            <a:srgbClr val="B99C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1B0BF907-4666-602E-4F69-B45E76668418}"/>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D0C7E5"/>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BC8FE404-35B5-803D-D279-2EE5B674604F}"/>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D0C7E5"/>
                </a:solidFill>
                <a:latin typeface="Aptos" panose="020B0004020202020204" pitchFamily="34" charset="0"/>
              </a:rPr>
              <a:t>01 / 23</a:t>
            </a:r>
          </a:p>
        </p:txBody>
      </p:sp>
      <p:sp>
        <p:nvSpPr>
          <p:cNvPr id="5" name="Rectangle 4">
            <a:extLst>
              <a:ext uri="{FF2B5EF4-FFF2-40B4-BE49-F238E27FC236}">
                <a16:creationId xmlns:a16="http://schemas.microsoft.com/office/drawing/2014/main" id="{C7DEA23D-8FA1-AFDF-39C5-9B1B2EBA01B6}"/>
              </a:ext>
            </a:extLst>
          </p:cNvPr>
          <p:cNvSpPr/>
          <p:nvPr/>
        </p:nvSpPr>
        <p:spPr>
          <a:xfrm>
            <a:off x="508000" y="8445500"/>
            <a:ext cx="15240000" cy="12700"/>
          </a:xfrm>
          <a:prstGeom prst="rect">
            <a:avLst/>
          </a:prstGeom>
          <a:solidFill>
            <a:srgbClr val="5547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CF1EBE86-B7D9-529E-CC7B-923008B0B4FD}"/>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C8B1F5"/>
                </a:solidFill>
                <a:latin typeface="Aptos" panose="020B0004020202020204" pitchFamily="34" charset="0"/>
              </a:rPr>
              <a:t>User journey, delivery phases, milestones and planning estimates · 28 October 2026</a:t>
            </a:r>
            <a:endParaRPr lang="sv-SE" sz="1400" b="1">
              <a:solidFill>
                <a:srgbClr val="C8B1F5"/>
              </a:solidFill>
              <a:latin typeface="Aptos" panose="020B0004020202020204" pitchFamily="34" charset="0"/>
            </a:endParaRPr>
          </a:p>
        </p:txBody>
      </p:sp>
      <p:sp>
        <p:nvSpPr>
          <p:cNvPr id="7" name="TextBox 6">
            <a:extLst>
              <a:ext uri="{FF2B5EF4-FFF2-40B4-BE49-F238E27FC236}">
                <a16:creationId xmlns:a16="http://schemas.microsoft.com/office/drawing/2014/main" id="{60BEF7DC-F0F9-4690-79FE-3E2A8D6E9D2A}"/>
              </a:ext>
            </a:extLst>
          </p:cNvPr>
          <p:cNvSpPr txBox="1">
            <a:spLocks/>
          </p:cNvSpPr>
          <p:nvPr/>
        </p:nvSpPr>
        <p:spPr>
          <a:xfrm>
            <a:off x="508000" y="1206499"/>
            <a:ext cx="7874000" cy="1143000"/>
          </a:xfrm>
          <a:prstGeom prst="rect">
            <a:avLst/>
          </a:prstGeom>
          <a:noFill/>
        </p:spPr>
        <p:txBody>
          <a:bodyPr vert="horz" wrap="square" lIns="0" tIns="0" rIns="0" bIns="0" rtlCol="0">
            <a:noAutofit/>
          </a:bodyPr>
          <a:lstStyle/>
          <a:p>
            <a:r>
              <a:rPr lang="sv-SE" sz="6800" b="1">
                <a:solidFill>
                  <a:srgbClr val="FFFFFF"/>
                </a:solidFill>
                <a:latin typeface="Aptos" panose="020B0004020202020204" pitchFamily="34" charset="0"/>
              </a:rPr>
              <a:t>Module Builder</a:t>
            </a:r>
          </a:p>
        </p:txBody>
      </p:sp>
      <p:sp>
        <p:nvSpPr>
          <p:cNvPr id="8" name="TextBox 7">
            <a:extLst>
              <a:ext uri="{FF2B5EF4-FFF2-40B4-BE49-F238E27FC236}">
                <a16:creationId xmlns:a16="http://schemas.microsoft.com/office/drawing/2014/main" id="{E26B4945-8ACB-75A9-8234-F9CDBD9A7005}"/>
              </a:ext>
            </a:extLst>
          </p:cNvPr>
          <p:cNvSpPr txBox="1">
            <a:spLocks/>
          </p:cNvSpPr>
          <p:nvPr/>
        </p:nvSpPr>
        <p:spPr>
          <a:xfrm>
            <a:off x="533400" y="2616199"/>
            <a:ext cx="7239000" cy="1651000"/>
          </a:xfrm>
          <a:prstGeom prst="rect">
            <a:avLst/>
          </a:prstGeom>
          <a:noFill/>
        </p:spPr>
        <p:txBody>
          <a:bodyPr vert="horz" wrap="square" lIns="0" tIns="0" rIns="0" bIns="0" rtlCol="0">
            <a:noAutofit/>
          </a:bodyPr>
          <a:lstStyle/>
          <a:p>
            <a:r>
              <a:rPr lang="en-GB" sz="3400">
                <a:solidFill>
                  <a:srgbClr val="D0C7E5"/>
                </a:solidFill>
                <a:latin typeface="Aptos" panose="020B0004020202020204" pitchFamily="34" charset="0"/>
              </a:rPr>
              <a:t>From an unsupported sensor to a shareable capability</a:t>
            </a:r>
            <a:endParaRPr lang="sv-SE" sz="3400">
              <a:solidFill>
                <a:srgbClr val="D0C7E5"/>
              </a:solidFill>
              <a:latin typeface="Aptos" panose="020B0004020202020204" pitchFamily="34" charset="0"/>
            </a:endParaRPr>
          </a:p>
        </p:txBody>
      </p:sp>
      <p:sp>
        <p:nvSpPr>
          <p:cNvPr id="9" name="TextBox 8">
            <a:extLst>
              <a:ext uri="{FF2B5EF4-FFF2-40B4-BE49-F238E27FC236}">
                <a16:creationId xmlns:a16="http://schemas.microsoft.com/office/drawing/2014/main" id="{3BDF6AEC-D019-79D1-FDD8-68B6245D9774}"/>
              </a:ext>
            </a:extLst>
          </p:cNvPr>
          <p:cNvSpPr txBox="1">
            <a:spLocks/>
          </p:cNvSpPr>
          <p:nvPr/>
        </p:nvSpPr>
        <p:spPr>
          <a:xfrm>
            <a:off x="558800" y="4952999"/>
            <a:ext cx="6731000" cy="571500"/>
          </a:xfrm>
          <a:prstGeom prst="rect">
            <a:avLst/>
          </a:prstGeom>
          <a:noFill/>
        </p:spPr>
        <p:txBody>
          <a:bodyPr vert="horz" wrap="square" lIns="0" tIns="0" rIns="0" bIns="0" rtlCol="0">
            <a:noAutofit/>
          </a:bodyPr>
          <a:lstStyle/>
          <a:p>
            <a:r>
              <a:rPr lang="sv-SE" sz="2500" b="1">
                <a:solidFill>
                  <a:srgbClr val="C8B1F5"/>
                </a:solidFill>
                <a:latin typeface="Aptos" panose="020B0004020202020204" pitchFamily="34" charset="0"/>
              </a:rPr>
              <a:t>A local creation journey</a:t>
            </a:r>
          </a:p>
        </p:txBody>
      </p:sp>
      <p:sp>
        <p:nvSpPr>
          <p:cNvPr id="10" name="TextBox 9">
            <a:extLst>
              <a:ext uri="{FF2B5EF4-FFF2-40B4-BE49-F238E27FC236}">
                <a16:creationId xmlns:a16="http://schemas.microsoft.com/office/drawing/2014/main" id="{BA4D987F-2267-041F-271F-D8777158E2DA}"/>
              </a:ext>
            </a:extLst>
          </p:cNvPr>
          <p:cNvSpPr txBox="1">
            <a:spLocks/>
          </p:cNvSpPr>
          <p:nvPr/>
        </p:nvSpPr>
        <p:spPr>
          <a:xfrm>
            <a:off x="558800" y="5689599"/>
            <a:ext cx="6731000" cy="571500"/>
          </a:xfrm>
          <a:prstGeom prst="rect">
            <a:avLst/>
          </a:prstGeom>
          <a:noFill/>
        </p:spPr>
        <p:txBody>
          <a:bodyPr vert="horz" wrap="square" lIns="0" tIns="0" rIns="0" bIns="0" rtlCol="0">
            <a:noAutofit/>
          </a:bodyPr>
          <a:lstStyle/>
          <a:p>
            <a:r>
              <a:rPr lang="sv-SE" sz="2500" b="1">
                <a:solidFill>
                  <a:srgbClr val="C8B1F5"/>
                </a:solidFill>
                <a:latin typeface="Aptos" panose="020B0004020202020204" pitchFamily="34" charset="0"/>
              </a:rPr>
              <a:t>A separate hosted ecosystem</a:t>
            </a:r>
          </a:p>
        </p:txBody>
      </p:sp>
      <p:sp>
        <p:nvSpPr>
          <p:cNvPr id="11" name="Rectangle 10">
            <a:extLst>
              <a:ext uri="{FF2B5EF4-FFF2-40B4-BE49-F238E27FC236}">
                <a16:creationId xmlns:a16="http://schemas.microsoft.com/office/drawing/2014/main" id="{81D5AE43-F5CD-C864-B792-2C2158896317}"/>
              </a:ext>
            </a:extLst>
          </p:cNvPr>
          <p:cNvSpPr/>
          <p:nvPr/>
        </p:nvSpPr>
        <p:spPr>
          <a:xfrm>
            <a:off x="8255000" y="1778000"/>
            <a:ext cx="7493000" cy="5207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3" name="Picture 12" descr="Demo screenshot: screenshots/01-local-workspace.png">
            <a:extLst>
              <a:ext uri="{FF2B5EF4-FFF2-40B4-BE49-F238E27FC236}">
                <a16:creationId xmlns:a16="http://schemas.microsoft.com/office/drawing/2014/main" id="{4D500268-6E87-0825-D264-2D69F5D449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910535"/>
            <a:ext cx="7493000" cy="4941929"/>
          </a:xfrm>
          <a:prstGeom prst="rect">
            <a:avLst/>
          </a:prstGeom>
        </p:spPr>
      </p:pic>
      <p:sp>
        <p:nvSpPr>
          <p:cNvPr id="14" name="TextBox 13">
            <a:extLst>
              <a:ext uri="{FF2B5EF4-FFF2-40B4-BE49-F238E27FC236}">
                <a16:creationId xmlns:a16="http://schemas.microsoft.com/office/drawing/2014/main" id="{8292B25D-544F-76BA-0F9D-7AED4754E16C}"/>
              </a:ext>
            </a:extLst>
          </p:cNvPr>
          <p:cNvSpPr txBox="1">
            <a:spLocks/>
          </p:cNvSpPr>
          <p:nvPr/>
        </p:nvSpPr>
        <p:spPr>
          <a:xfrm>
            <a:off x="8255000" y="7238999"/>
            <a:ext cx="7493000" cy="571500"/>
          </a:xfrm>
          <a:prstGeom prst="rect">
            <a:avLst/>
          </a:prstGeom>
          <a:noFill/>
        </p:spPr>
        <p:txBody>
          <a:bodyPr vert="horz" wrap="square" lIns="0" tIns="0" rIns="0" bIns="0" rtlCol="0">
            <a:noAutofit/>
          </a:bodyPr>
          <a:lstStyle/>
          <a:p>
            <a:r>
              <a:rPr lang="en-GB" sz="1500">
                <a:solidFill>
                  <a:srgbClr val="D0C7E5"/>
                </a:solidFill>
                <a:latin typeface="Aptos" panose="020B0004020202020204" pitchFamily="34" charset="0"/>
              </a:rPr>
              <a:t>Frontend concept screenshots · Implementation not started</a:t>
            </a:r>
            <a:endParaRPr lang="sv-SE" sz="1500">
              <a:solidFill>
                <a:srgbClr val="D0C7E5"/>
              </a:solidFill>
              <a:latin typeface="Aptos" panose="020B0004020202020204" pitchFamily="34" charset="0"/>
            </a:endParaRPr>
          </a:p>
        </p:txBody>
      </p:sp>
    </p:spTree>
    <p:extLst>
      <p:ext uri="{BB962C8B-B14F-4D97-AF65-F5344CB8AC3E}">
        <p14:creationId xmlns:p14="http://schemas.microsoft.com/office/powerpoint/2010/main" val="3714855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E34694-DAFD-745D-88A1-6503AC0F4954}"/>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DC5C8872-FEF2-EFFB-546C-3411DC0708D9}"/>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BDEF6893-E871-6DFE-B117-7DED6098C8F3}"/>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02 / 23</a:t>
            </a:r>
          </a:p>
        </p:txBody>
      </p:sp>
      <p:sp>
        <p:nvSpPr>
          <p:cNvPr id="5" name="Rectangle 4">
            <a:extLst>
              <a:ext uri="{FF2B5EF4-FFF2-40B4-BE49-F238E27FC236}">
                <a16:creationId xmlns:a16="http://schemas.microsoft.com/office/drawing/2014/main" id="{52D51C0C-ED41-AD07-7E9B-C3C5452974CA}"/>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6064032F-4E2F-0E9C-B34A-0A092143F6AA}"/>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No module CLI. No built-in AI generation service. Local use does not require publication.</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66616DB3-DB01-CBF5-0432-54E5BAEE0954}"/>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One package. Two delivery phases.</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87E90CE9-918E-870B-C0D9-A37FE338E9E9}"/>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The local builder delivers value before the public library exists.</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0A1C697E-B17B-5E80-90D8-41D5461EB85F}"/>
              </a:ext>
            </a:extLst>
          </p:cNvPr>
          <p:cNvSpPr/>
          <p:nvPr/>
        </p:nvSpPr>
        <p:spPr>
          <a:xfrm>
            <a:off x="508000" y="2882900"/>
            <a:ext cx="74676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AA3BCF73-8606-1393-0BB8-712EC42C8B4B}"/>
              </a:ext>
            </a:extLst>
          </p:cNvPr>
          <p:cNvSpPr txBox="1">
            <a:spLocks/>
          </p:cNvSpPr>
          <p:nvPr/>
        </p:nvSpPr>
        <p:spPr>
          <a:xfrm>
            <a:off x="787400" y="3149599"/>
            <a:ext cx="69088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 · LOCAL</a:t>
            </a:r>
          </a:p>
        </p:txBody>
      </p:sp>
      <p:sp>
        <p:nvSpPr>
          <p:cNvPr id="11" name="TextBox 10">
            <a:extLst>
              <a:ext uri="{FF2B5EF4-FFF2-40B4-BE49-F238E27FC236}">
                <a16:creationId xmlns:a16="http://schemas.microsoft.com/office/drawing/2014/main" id="{1C0518A5-0F21-0A30-2D1F-85B7B61F5A3C}"/>
              </a:ext>
            </a:extLst>
          </p:cNvPr>
          <p:cNvSpPr txBox="1">
            <a:spLocks/>
          </p:cNvSpPr>
          <p:nvPr/>
        </p:nvSpPr>
        <p:spPr>
          <a:xfrm>
            <a:off x="787400" y="3644899"/>
            <a:ext cx="69088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Create and use</a:t>
            </a:r>
          </a:p>
        </p:txBody>
      </p:sp>
      <p:sp>
        <p:nvSpPr>
          <p:cNvPr id="12" name="TextBox 11">
            <a:extLst>
              <a:ext uri="{FF2B5EF4-FFF2-40B4-BE49-F238E27FC236}">
                <a16:creationId xmlns:a16="http://schemas.microsoft.com/office/drawing/2014/main" id="{66AB8151-910D-EFFF-A22C-E6D7054D259F}"/>
              </a:ext>
            </a:extLst>
          </p:cNvPr>
          <p:cNvSpPr txBox="1">
            <a:spLocks/>
          </p:cNvSpPr>
          <p:nvPr/>
        </p:nvSpPr>
        <p:spPr>
          <a:xfrm>
            <a:off x="787400" y="4902199"/>
            <a:ext cx="6908800" cy="2654300"/>
          </a:xfrm>
          <a:prstGeom prst="rect">
            <a:avLst/>
          </a:prstGeom>
          <a:noFill/>
        </p:spPr>
        <p:txBody>
          <a:bodyPr vert="horz" wrap="square" lIns="0" tIns="0" rIns="0" bIns="0" rtlCol="0">
            <a:noAutofit/>
          </a:bodyPr>
          <a:lstStyle/>
          <a:p>
            <a:r>
              <a:rPr lang="sv-SE" sz="2300">
                <a:solidFill>
                  <a:srgbClr val="625E70"/>
                </a:solidFill>
                <a:latin typeface="Aptos" panose="020B0004020202020204" pitchFamily="34" charset="0"/>
              </a:rPr>
              <a:t>Template → own AI harness → edit → preview/test → validate/package → back up → activate → export/import</a:t>
            </a:r>
          </a:p>
        </p:txBody>
      </p:sp>
      <p:sp>
        <p:nvSpPr>
          <p:cNvPr id="13" name="Rectangle 12">
            <a:extLst>
              <a:ext uri="{FF2B5EF4-FFF2-40B4-BE49-F238E27FC236}">
                <a16:creationId xmlns:a16="http://schemas.microsoft.com/office/drawing/2014/main" id="{20143A03-B182-C6C0-F990-AFC7FA44EE26}"/>
              </a:ext>
            </a:extLst>
          </p:cNvPr>
          <p:cNvSpPr/>
          <p:nvPr/>
        </p:nvSpPr>
        <p:spPr>
          <a:xfrm>
            <a:off x="8280400" y="2882900"/>
            <a:ext cx="74676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Box 13">
            <a:extLst>
              <a:ext uri="{FF2B5EF4-FFF2-40B4-BE49-F238E27FC236}">
                <a16:creationId xmlns:a16="http://schemas.microsoft.com/office/drawing/2014/main" id="{DB909B96-FD34-AC71-3C73-86BAC1F1F6FA}"/>
              </a:ext>
            </a:extLst>
          </p:cNvPr>
          <p:cNvSpPr txBox="1">
            <a:spLocks/>
          </p:cNvSpPr>
          <p:nvPr/>
        </p:nvSpPr>
        <p:spPr>
          <a:xfrm>
            <a:off x="8559800" y="3149599"/>
            <a:ext cx="69088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2 · HOSTED</a:t>
            </a:r>
          </a:p>
        </p:txBody>
      </p:sp>
      <p:sp>
        <p:nvSpPr>
          <p:cNvPr id="15" name="TextBox 14">
            <a:extLst>
              <a:ext uri="{FF2B5EF4-FFF2-40B4-BE49-F238E27FC236}">
                <a16:creationId xmlns:a16="http://schemas.microsoft.com/office/drawing/2014/main" id="{E4F7F013-3192-DC99-8312-7903551B99D5}"/>
              </a:ext>
            </a:extLst>
          </p:cNvPr>
          <p:cNvSpPr txBox="1">
            <a:spLocks/>
          </p:cNvSpPr>
          <p:nvPr/>
        </p:nvSpPr>
        <p:spPr>
          <a:xfrm>
            <a:off x="8559800" y="3644899"/>
            <a:ext cx="69088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Share and discover</a:t>
            </a:r>
          </a:p>
        </p:txBody>
      </p:sp>
      <p:sp>
        <p:nvSpPr>
          <p:cNvPr id="16" name="TextBox 15">
            <a:extLst>
              <a:ext uri="{FF2B5EF4-FFF2-40B4-BE49-F238E27FC236}">
                <a16:creationId xmlns:a16="http://schemas.microsoft.com/office/drawing/2014/main" id="{9174124E-FC5E-569A-96C3-7345BD266BB6}"/>
              </a:ext>
            </a:extLst>
          </p:cNvPr>
          <p:cNvSpPr txBox="1">
            <a:spLocks/>
          </p:cNvSpPr>
          <p:nvPr/>
        </p:nvSpPr>
        <p:spPr>
          <a:xfrm>
            <a:off x="8559800" y="4902199"/>
            <a:ext cx="6908800" cy="2654300"/>
          </a:xfrm>
          <a:prstGeom prst="rect">
            <a:avLst/>
          </a:prstGeom>
          <a:noFill/>
        </p:spPr>
        <p:txBody>
          <a:bodyPr vert="horz" wrap="square" lIns="0" tIns="0" rIns="0" bIns="0" rtlCol="0">
            <a:noAutofit/>
          </a:bodyPr>
          <a:lstStyle/>
          <a:p>
            <a:r>
              <a:rPr lang="en-GB" sz="2300">
                <a:solidFill>
                  <a:srgbClr val="625E70"/>
                </a:solidFill>
                <a:latin typeface="Aptos" panose="020B0004020202020204" pitchFamily="34" charset="0"/>
              </a:rPr>
              <a:t>Prepare → automated checks → publish → community inspection/reputation → discover → install</a:t>
            </a:r>
            <a:endParaRPr lang="sv-SE" sz="2300">
              <a:solidFill>
                <a:srgbClr val="625E70"/>
              </a:solidFill>
              <a:latin typeface="Aptos" panose="020B0004020202020204" pitchFamily="34" charset="0"/>
            </a:endParaRPr>
          </a:p>
        </p:txBody>
      </p:sp>
    </p:spTree>
    <p:extLst>
      <p:ext uri="{BB962C8B-B14F-4D97-AF65-F5344CB8AC3E}">
        <p14:creationId xmlns:p14="http://schemas.microsoft.com/office/powerpoint/2010/main" val="2719682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5E09EF-823F-6199-C373-6F3AF600692A}"/>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BB710F6C-DFB6-3E41-6377-8D74A6E1662D}"/>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FC39CCE9-E230-7E8B-8E22-5C9D77571D0D}"/>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03 / 23</a:t>
            </a:r>
          </a:p>
        </p:txBody>
      </p:sp>
      <p:sp>
        <p:nvSpPr>
          <p:cNvPr id="5" name="Rectangle 4">
            <a:extLst>
              <a:ext uri="{FF2B5EF4-FFF2-40B4-BE49-F238E27FC236}">
                <a16:creationId xmlns:a16="http://schemas.microsoft.com/office/drawing/2014/main" id="{86551969-29EE-53D8-11D1-A23A8DB6A5F6}"/>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2A8DACFA-F0BE-72B8-C97E-CCDCE892787A}"/>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A missing capability can become a local project instead of a core-team feature request.</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22449A67-579B-2D7D-A8A5-6965314E27E2}"/>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01 / Start in your local workspace</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DA5209A1-C2D0-FB04-6077-9C81BD0EF25F}"/>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1 · DISCOVER YOUR LOCAL CAPABILITIES</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868EDAC1-1D37-2305-633E-2F3C661A3B05}"/>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1-local-workspace.png">
            <a:extLst>
              <a:ext uri="{FF2B5EF4-FFF2-40B4-BE49-F238E27FC236}">
                <a16:creationId xmlns:a16="http://schemas.microsoft.com/office/drawing/2014/main" id="{E89072CC-60F8-0196-5BC9-9F49BE3C02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42211" y="2413000"/>
            <a:ext cx="8472578" cy="5588000"/>
          </a:xfrm>
          <a:prstGeom prst="rect">
            <a:avLst/>
          </a:prstGeom>
        </p:spPr>
      </p:pic>
      <p:sp>
        <p:nvSpPr>
          <p:cNvPr id="12" name="TextBox 11">
            <a:extLst>
              <a:ext uri="{FF2B5EF4-FFF2-40B4-BE49-F238E27FC236}">
                <a16:creationId xmlns:a16="http://schemas.microsoft.com/office/drawing/2014/main" id="{A779324A-EC07-5D67-DABD-3480CEAE75D7}"/>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Installed modules and local drafts</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20225D0E-5B71-DC93-8539-41CEAC7AFB6D}"/>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One place to manage</a:t>
            </a:r>
          </a:p>
        </p:txBody>
      </p:sp>
      <p:sp>
        <p:nvSpPr>
          <p:cNvPr id="14" name="TextBox 13">
            <a:extLst>
              <a:ext uri="{FF2B5EF4-FFF2-40B4-BE49-F238E27FC236}">
                <a16:creationId xmlns:a16="http://schemas.microsoft.com/office/drawing/2014/main" id="{A603EFB1-2568-2F7E-DAF7-0A96AEDA31E4}"/>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See installed capabilities, drafts, manual updates and recent activity.</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AA80F279-2706-6CF3-AACC-AE4A615A2E9B}"/>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Choose your next step</a:t>
            </a:r>
          </a:p>
        </p:txBody>
      </p:sp>
      <p:sp>
        <p:nvSpPr>
          <p:cNvPr id="16" name="TextBox 15">
            <a:extLst>
              <a:ext uri="{FF2B5EF4-FFF2-40B4-BE49-F238E27FC236}">
                <a16:creationId xmlns:a16="http://schemas.microsoft.com/office/drawing/2014/main" id="{0D157E0F-9188-0B6C-4E0C-75D01BF9865E}"/>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Create from a template or import a module from another instance.</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F41CDAFD-A2C0-677E-383E-733DBC1B59CB}"/>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Local first</a:t>
            </a:r>
          </a:p>
        </p:txBody>
      </p:sp>
      <p:sp>
        <p:nvSpPr>
          <p:cNvPr id="18" name="TextBox 17">
            <a:extLst>
              <a:ext uri="{FF2B5EF4-FFF2-40B4-BE49-F238E27FC236}">
                <a16:creationId xmlns:a16="http://schemas.microsoft.com/office/drawing/2014/main" id="{ACB50242-8E51-AA9F-7AB8-3E66BE1D947D}"/>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Creation and local activation need no publisher account or hosted library.</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19A808D0-7FDA-3099-5AC0-EFD30E164920}"/>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3723751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3AE89B-BC8B-C90E-4FB6-313375CDE4F2}"/>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79F91BF2-8393-F680-255F-F7A550486E22}"/>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1E2FF1C1-07C9-91FC-3BF4-9C2E84A849E4}"/>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04 / 23</a:t>
            </a:r>
          </a:p>
        </p:txBody>
      </p:sp>
      <p:sp>
        <p:nvSpPr>
          <p:cNvPr id="5" name="Rectangle 4">
            <a:extLst>
              <a:ext uri="{FF2B5EF4-FFF2-40B4-BE49-F238E27FC236}">
                <a16:creationId xmlns:a16="http://schemas.microsoft.com/office/drawing/2014/main" id="{C0D03881-B9D6-87EA-FA3B-D8979A2FD5FB}"/>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B0F158AA-AEE1-89AE-733F-A0D90230B84D}"/>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Template authors and driver developers can use the same package model.</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5FD7F645-007B-F2A5-B042-4CCC49BBDAFC}"/>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02 / Choose what the module contributes</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0698C295-E494-8CB2-0F04-AD32357B9773}"/>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 · CREATE</a:t>
            </a:r>
          </a:p>
        </p:txBody>
      </p:sp>
      <p:sp>
        <p:nvSpPr>
          <p:cNvPr id="9" name="Rectangle 8">
            <a:extLst>
              <a:ext uri="{FF2B5EF4-FFF2-40B4-BE49-F238E27FC236}">
                <a16:creationId xmlns:a16="http://schemas.microsoft.com/office/drawing/2014/main" id="{018B31BE-B83F-E8F1-4699-7C6355110302}"/>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2-template-selection.png">
            <a:extLst>
              <a:ext uri="{FF2B5EF4-FFF2-40B4-BE49-F238E27FC236}">
                <a16:creationId xmlns:a16="http://schemas.microsoft.com/office/drawing/2014/main" id="{8C485340-85E2-C4FE-93AC-98F0172231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03868" y="2413000"/>
            <a:ext cx="6349264" cy="5588000"/>
          </a:xfrm>
          <a:prstGeom prst="rect">
            <a:avLst/>
          </a:prstGeom>
        </p:spPr>
      </p:pic>
      <p:sp>
        <p:nvSpPr>
          <p:cNvPr id="12" name="TextBox 11">
            <a:extLst>
              <a:ext uri="{FF2B5EF4-FFF2-40B4-BE49-F238E27FC236}">
                <a16:creationId xmlns:a16="http://schemas.microsoft.com/office/drawing/2014/main" id="{5FA68571-7FAA-55B6-8C98-CFC97589F84C}"/>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A useful starting point</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9B26B5D0-1864-55E9-B9A6-A440DECBBFFA}"/>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Three contribution surfaces</a:t>
            </a:r>
          </a:p>
        </p:txBody>
      </p:sp>
      <p:sp>
        <p:nvSpPr>
          <p:cNvPr id="14" name="TextBox 13">
            <a:extLst>
              <a:ext uri="{FF2B5EF4-FFF2-40B4-BE49-F238E27FC236}">
                <a16:creationId xmlns:a16="http://schemas.microsoft.com/office/drawing/2014/main" id="{E4E0C208-06C9-D870-1B70-2D5DBEC77AF8}"/>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Start with a workflow block, device integration or hardware capability.</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E9D62E86-3A31-033F-3964-A49E5559F9CE}"/>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Reduce boilerplate</a:t>
            </a:r>
          </a:p>
        </p:txBody>
      </p:sp>
      <p:sp>
        <p:nvSpPr>
          <p:cNvPr id="16" name="TextBox 15">
            <a:extLst>
              <a:ext uri="{FF2B5EF4-FFF2-40B4-BE49-F238E27FC236}">
                <a16:creationId xmlns:a16="http://schemas.microsoft.com/office/drawing/2014/main" id="{09919FC4-A2C7-0766-7A15-2011ACB5A17F}"/>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sv-SE">
                <a:solidFill>
                  <a:srgbClr val="625E70"/>
                </a:solidFill>
                <a:latin typeface="Aptos" panose="020B0004020202020204" pitchFamily="34" charset="0"/>
              </a:rPr>
              <a:t>Templates provide an example manifest, source, configuration schema and documentation.</a:t>
            </a:r>
          </a:p>
        </p:txBody>
      </p:sp>
      <p:sp>
        <p:nvSpPr>
          <p:cNvPr id="17" name="TextBox 16">
            <a:extLst>
              <a:ext uri="{FF2B5EF4-FFF2-40B4-BE49-F238E27FC236}">
                <a16:creationId xmlns:a16="http://schemas.microsoft.com/office/drawing/2014/main" id="{9F6B9CA4-F2C1-DF7C-E9CB-BCD4C2A21BF4}"/>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Keep the contract clear</a:t>
            </a:r>
          </a:p>
        </p:txBody>
      </p:sp>
      <p:sp>
        <p:nvSpPr>
          <p:cNvPr id="18" name="TextBox 17">
            <a:extLst>
              <a:ext uri="{FF2B5EF4-FFF2-40B4-BE49-F238E27FC236}">
                <a16:creationId xmlns:a16="http://schemas.microsoft.com/office/drawing/2014/main" id="{2E829007-9C02-E7E9-625B-4AAD695F3685}"/>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Modules integrate through defined contracts; arbitrary code is not automatically a device.</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FAD277FC-9A63-EA81-7406-C4FA0A740070}"/>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3404843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780B39-5F70-F719-0D1D-086243306720}"/>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0752C71F-87EB-9827-90E6-946A9CDCD32B}"/>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8B8226F2-0347-684E-75C9-0D5CBFE90DCC}"/>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05 / 23</a:t>
            </a:r>
          </a:p>
        </p:txBody>
      </p:sp>
      <p:sp>
        <p:nvSpPr>
          <p:cNvPr id="5" name="Rectangle 4">
            <a:extLst>
              <a:ext uri="{FF2B5EF4-FFF2-40B4-BE49-F238E27FC236}">
                <a16:creationId xmlns:a16="http://schemas.microsoft.com/office/drawing/2014/main" id="{1469D800-D54C-9255-7DBC-74CDAA536F2E}"/>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014D64C9-6D4F-3AD8-CD6C-50C60BD62194}"/>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 downloadable skill in this screenshot is illustrative, not a released developer contract.</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D8E63431-13EE-0663-E638-6B2072FEED08}"/>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03 / Generate in your own AI harness</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D8E00B63-ECEA-5DD1-66EA-B81A0044D05C}"/>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1 · AUTHOR WITH YOUR TOOLS</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C2C4D8E3-39C5-6E9E-F3BD-851B8B44D720}"/>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3-ai-harness-handoff.png">
            <a:extLst>
              <a:ext uri="{FF2B5EF4-FFF2-40B4-BE49-F238E27FC236}">
                <a16:creationId xmlns:a16="http://schemas.microsoft.com/office/drawing/2014/main" id="{3BCBA18A-3B55-76F6-F2D4-F6354A9D71D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55645" y="2413000"/>
            <a:ext cx="7645710" cy="5588000"/>
          </a:xfrm>
          <a:prstGeom prst="rect">
            <a:avLst/>
          </a:prstGeom>
        </p:spPr>
      </p:pic>
      <p:sp>
        <p:nvSpPr>
          <p:cNvPr id="12" name="TextBox 11">
            <a:extLst>
              <a:ext uri="{FF2B5EF4-FFF2-40B4-BE49-F238E27FC236}">
                <a16:creationId xmlns:a16="http://schemas.microsoft.com/office/drawing/2014/main" id="{0F74A405-D209-4297-90C0-5715F81733B4}"/>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sv-SE" sz="2300" b="1">
                <a:solidFill>
                  <a:srgbClr val="201A35"/>
                </a:solidFill>
                <a:latin typeface="Aptos" panose="020B0004020202020204" pitchFamily="34" charset="0"/>
              </a:rPr>
              <a:t>Focus: The module-builder-skill hand-off</a:t>
            </a:r>
          </a:p>
        </p:txBody>
      </p:sp>
      <p:sp>
        <p:nvSpPr>
          <p:cNvPr id="13" name="TextBox 12">
            <a:extLst>
              <a:ext uri="{FF2B5EF4-FFF2-40B4-BE49-F238E27FC236}">
                <a16:creationId xmlns:a16="http://schemas.microsoft.com/office/drawing/2014/main" id="{E1163BC6-343B-9BF6-FB8F-7B85E6D68652}"/>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en-GB" sz="1900" b="1">
                <a:solidFill>
                  <a:srgbClr val="7544D3"/>
                </a:solidFill>
                <a:latin typeface="Aptos" panose="020B0004020202020204" pitchFamily="34" charset="0"/>
              </a:rPr>
              <a:t>Bring the contract to the AI</a:t>
            </a:r>
            <a:endParaRPr lang="sv-SE" sz="1900" b="1">
              <a:solidFill>
                <a:srgbClr val="7544D3"/>
              </a:solidFill>
              <a:latin typeface="Aptos" panose="020B0004020202020204" pitchFamily="34" charset="0"/>
            </a:endParaRPr>
          </a:p>
        </p:txBody>
      </p:sp>
      <p:sp>
        <p:nvSpPr>
          <p:cNvPr id="14" name="TextBox 13">
            <a:extLst>
              <a:ext uri="{FF2B5EF4-FFF2-40B4-BE49-F238E27FC236}">
                <a16:creationId xmlns:a16="http://schemas.microsoft.com/office/drawing/2014/main" id="{087F700C-096C-04F1-75C0-EA13A607CBEC}"/>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Use our planned skill and template in the harness you already work with.</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E368CEE3-9511-25B9-D83A-F322B104BA0E}"/>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en-GB" sz="1900" b="1">
                <a:solidFill>
                  <a:srgbClr val="7544D3"/>
                </a:solidFill>
                <a:latin typeface="Aptos" panose="020B0004020202020204" pitchFamily="34" charset="0"/>
              </a:rPr>
              <a:t>Bring code back to the app</a:t>
            </a:r>
            <a:endParaRPr lang="sv-SE" sz="1900" b="1">
              <a:solidFill>
                <a:srgbClr val="7544D3"/>
              </a:solidFill>
              <a:latin typeface="Aptos" panose="020B0004020202020204" pitchFamily="34" charset="0"/>
            </a:endParaRPr>
          </a:p>
        </p:txBody>
      </p:sp>
      <p:sp>
        <p:nvSpPr>
          <p:cNvPr id="16" name="TextBox 15">
            <a:extLst>
              <a:ext uri="{FF2B5EF4-FFF2-40B4-BE49-F238E27FC236}">
                <a16:creationId xmlns:a16="http://schemas.microsoft.com/office/drawing/2014/main" id="{AB98AC74-B34E-36F2-DA28-9E446A616127}"/>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Paste or import generated source, then edit and check it locally.</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48521A4E-5977-3F21-7E0D-0BCCBC087064}"/>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A deliberate product boundary</a:t>
            </a:r>
          </a:p>
        </p:txBody>
      </p:sp>
      <p:sp>
        <p:nvSpPr>
          <p:cNvPr id="18" name="TextBox 17">
            <a:extLst>
              <a:ext uri="{FF2B5EF4-FFF2-40B4-BE49-F238E27FC236}">
                <a16:creationId xmlns:a16="http://schemas.microsoft.com/office/drawing/2014/main" id="{915A7B8E-DB7F-98F3-3A5F-F8CFB1A4BF0B}"/>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We provide the module journey without building an AI coding harness or CLI.</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5E260670-4C15-37C7-8B03-DA563F6B041D}"/>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206928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581574-5451-70A6-1105-5579E5823BD8}"/>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2D17AA05-0CF6-A1F8-81CA-78D75F3E9AE8}"/>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BB587749-A639-C54A-5DC1-F54EA10396AC}"/>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06 / 23</a:t>
            </a:r>
          </a:p>
        </p:txBody>
      </p:sp>
      <p:sp>
        <p:nvSpPr>
          <p:cNvPr id="5" name="Rectangle 4">
            <a:extLst>
              <a:ext uri="{FF2B5EF4-FFF2-40B4-BE49-F238E27FC236}">
                <a16:creationId xmlns:a16="http://schemas.microsoft.com/office/drawing/2014/main" id="{D52F0CF1-9B7D-265A-6770-9C0AA9FD96F0}"/>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F441EDDA-D169-B058-35D5-A571C5DBA72F}"/>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 code editor supports module work; it is not a commitment to a full IDE.</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C657EC0D-DF87-09A7-4E44-3A032C9F382E}"/>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04 / Edit code with the outcome in view</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77C61623-FCBD-8240-C12A-8BE1E760B111}"/>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 · EDIT</a:t>
            </a:r>
          </a:p>
        </p:txBody>
      </p:sp>
      <p:sp>
        <p:nvSpPr>
          <p:cNvPr id="9" name="Rectangle 8">
            <a:extLst>
              <a:ext uri="{FF2B5EF4-FFF2-40B4-BE49-F238E27FC236}">
                <a16:creationId xmlns:a16="http://schemas.microsoft.com/office/drawing/2014/main" id="{87B22C28-93CB-05B6-0748-CBB90E2A7A39}"/>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4-edit-and-preview.png">
            <a:extLst>
              <a:ext uri="{FF2B5EF4-FFF2-40B4-BE49-F238E27FC236}">
                <a16:creationId xmlns:a16="http://schemas.microsoft.com/office/drawing/2014/main" id="{9844690E-13DF-E692-9C33-D1BA1A8C56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42211" y="2413000"/>
            <a:ext cx="8472578" cy="5588000"/>
          </a:xfrm>
          <a:prstGeom prst="rect">
            <a:avLst/>
          </a:prstGeom>
        </p:spPr>
      </p:pic>
      <p:sp>
        <p:nvSpPr>
          <p:cNvPr id="12" name="TextBox 11">
            <a:extLst>
              <a:ext uri="{FF2B5EF4-FFF2-40B4-BE49-F238E27FC236}">
                <a16:creationId xmlns:a16="http://schemas.microsoft.com/office/drawing/2014/main" id="{52A169BD-A9BE-C109-486D-1C7BE46286AE}"/>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Source, configuration and preview</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F844041A-5D9E-6A74-4FC1-209CB59A6619}"/>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en-GB" sz="1900" b="1">
                <a:solidFill>
                  <a:srgbClr val="7544D3"/>
                </a:solidFill>
                <a:latin typeface="Aptos" panose="020B0004020202020204" pitchFamily="34" charset="0"/>
              </a:rPr>
              <a:t>Code editing stays in the app</a:t>
            </a:r>
            <a:endParaRPr lang="sv-SE" sz="1900" b="1">
              <a:solidFill>
                <a:srgbClr val="7544D3"/>
              </a:solidFill>
              <a:latin typeface="Aptos" panose="020B0004020202020204" pitchFamily="34" charset="0"/>
            </a:endParaRPr>
          </a:p>
        </p:txBody>
      </p:sp>
      <p:sp>
        <p:nvSpPr>
          <p:cNvPr id="14" name="TextBox 13">
            <a:extLst>
              <a:ext uri="{FF2B5EF4-FFF2-40B4-BE49-F238E27FC236}">
                <a16:creationId xmlns:a16="http://schemas.microsoft.com/office/drawing/2014/main" id="{430E4E9F-24B9-8317-93BB-839BE26341A9}"/>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Inspect files and make changes after the external generation step.</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A24E65A0-21BC-CB45-D498-01C6E8C4A32F}"/>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Configuration is a schema</a:t>
            </a:r>
          </a:p>
        </p:txBody>
      </p:sp>
      <p:sp>
        <p:nvSpPr>
          <p:cNvPr id="16" name="TextBox 15">
            <a:extLst>
              <a:ext uri="{FF2B5EF4-FFF2-40B4-BE49-F238E27FC236}">
                <a16:creationId xmlns:a16="http://schemas.microsoft.com/office/drawing/2014/main" id="{AF7822DD-E788-93A9-25D4-1B1D0B9B7F85}"/>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Forms, guides and wizard steps use common rendering contracts.</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5A8D7AF2-14A0-B0C5-9799-0BE533488C35}"/>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Scope stays focused</a:t>
            </a:r>
          </a:p>
        </p:txBody>
      </p:sp>
      <p:sp>
        <p:nvSpPr>
          <p:cNvPr id="18" name="TextBox 17">
            <a:extLst>
              <a:ext uri="{FF2B5EF4-FFF2-40B4-BE49-F238E27FC236}">
                <a16:creationId xmlns:a16="http://schemas.microsoft.com/office/drawing/2014/main" id="{B155FEE3-A154-2303-5793-18398CD133CF}"/>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Arbitrary custom views and block editors wait for a concrete required example.</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B52FC1AF-3580-1885-3055-053A19EE124C}"/>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2796972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241100-F64E-BB67-9BAA-5E65A79DDC50}"/>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826E17B8-8C25-0F67-BBC9-A7E8C9617C21}"/>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EDEC6279-DCB5-05E6-F4CD-DC728A2EC72F}"/>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07 / 23</a:t>
            </a:r>
          </a:p>
        </p:txBody>
      </p:sp>
      <p:sp>
        <p:nvSpPr>
          <p:cNvPr id="5" name="Rectangle 4">
            <a:extLst>
              <a:ext uri="{FF2B5EF4-FFF2-40B4-BE49-F238E27FC236}">
                <a16:creationId xmlns:a16="http://schemas.microsoft.com/office/drawing/2014/main" id="{16925C86-D591-4213-29DC-F4CE32E8454E}"/>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4E755047-01FC-490F-4183-717753B26BF4}"/>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 demo renders a fixed example; real hardware acceptance belongs in the implementation.</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555003D5-B5A5-E963-0761-A20B1D09DB57}"/>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sv-SE" sz="3800" b="1">
                <a:solidFill>
                  <a:srgbClr val="201A35"/>
                </a:solidFill>
                <a:latin typeface="Aptos" panose="020B0004020202020204" pitchFamily="34" charset="0"/>
              </a:rPr>
              <a:t>05 / Preview device setup</a:t>
            </a:r>
          </a:p>
        </p:txBody>
      </p:sp>
      <p:sp>
        <p:nvSpPr>
          <p:cNvPr id="8" name="TextBox 7">
            <a:extLst>
              <a:ext uri="{FF2B5EF4-FFF2-40B4-BE49-F238E27FC236}">
                <a16:creationId xmlns:a16="http://schemas.microsoft.com/office/drawing/2014/main" id="{6AA2C5BB-33E4-4D8F-F289-B746B472757D}"/>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1 · PREVIEW THE USER EXPERIENCE</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075C5347-8C18-F225-516E-F9505D14116C}"/>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5-device-schema-preview.png">
            <a:extLst>
              <a:ext uri="{FF2B5EF4-FFF2-40B4-BE49-F238E27FC236}">
                <a16:creationId xmlns:a16="http://schemas.microsoft.com/office/drawing/2014/main" id="{00CF52C5-1117-E941-95B5-181848F82A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38724" y="2413000"/>
            <a:ext cx="2079553" cy="5588000"/>
          </a:xfrm>
          <a:prstGeom prst="rect">
            <a:avLst/>
          </a:prstGeom>
        </p:spPr>
      </p:pic>
      <p:sp>
        <p:nvSpPr>
          <p:cNvPr id="12" name="TextBox 11">
            <a:extLst>
              <a:ext uri="{FF2B5EF4-FFF2-40B4-BE49-F238E27FC236}">
                <a16:creationId xmlns:a16="http://schemas.microsoft.com/office/drawing/2014/main" id="{870D8E2C-936D-B6CF-F3A7-1B0B5B2C8FD0}"/>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sv-SE" sz="2300" b="1">
                <a:solidFill>
                  <a:srgbClr val="201A35"/>
                </a:solidFill>
                <a:latin typeface="Aptos" panose="020B0004020202020204" pitchFamily="34" charset="0"/>
              </a:rPr>
              <a:t>Focus: A schema becomes a setup experience</a:t>
            </a:r>
          </a:p>
        </p:txBody>
      </p:sp>
      <p:sp>
        <p:nvSpPr>
          <p:cNvPr id="13" name="TextBox 12">
            <a:extLst>
              <a:ext uri="{FF2B5EF4-FFF2-40B4-BE49-F238E27FC236}">
                <a16:creationId xmlns:a16="http://schemas.microsoft.com/office/drawing/2014/main" id="{AF4F4660-ECD9-5C00-4214-B2CB3A4E35ED}"/>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Preview before activation</a:t>
            </a:r>
          </a:p>
        </p:txBody>
      </p:sp>
      <p:sp>
        <p:nvSpPr>
          <p:cNvPr id="14" name="TextBox 13">
            <a:extLst>
              <a:ext uri="{FF2B5EF4-FFF2-40B4-BE49-F238E27FC236}">
                <a16:creationId xmlns:a16="http://schemas.microsoft.com/office/drawing/2014/main" id="{D5CE0C60-A56A-A696-C4AF-8AEFF751F7BC}"/>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See the fields and guidance an operator would encounter when adding a device.</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D8F618BF-EDCA-737A-D060-747537B60508}"/>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Keep the UI consistent</a:t>
            </a:r>
          </a:p>
        </p:txBody>
      </p:sp>
      <p:sp>
        <p:nvSpPr>
          <p:cNvPr id="16" name="TextBox 15">
            <a:extLst>
              <a:ext uri="{FF2B5EF4-FFF2-40B4-BE49-F238E27FC236}">
                <a16:creationId xmlns:a16="http://schemas.microsoft.com/office/drawing/2014/main" id="{EF36C6B8-3617-226F-7DB0-6C4F508858EF}"/>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Modules contribute configuration and instructions to the existing app experience.</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E9DE8D5D-C2CF-9EB8-E572-07F04A3C6467}"/>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Separate preview from execution</a:t>
            </a:r>
          </a:p>
        </p:txBody>
      </p:sp>
      <p:sp>
        <p:nvSpPr>
          <p:cNvPr id="18" name="TextBox 17">
            <a:extLst>
              <a:ext uri="{FF2B5EF4-FFF2-40B4-BE49-F238E27FC236}">
                <a16:creationId xmlns:a16="http://schemas.microsoft.com/office/drawing/2014/main" id="{65D7A071-464B-53FF-E32F-1E4A3C574B04}"/>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A visual preview is not proof that a sensor, driver or host action works.</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A67C2C3F-111D-5F5A-67A9-8DC358A528AD}"/>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901102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8BDC9B-2272-B8E9-4566-BEEE8AD84942}"/>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D05D7DA2-1D02-CD1D-165B-0CA74B5DE3C5}"/>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CCD38627-4F5C-B693-8920-B43BE15FCC62}"/>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08 / 23</a:t>
            </a:r>
          </a:p>
        </p:txBody>
      </p:sp>
      <p:sp>
        <p:nvSpPr>
          <p:cNvPr id="5" name="Rectangle 4">
            <a:extLst>
              <a:ext uri="{FF2B5EF4-FFF2-40B4-BE49-F238E27FC236}">
                <a16:creationId xmlns:a16="http://schemas.microsoft.com/office/drawing/2014/main" id="{98394295-31A5-0BDA-19A4-4A02A287A174}"/>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FE7C625A-594F-20F1-AA16-192D44EA7387}"/>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Process supervision manages operation; it does not contain malicious root code.</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5D6BFA52-D99A-5F48-09DD-A2DBAF76F355}"/>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06 / Preview a hardware capability</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D43DF1E6-7615-CBE3-0BF6-1266F5796183}"/>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1 · DECLARE HOST BEHAVIOR</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2E536EB9-38F9-047D-3BF9-439455B0C53A}"/>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6-hardware-preview.png">
            <a:extLst>
              <a:ext uri="{FF2B5EF4-FFF2-40B4-BE49-F238E27FC236}">
                <a16:creationId xmlns:a16="http://schemas.microsoft.com/office/drawing/2014/main" id="{8AD4DC8B-344A-6F8A-1A1D-ECD07315CC8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38724" y="2413000"/>
            <a:ext cx="2079553" cy="5588000"/>
          </a:xfrm>
          <a:prstGeom prst="rect">
            <a:avLst/>
          </a:prstGeom>
        </p:spPr>
      </p:pic>
      <p:sp>
        <p:nvSpPr>
          <p:cNvPr id="12" name="TextBox 11">
            <a:extLst>
              <a:ext uri="{FF2B5EF4-FFF2-40B4-BE49-F238E27FC236}">
                <a16:creationId xmlns:a16="http://schemas.microsoft.com/office/drawing/2014/main" id="{B3A9113B-74E0-78DA-C4A4-18B67898CB69}"/>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Hardware support is a module contribution</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396F4842-5ABE-7987-D134-43D9644C9EF4}"/>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Declare lifecycle actions</a:t>
            </a:r>
          </a:p>
        </p:txBody>
      </p:sp>
      <p:sp>
        <p:nvSpPr>
          <p:cNvPr id="14" name="TextBox 13">
            <a:extLst>
              <a:ext uri="{FF2B5EF4-FFF2-40B4-BE49-F238E27FC236}">
                <a16:creationId xmlns:a16="http://schemas.microsoft.com/office/drawing/2014/main" id="{110DF557-43BA-EF52-87D8-ED5C93A0FACA}"/>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Hardware packages need setup, enable/disable, status and cleanup behavior.</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ACB07480-ACF2-2BFF-AFB3-0B704DAC73A7}"/>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en-GB" sz="1900" b="1">
                <a:solidFill>
                  <a:srgbClr val="7544D3"/>
                </a:solidFill>
                <a:latin typeface="Aptos" panose="020B0004020202020204" pitchFamily="34" charset="0"/>
              </a:rPr>
              <a:t>Full host access is intentional</a:t>
            </a:r>
            <a:endParaRPr lang="sv-SE" sz="1900" b="1">
              <a:solidFill>
                <a:srgbClr val="7544D3"/>
              </a:solidFill>
              <a:latin typeface="Aptos" panose="020B0004020202020204" pitchFamily="34" charset="0"/>
            </a:endParaRPr>
          </a:p>
        </p:txBody>
      </p:sp>
      <p:sp>
        <p:nvSpPr>
          <p:cNvPr id="16" name="TextBox 15">
            <a:extLst>
              <a:ext uri="{FF2B5EF4-FFF2-40B4-BE49-F238E27FC236}">
                <a16:creationId xmlns:a16="http://schemas.microsoft.com/office/drawing/2014/main" id="{E9714E11-9818-481C-BCE4-9E02BCE0B129}"/>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A privileged extension is trusted host software, not sandboxed code.</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31BA7711-916B-6F26-A578-CDD59F3CFC84}"/>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Show the operational outcome</a:t>
            </a:r>
          </a:p>
        </p:txBody>
      </p:sp>
      <p:sp>
        <p:nvSpPr>
          <p:cNvPr id="18" name="TextBox 17">
            <a:extLst>
              <a:ext uri="{FF2B5EF4-FFF2-40B4-BE49-F238E27FC236}">
                <a16:creationId xmlns:a16="http://schemas.microsoft.com/office/drawing/2014/main" id="{B371CA26-81F4-0B85-D284-1D57C9CED44A}"/>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Explain prerequisites, failures, reboot needs and what uninstall can leave behind.</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5D828577-787B-1C4F-985F-AC099DEDEC87}"/>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268058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D98E5D-2F32-C81E-B76D-FB4FC466C5AA}"/>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B5C370B7-2D59-1963-E866-CE919CBC1D28}"/>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18531982-6FC2-3D33-FCAB-C255ABCA40D9}"/>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09 / 23</a:t>
            </a:r>
          </a:p>
        </p:txBody>
      </p:sp>
      <p:sp>
        <p:nvSpPr>
          <p:cNvPr id="5" name="Rectangle 4">
            <a:extLst>
              <a:ext uri="{FF2B5EF4-FFF2-40B4-BE49-F238E27FC236}">
                <a16:creationId xmlns:a16="http://schemas.microsoft.com/office/drawing/2014/main" id="{FFE9C0C1-BBA5-B6F8-EEBE-E42AAC64411E}"/>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2EC4D6DF-9A54-6CE2-9879-D79EFD33C276}"/>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 demo performs JSON/entry checks and exports a snapshot; it never compiles or executes code.</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B46A6750-3B61-021C-65C2-7DA53BD9D47F}"/>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07 / Test, validate and package a revision</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1A505111-D024-7730-C2C6-17EB043A3EB8}"/>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1 · PREPARE A RELEASE</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EBE1B879-2FA1-2247-859A-F8AB19CBC258}"/>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7-validated-package.png">
            <a:extLst>
              <a:ext uri="{FF2B5EF4-FFF2-40B4-BE49-F238E27FC236}">
                <a16:creationId xmlns:a16="http://schemas.microsoft.com/office/drawing/2014/main" id="{FD528694-097A-B282-CD0B-B020225D28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42211" y="2413000"/>
            <a:ext cx="8472578" cy="5588000"/>
          </a:xfrm>
          <a:prstGeom prst="rect">
            <a:avLst/>
          </a:prstGeom>
        </p:spPr>
      </p:pic>
      <p:sp>
        <p:nvSpPr>
          <p:cNvPr id="12" name="TextBox 11">
            <a:extLst>
              <a:ext uri="{FF2B5EF4-FFF2-40B4-BE49-F238E27FC236}">
                <a16:creationId xmlns:a16="http://schemas.microsoft.com/office/drawing/2014/main" id="{E21E6F46-88CD-CE13-F282-36B392CDB2CB}"/>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sv-SE" sz="2300" b="1">
                <a:solidFill>
                  <a:srgbClr val="201A35"/>
                </a:solidFill>
                <a:latin typeface="Aptos" panose="020B0004020202020204" pitchFamily="34" charset="0"/>
              </a:rPr>
              <a:t>Focus: A visible preparation sequence</a:t>
            </a:r>
          </a:p>
        </p:txBody>
      </p:sp>
      <p:sp>
        <p:nvSpPr>
          <p:cNvPr id="13" name="TextBox 12">
            <a:extLst>
              <a:ext uri="{FF2B5EF4-FFF2-40B4-BE49-F238E27FC236}">
                <a16:creationId xmlns:a16="http://schemas.microsoft.com/office/drawing/2014/main" id="{127728CE-995C-0970-87C6-C1418664052D}"/>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Try sample inputs</a:t>
            </a:r>
          </a:p>
        </p:txBody>
      </p:sp>
      <p:sp>
        <p:nvSpPr>
          <p:cNvPr id="14" name="TextBox 13">
            <a:extLst>
              <a:ext uri="{FF2B5EF4-FFF2-40B4-BE49-F238E27FC236}">
                <a16:creationId xmlns:a16="http://schemas.microsoft.com/office/drawing/2014/main" id="{8D711344-E8DB-7466-64C8-3ACD510A17AE}"/>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Preview representative outputs and inspect logs before activation.</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57198435-1F47-0E3C-F428-B7956D9FA0E9}"/>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Validate package structure</a:t>
            </a:r>
          </a:p>
        </p:txBody>
      </p:sp>
      <p:sp>
        <p:nvSpPr>
          <p:cNvPr id="16" name="TextBox 15">
            <a:extLst>
              <a:ext uri="{FF2B5EF4-FFF2-40B4-BE49-F238E27FC236}">
                <a16:creationId xmlns:a16="http://schemas.microsoft.com/office/drawing/2014/main" id="{21F90CB2-9D44-F493-646F-AA714170BD51}"/>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Check metadata, configuration and entry points; deeper implementation checks follow the runtime contract.</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2CE3B6AB-AE9D-D9E3-4630-50901A3B2FFA}"/>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Package the exact revision</a:t>
            </a:r>
          </a:p>
        </p:txBody>
      </p:sp>
      <p:sp>
        <p:nvSpPr>
          <p:cNvPr id="18" name="TextBox 17">
            <a:extLst>
              <a:ext uri="{FF2B5EF4-FFF2-40B4-BE49-F238E27FC236}">
                <a16:creationId xmlns:a16="http://schemas.microsoft.com/office/drawing/2014/main" id="{B80BCBF5-6D84-7DBF-61CD-27ECD6D6A93F}"/>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Code or metadata changes invalidate preparation and require a fresh package.</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AA4DAF8A-EBC2-544C-73CE-A3623C12F940}"/>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3109643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EC14E7-AC97-2423-C606-FE7DA135D193}"/>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5357BEFB-0527-6B63-5DDF-1D9972F5DBC1}"/>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66C1B609-4A33-A35C-84F4-C0679B2A6080}"/>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10 / 23</a:t>
            </a:r>
          </a:p>
        </p:txBody>
      </p:sp>
      <p:sp>
        <p:nvSpPr>
          <p:cNvPr id="5" name="Rectangle 4">
            <a:extLst>
              <a:ext uri="{FF2B5EF4-FFF2-40B4-BE49-F238E27FC236}">
                <a16:creationId xmlns:a16="http://schemas.microsoft.com/office/drawing/2014/main" id="{A5F39F4A-D570-CD6C-82AC-E6FCF87BAEEC}"/>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4A6A4D58-C608-A3D7-44CE-23C643DD8474}"/>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These demo downloads are explicitly non-restorable samples; the production skip policy remains open.</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69AD2A64-F48C-8F92-83F1-28289C11A781}"/>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08 / Back up before changing the device</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1D4295BA-5CE4-5CD5-F151-7440EA1FF141}"/>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 · USER-DIRECTED RECOVERY</a:t>
            </a:r>
          </a:p>
        </p:txBody>
      </p:sp>
      <p:sp>
        <p:nvSpPr>
          <p:cNvPr id="9" name="Rectangle 8">
            <a:extLst>
              <a:ext uri="{FF2B5EF4-FFF2-40B4-BE49-F238E27FC236}">
                <a16:creationId xmlns:a16="http://schemas.microsoft.com/office/drawing/2014/main" id="{DBB68B4E-CA64-D9AF-7273-3F87377C0E2C}"/>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8-backup-before-activation.png">
            <a:extLst>
              <a:ext uri="{FF2B5EF4-FFF2-40B4-BE49-F238E27FC236}">
                <a16:creationId xmlns:a16="http://schemas.microsoft.com/office/drawing/2014/main" id="{8AACA98F-5870-2F54-7372-86D9DE02014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059492" y="2413000"/>
            <a:ext cx="7438017" cy="5588000"/>
          </a:xfrm>
          <a:prstGeom prst="rect">
            <a:avLst/>
          </a:prstGeom>
        </p:spPr>
      </p:pic>
      <p:sp>
        <p:nvSpPr>
          <p:cNvPr id="12" name="TextBox 11">
            <a:extLst>
              <a:ext uri="{FF2B5EF4-FFF2-40B4-BE49-F238E27FC236}">
                <a16:creationId xmlns:a16="http://schemas.microsoft.com/office/drawing/2014/main" id="{9C495C58-426B-0780-923D-5F982CBA5FD9}"/>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fr-FR" sz="2300" b="1">
                <a:solidFill>
                  <a:srgbClr val="201A35"/>
                </a:solidFill>
                <a:latin typeface="Aptos" panose="020B0004020202020204" pitchFamily="34" charset="0"/>
              </a:rPr>
              <a:t>Focus: Device export plus diagnostic logs</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E26F89D8-9F50-F41A-03D6-E5A49BC89A04}"/>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Prompt before execution</a:t>
            </a:r>
          </a:p>
        </p:txBody>
      </p:sp>
      <p:sp>
        <p:nvSpPr>
          <p:cNvPr id="14" name="TextBox 13">
            <a:extLst>
              <a:ext uri="{FF2B5EF4-FFF2-40B4-BE49-F238E27FC236}">
                <a16:creationId xmlns:a16="http://schemas.microsoft.com/office/drawing/2014/main" id="{8C0C5720-74F9-F159-A090-462FC2AFCD1F}"/>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Offer device and log exports before install/update hooks or local activation.</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938DD9AE-8011-3AD3-3105-6D14FE1A31C5}"/>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Restore managed state</a:t>
            </a:r>
          </a:p>
        </p:txBody>
      </p:sp>
      <p:sp>
        <p:nvSpPr>
          <p:cNvPr id="16" name="TextBox 15">
            <a:extLst>
              <a:ext uri="{FF2B5EF4-FFF2-40B4-BE49-F238E27FC236}">
                <a16:creationId xmlns:a16="http://schemas.microsoft.com/office/drawing/2014/main" id="{72B4DB2D-68D3-05D8-9715-367380FA393C}"/>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The planned app-wide device backup must have a tested restore path.</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F703D3A6-E706-E5E8-B009-D73AE2BA5ADE}"/>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Be precise about coverage</a:t>
            </a:r>
          </a:p>
        </p:txBody>
      </p:sp>
      <p:sp>
        <p:nvSpPr>
          <p:cNvPr id="18" name="TextBox 17">
            <a:extLst>
              <a:ext uri="{FF2B5EF4-FFF2-40B4-BE49-F238E27FC236}">
                <a16:creationId xmlns:a16="http://schemas.microsoft.com/office/drawing/2014/main" id="{C59A60A5-4613-E295-9BB5-A9C1CD3BC4D4}"/>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Logs are diagnostic. App backups do not universally undo OS, firmware or hardware changes.</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CA8136BB-A50C-4F72-8A4B-2F9EEBF81EFB}"/>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89573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DB06CE-533D-93D8-4107-535F9A84B127}"/>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5D4836BB-E4E9-830C-CD81-A022B4444B71}"/>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59DC1FEA-918E-EFC0-5A58-FCC253D4C240}"/>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11 / 23</a:t>
            </a:r>
          </a:p>
        </p:txBody>
      </p:sp>
      <p:sp>
        <p:nvSpPr>
          <p:cNvPr id="5" name="Rectangle 4">
            <a:extLst>
              <a:ext uri="{FF2B5EF4-FFF2-40B4-BE49-F238E27FC236}">
                <a16:creationId xmlns:a16="http://schemas.microsoft.com/office/drawing/2014/main" id="{53A5E337-C2D6-CE6D-03CB-C294D2090383}"/>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DBFBE376-0308-BF15-6F49-7DAA6806DCEF}"/>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 local builder remains usable with no production library connection.</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0846B84A-37C7-C955-3E4C-49CBE9B482A4}"/>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09 / Activate locally and retain control</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2A2E636E-299B-1D81-D25A-FE7819467BAD}"/>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1 · USE AND MAINTAIN</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138A5832-A034-E8E6-AFD7-9662D0A0C5C4}"/>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09-local-activation.png">
            <a:extLst>
              <a:ext uri="{FF2B5EF4-FFF2-40B4-BE49-F238E27FC236}">
                <a16:creationId xmlns:a16="http://schemas.microsoft.com/office/drawing/2014/main" id="{FE9E8AA6-C985-B23A-8FC3-35E1760AA4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42211" y="2413000"/>
            <a:ext cx="8472578" cy="5588000"/>
          </a:xfrm>
          <a:prstGeom prst="rect">
            <a:avLst/>
          </a:prstGeom>
        </p:spPr>
      </p:pic>
      <p:sp>
        <p:nvSpPr>
          <p:cNvPr id="12" name="TextBox 11">
            <a:extLst>
              <a:ext uri="{FF2B5EF4-FFF2-40B4-BE49-F238E27FC236}">
                <a16:creationId xmlns:a16="http://schemas.microsoft.com/office/drawing/2014/main" id="{6586ADCF-9284-42B1-8497-13C835F3D12E}"/>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Installed is different from active</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CEE4E22F-81B0-30D6-CB3D-7BC3EDCC5ED2}"/>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Activate explicitly</a:t>
            </a:r>
          </a:p>
        </p:txBody>
      </p:sp>
      <p:sp>
        <p:nvSpPr>
          <p:cNvPr id="14" name="TextBox 13">
            <a:extLst>
              <a:ext uri="{FF2B5EF4-FFF2-40B4-BE49-F238E27FC236}">
                <a16:creationId xmlns:a16="http://schemas.microsoft.com/office/drawing/2014/main" id="{88D3DEB0-438F-B5D3-3847-57D1B5D99796}"/>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A library installation first adds an inactive package; the operator chooses when to activate.</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3AE41084-902A-6A66-50DC-F6D11FCC56B9}"/>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Keep lifecycle actions manual</a:t>
            </a:r>
          </a:p>
        </p:txBody>
      </p:sp>
      <p:sp>
        <p:nvSpPr>
          <p:cNvPr id="16" name="TextBox 15">
            <a:extLst>
              <a:ext uri="{FF2B5EF4-FFF2-40B4-BE49-F238E27FC236}">
                <a16:creationId xmlns:a16="http://schemas.microsoft.com/office/drawing/2014/main" id="{04E25151-82DE-082D-2AFB-E7BB543E9DDC}"/>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Enable, disable and update through clear user actions.</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AD8378E2-00B5-16D6-BB8E-8DED7BD7A7C1}"/>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Preserve useful state</a:t>
            </a:r>
          </a:p>
        </p:txBody>
      </p:sp>
      <p:sp>
        <p:nvSpPr>
          <p:cNvPr id="18" name="TextBox 17">
            <a:extLst>
              <a:ext uri="{FF2B5EF4-FFF2-40B4-BE49-F238E27FC236}">
                <a16:creationId xmlns:a16="http://schemas.microsoft.com/office/drawing/2014/main" id="{4851C4A2-E445-DB86-868A-1463ACC2EB5E}"/>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Removal retains device/workflow configuration and history unless deletion is explicitly requested.</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A5005173-C615-1307-EC06-005D7F75C2BB}"/>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22646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1DF5FD-2AC7-37BC-E1CB-5CE5962A5CC6}"/>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E331EB89-3AF8-4B5A-073B-E9EA9D567B16}"/>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ACAD021E-02F1-3EE1-FBC5-71A5DE71A3DD}"/>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12 / 23</a:t>
            </a:r>
          </a:p>
        </p:txBody>
      </p:sp>
      <p:sp>
        <p:nvSpPr>
          <p:cNvPr id="5" name="Rectangle 4">
            <a:extLst>
              <a:ext uri="{FF2B5EF4-FFF2-40B4-BE49-F238E27FC236}">
                <a16:creationId xmlns:a16="http://schemas.microsoft.com/office/drawing/2014/main" id="{D7F896B5-F10B-E6C1-5376-A61918D25B80}"/>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930888D9-CEBE-88B7-962C-19BEFD47E3F8}"/>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Demo source/package JSON snapshots round-trip locally; production package formats are still to be defined.</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A8A8543C-050A-142F-BC38-1DFBB6003C7E}"/>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10 / Share directly between instances</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A9218571-C3E3-BE74-BCE6-063A83889CA2}"/>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 · EXPORT / IMPORT</a:t>
            </a:r>
          </a:p>
        </p:txBody>
      </p:sp>
      <p:sp>
        <p:nvSpPr>
          <p:cNvPr id="9" name="Rectangle 8">
            <a:extLst>
              <a:ext uri="{FF2B5EF4-FFF2-40B4-BE49-F238E27FC236}">
                <a16:creationId xmlns:a16="http://schemas.microsoft.com/office/drawing/2014/main" id="{D7BC4E8C-652C-C049-7FD5-45530BF0FA29}"/>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10-local-import-export.png">
            <a:extLst>
              <a:ext uri="{FF2B5EF4-FFF2-40B4-BE49-F238E27FC236}">
                <a16:creationId xmlns:a16="http://schemas.microsoft.com/office/drawing/2014/main" id="{EFB86277-7610-CE89-424F-C56F73E3233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42178" y="2413000"/>
            <a:ext cx="5872643" cy="5588000"/>
          </a:xfrm>
          <a:prstGeom prst="rect">
            <a:avLst/>
          </a:prstGeom>
        </p:spPr>
      </p:pic>
      <p:sp>
        <p:nvSpPr>
          <p:cNvPr id="12" name="TextBox 11">
            <a:extLst>
              <a:ext uri="{FF2B5EF4-FFF2-40B4-BE49-F238E27FC236}">
                <a16:creationId xmlns:a16="http://schemas.microsoft.com/office/drawing/2014/main" id="{F75570BE-6BB8-B9EC-1D99-32147377BD00}"/>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A package is not a device backup</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988A6E9E-CCC9-39C7-970E-88CF11C6EA81}"/>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Export source or a package</a:t>
            </a:r>
          </a:p>
        </p:txBody>
      </p:sp>
      <p:sp>
        <p:nvSpPr>
          <p:cNvPr id="14" name="TextBox 13">
            <a:extLst>
              <a:ext uri="{FF2B5EF4-FFF2-40B4-BE49-F238E27FC236}">
                <a16:creationId xmlns:a16="http://schemas.microsoft.com/office/drawing/2014/main" id="{7D202B5D-A76A-7D4D-C32D-34615AC8EC07}"/>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Prepare a shareable module without exporting configured credentials or device history.</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618F7F1F-6186-40D3-2820-DC6139C8ADBA}"/>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Import on another instance</a:t>
            </a:r>
          </a:p>
        </p:txBody>
      </p:sp>
      <p:sp>
        <p:nvSpPr>
          <p:cNvPr id="16" name="TextBox 15">
            <a:extLst>
              <a:ext uri="{FF2B5EF4-FFF2-40B4-BE49-F238E27FC236}">
                <a16:creationId xmlns:a16="http://schemas.microsoft.com/office/drawing/2014/main" id="{AC88EBB6-E308-AE40-FE84-052C7265DF97}"/>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Prove author independence without publishing or changing core source.</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95ED7203-2C88-0C15-C648-00551183AACF}"/>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Keep three artifacts distinct</a:t>
            </a:r>
          </a:p>
        </p:txBody>
      </p:sp>
      <p:sp>
        <p:nvSpPr>
          <p:cNvPr id="18" name="TextBox 17">
            <a:extLst>
              <a:ext uri="{FF2B5EF4-FFF2-40B4-BE49-F238E27FC236}">
                <a16:creationId xmlns:a16="http://schemas.microsoft.com/office/drawing/2014/main" id="{F383C535-92AE-48AC-C597-9844D416DA93}"/>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sv-SE">
                <a:solidFill>
                  <a:srgbClr val="625E70"/>
                </a:solidFill>
                <a:latin typeface="Aptos" panose="020B0004020202020204" pitchFamily="34" charset="0"/>
              </a:rPr>
              <a:t>Source, installable packages and complete device backups serve different purposes.</a:t>
            </a:r>
          </a:p>
        </p:txBody>
      </p:sp>
      <p:sp>
        <p:nvSpPr>
          <p:cNvPr id="19" name="TextBox 18">
            <a:extLst>
              <a:ext uri="{FF2B5EF4-FFF2-40B4-BE49-F238E27FC236}">
                <a16:creationId xmlns:a16="http://schemas.microsoft.com/office/drawing/2014/main" id="{6A91E3B8-C4E9-BC79-EA08-034A9B488B89}"/>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3830305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652A42-181A-9AD5-B15A-73F9A73B2D08}"/>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E8C0B9CF-FC01-9D2C-D1D0-C911D7EB8130}"/>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F919AEB3-8C59-161C-19C3-F817B1774493}"/>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13 / 23</a:t>
            </a:r>
          </a:p>
        </p:txBody>
      </p:sp>
      <p:sp>
        <p:nvSpPr>
          <p:cNvPr id="5" name="Rectangle 4">
            <a:extLst>
              <a:ext uri="{FF2B5EF4-FFF2-40B4-BE49-F238E27FC236}">
                <a16:creationId xmlns:a16="http://schemas.microsoft.com/office/drawing/2014/main" id="{CE104D40-6B21-3439-475D-4D33729919C5}"/>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0845C44E-3CB4-E12F-C26E-25267379FA7A}"/>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Ratings and download counts describe popularity and experience; they do not certify safety.</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65020F3B-379F-B249-EC01-01D3830011E8}"/>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11 / Discover a module in the hosted library</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9A16C93E-5933-75D2-5917-BE345617A065}"/>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2 · DISCOVER</a:t>
            </a:r>
          </a:p>
        </p:txBody>
      </p:sp>
      <p:sp>
        <p:nvSpPr>
          <p:cNvPr id="9" name="Rectangle 8">
            <a:extLst>
              <a:ext uri="{FF2B5EF4-FFF2-40B4-BE49-F238E27FC236}">
                <a16:creationId xmlns:a16="http://schemas.microsoft.com/office/drawing/2014/main" id="{402CD997-CDF1-AC72-C5B5-D94E0E73421B}"/>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14-library-discovery.png">
            <a:extLst>
              <a:ext uri="{FF2B5EF4-FFF2-40B4-BE49-F238E27FC236}">
                <a16:creationId xmlns:a16="http://schemas.microsoft.com/office/drawing/2014/main" id="{BBE04B9D-ED15-841F-D810-8294B6B8A2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08100" y="2413000"/>
            <a:ext cx="8940800" cy="5588000"/>
          </a:xfrm>
          <a:prstGeom prst="rect">
            <a:avLst/>
          </a:prstGeom>
        </p:spPr>
      </p:pic>
      <p:sp>
        <p:nvSpPr>
          <p:cNvPr id="12" name="TextBox 11">
            <a:extLst>
              <a:ext uri="{FF2B5EF4-FFF2-40B4-BE49-F238E27FC236}">
                <a16:creationId xmlns:a16="http://schemas.microsoft.com/office/drawing/2014/main" id="{1AAF054A-F332-3AC7-1A43-C0B7163D7955}"/>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A public ecosystem around local packages</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725C462B-3EE9-FE47-BAF9-608C75688BE6}"/>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Find capabilities</a:t>
            </a:r>
          </a:p>
        </p:txBody>
      </p:sp>
      <p:sp>
        <p:nvSpPr>
          <p:cNvPr id="14" name="TextBox 13">
            <a:extLst>
              <a:ext uri="{FF2B5EF4-FFF2-40B4-BE49-F238E27FC236}">
                <a16:creationId xmlns:a16="http://schemas.microsoft.com/office/drawing/2014/main" id="{A90B7377-8E57-904C-0D51-808DD0513346}"/>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Search by module and contribution type rather than waiting for a core release.</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F4CB0F8B-BDA3-7523-652E-3F5B4FF863D6}"/>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Understand the publisher</a:t>
            </a:r>
          </a:p>
        </p:txBody>
      </p:sp>
      <p:sp>
        <p:nvSpPr>
          <p:cNvPr id="16" name="TextBox 15">
            <a:extLst>
              <a:ext uri="{FF2B5EF4-FFF2-40B4-BE49-F238E27FC236}">
                <a16:creationId xmlns:a16="http://schemas.microsoft.com/office/drawing/2014/main" id="{FCD096B6-8A58-F805-4DFD-128A38A8D21F}"/>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Publisher profiles, module ratings, aggregate builder ratings and downloads provide context.</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8429D64D-1E38-29A7-017B-BDF32B49FCDB}"/>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Retain operator choice</a:t>
            </a:r>
          </a:p>
        </p:txBody>
      </p:sp>
      <p:sp>
        <p:nvSpPr>
          <p:cNvPr id="18" name="TextBox 17">
            <a:extLst>
              <a:ext uri="{FF2B5EF4-FFF2-40B4-BE49-F238E27FC236}">
                <a16:creationId xmlns:a16="http://schemas.microsoft.com/office/drawing/2014/main" id="{1CAD95A7-16B0-DFDF-FB5C-FCCB0DE84BC6}"/>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Inspect a release and its requested access before adding it to the device.</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6118D0E7-7F3B-D402-E064-AA70394671A3}"/>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2030962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498CE8-9548-3A1A-9BBF-421BB52A2BFF}"/>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33498445-AD61-D8E4-1D47-AC24302A0FB2}"/>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E5CC7813-C3FE-4981-7B89-466AE74318ED}"/>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14 / 23</a:t>
            </a:r>
          </a:p>
        </p:txBody>
      </p:sp>
      <p:sp>
        <p:nvSpPr>
          <p:cNvPr id="5" name="Rectangle 4">
            <a:extLst>
              <a:ext uri="{FF2B5EF4-FFF2-40B4-BE49-F238E27FC236}">
                <a16:creationId xmlns:a16="http://schemas.microsoft.com/office/drawing/2014/main" id="{4369C5F0-8398-739F-7F99-6C76A2593C02}"/>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2C5194FB-BB87-E5C0-C10A-DB6036973150}"/>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Seeded source is illustrative; this newly published example captures the actual demo draft text.</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C017054B-F939-E562-9718-9C5BF2854BBA}"/>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12 / Inspect the exact release source</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E807A3EC-5F95-661D-885F-0E7706D52BD7}"/>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2 · INSPECT BEFORE INSTALLING</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833B7FD7-5D54-8089-3982-A1D9E595D89B}"/>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13-release-source.png">
            <a:extLst>
              <a:ext uri="{FF2B5EF4-FFF2-40B4-BE49-F238E27FC236}">
                <a16:creationId xmlns:a16="http://schemas.microsoft.com/office/drawing/2014/main" id="{95177872-BA31-125C-BC65-291735C1C00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37957" y="2413000"/>
            <a:ext cx="4281086" cy="5588000"/>
          </a:xfrm>
          <a:prstGeom prst="rect">
            <a:avLst/>
          </a:prstGeom>
        </p:spPr>
      </p:pic>
      <p:sp>
        <p:nvSpPr>
          <p:cNvPr id="12" name="TextBox 11">
            <a:extLst>
              <a:ext uri="{FF2B5EF4-FFF2-40B4-BE49-F238E27FC236}">
                <a16:creationId xmlns:a16="http://schemas.microsoft.com/office/drawing/2014/main" id="{D609D21C-5197-8850-593B-79335A47370F}"/>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Published source and community inspection</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86B052D6-26B7-9DB7-A6DF-AD8AA05497F3}"/>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Inspect a versioned snapshot</a:t>
            </a:r>
          </a:p>
        </p:txBody>
      </p:sp>
      <p:sp>
        <p:nvSpPr>
          <p:cNvPr id="14" name="TextBox 13">
            <a:extLst>
              <a:ext uri="{FF2B5EF4-FFF2-40B4-BE49-F238E27FC236}">
                <a16:creationId xmlns:a16="http://schemas.microsoft.com/office/drawing/2014/main" id="{0ECB36C4-0FE8-E8D6-9D18-A762FE9BB57E}"/>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The published release remains unchanged when an author later edits a local draft.</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C1DBE3A3-4F2D-51A2-94B2-F8E19766A41C}"/>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Review dependencies and access</a:t>
            </a:r>
          </a:p>
        </p:txBody>
      </p:sp>
      <p:sp>
        <p:nvSpPr>
          <p:cNvPr id="16" name="TextBox 15">
            <a:extLst>
              <a:ext uri="{FF2B5EF4-FFF2-40B4-BE49-F238E27FC236}">
                <a16:creationId xmlns:a16="http://schemas.microsoft.com/office/drawing/2014/main" id="{89047D25-65FD-C680-54DC-CBF7A00218C0}"/>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Read the manifest, source and release notes; provenance must match the installed artifact.</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D33295AB-A595-264A-220D-D32DBDA1A2FF}"/>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Separate the signals</a:t>
            </a:r>
          </a:p>
        </p:txBody>
      </p:sp>
      <p:sp>
        <p:nvSpPr>
          <p:cNvPr id="18" name="TextBox 17">
            <a:extLst>
              <a:ext uri="{FF2B5EF4-FFF2-40B4-BE49-F238E27FC236}">
                <a16:creationId xmlns:a16="http://schemas.microsoft.com/office/drawing/2014/main" id="{866CCFE1-C038-7540-F7BE-582012AAF64A}"/>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Inspection reports are distinct from ratings and verified-purchase reviews.</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90AF2FCD-6DA0-AA65-1124-20490A5593C0}"/>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4226892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3A512D-7B8E-D56E-D7DA-E035A13E9E8F}"/>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77C00970-B4EE-7D7F-2028-0928E25A77C9}"/>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1897E328-01AF-D4AB-332F-79A58442D381}"/>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15 / 23</a:t>
            </a:r>
          </a:p>
        </p:txBody>
      </p:sp>
      <p:sp>
        <p:nvSpPr>
          <p:cNvPr id="5" name="Rectangle 4">
            <a:extLst>
              <a:ext uri="{FF2B5EF4-FFF2-40B4-BE49-F238E27FC236}">
                <a16:creationId xmlns:a16="http://schemas.microsoft.com/office/drawing/2014/main" id="{031049D9-711C-45BF-1F80-4CCF1B910040}"/>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9AEC20E7-5B45-59C8-0E0D-3539E403AE08}"/>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AI-assisted checks are an option to evaluate, not an implemented safety guarantee.</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8F9A3F13-3536-E7A5-B681-9204362C3D04}"/>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13 / Publish after automated acceptance checks</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817E6BE1-E21B-7E8E-DA45-3FF0CCDEFC76}"/>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2 · PUBLISH</a:t>
            </a:r>
          </a:p>
        </p:txBody>
      </p:sp>
      <p:sp>
        <p:nvSpPr>
          <p:cNvPr id="9" name="Rectangle 8">
            <a:extLst>
              <a:ext uri="{FF2B5EF4-FFF2-40B4-BE49-F238E27FC236}">
                <a16:creationId xmlns:a16="http://schemas.microsoft.com/office/drawing/2014/main" id="{2CFCBB97-99E7-B05F-89EC-CF8DF5BD246A}"/>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11-publishing-checks.png">
            <a:extLst>
              <a:ext uri="{FF2B5EF4-FFF2-40B4-BE49-F238E27FC236}">
                <a16:creationId xmlns:a16="http://schemas.microsoft.com/office/drawing/2014/main" id="{366130E0-3D6D-9CCE-A637-28E666427FA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55696" y="2413000"/>
            <a:ext cx="5645608" cy="5588000"/>
          </a:xfrm>
          <a:prstGeom prst="rect">
            <a:avLst/>
          </a:prstGeom>
        </p:spPr>
      </p:pic>
      <p:sp>
        <p:nvSpPr>
          <p:cNvPr id="12" name="TextBox 11">
            <a:extLst>
              <a:ext uri="{FF2B5EF4-FFF2-40B4-BE49-F238E27FC236}">
                <a16:creationId xmlns:a16="http://schemas.microsoft.com/office/drawing/2014/main" id="{73FDF7E6-2C03-6DCA-2E50-54833A16DE9D}"/>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No human approval gate</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2823AD51-E8E2-562B-7A5A-D31FEBE62BBF}"/>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Package first</a:t>
            </a:r>
          </a:p>
        </p:txBody>
      </p:sp>
      <p:sp>
        <p:nvSpPr>
          <p:cNvPr id="14" name="TextBox 13">
            <a:extLst>
              <a:ext uri="{FF2B5EF4-FFF2-40B4-BE49-F238E27FC236}">
                <a16:creationId xmlns:a16="http://schemas.microsoft.com/office/drawing/2014/main" id="{25BE7B30-94D1-004E-724A-4D5D6F09BFC3}"/>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sv-SE">
                <a:solidFill>
                  <a:srgbClr val="625E70"/>
                </a:solidFill>
                <a:latin typeface="Aptos" panose="020B0004020202020204" pitchFamily="34" charset="0"/>
              </a:rPr>
              <a:t>Publication uses a prepared revision plus metadata and documentation.</a:t>
            </a:r>
          </a:p>
        </p:txBody>
      </p:sp>
      <p:sp>
        <p:nvSpPr>
          <p:cNvPr id="15" name="TextBox 14">
            <a:extLst>
              <a:ext uri="{FF2B5EF4-FFF2-40B4-BE49-F238E27FC236}">
                <a16:creationId xmlns:a16="http://schemas.microsoft.com/office/drawing/2014/main" id="{477D2A28-89AA-884D-5233-8675E466D41A}"/>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Run acceptance checks</a:t>
            </a:r>
          </a:p>
        </p:txBody>
      </p:sp>
      <p:sp>
        <p:nvSpPr>
          <p:cNvPr id="16" name="TextBox 15">
            <a:extLst>
              <a:ext uri="{FF2B5EF4-FFF2-40B4-BE49-F238E27FC236}">
                <a16:creationId xmlns:a16="http://schemas.microsoft.com/office/drawing/2014/main" id="{2B6C7C1B-ADBE-1FA9-34E9-9F372DC33104}"/>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Automated checks precede publication; exact production rules still need definition.</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BA1A8CA7-BE0A-6D3A-5A51-9422E45AF234}"/>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Acknowledge the contents</a:t>
            </a:r>
          </a:p>
        </p:txBody>
      </p:sp>
      <p:sp>
        <p:nvSpPr>
          <p:cNvPr id="18" name="TextBox 17">
            <a:extLst>
              <a:ext uri="{FF2B5EF4-FFF2-40B4-BE49-F238E27FC236}">
                <a16:creationId xmlns:a16="http://schemas.microsoft.com/office/drawing/2014/main" id="{D5A60AA1-3582-38F5-6FFA-38581C09253F}"/>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The author confirms their right to share; this is not a manual reviewer approval.</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DC3CF710-BA09-FB08-906E-DC0AAA49C145}"/>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3802271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99D41B-DB44-B809-411E-4E35102081E4}"/>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7B1FA015-B4AE-E229-9195-DF0B7A2B7D55}"/>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0EB6BF5E-940E-334A-B691-561A5927BBBB}"/>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16 / 23</a:t>
            </a:r>
          </a:p>
        </p:txBody>
      </p:sp>
      <p:sp>
        <p:nvSpPr>
          <p:cNvPr id="5" name="Rectangle 4">
            <a:extLst>
              <a:ext uri="{FF2B5EF4-FFF2-40B4-BE49-F238E27FC236}">
                <a16:creationId xmlns:a16="http://schemas.microsoft.com/office/drawing/2014/main" id="{DDDA0990-2A3C-FDAF-E230-6E96822D5ECF}"/>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5771BDF7-3C9E-F9D4-B65E-F4D75D336203}"/>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Named moderation owners, removal rules and transition criteria still need agreement.</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32C78F83-4DBD-C285-2B1B-E0B1A3D0D27A}"/>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14 / Community feedback after publication</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A05B3538-EB95-698D-6D89-25276185D44B}"/>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en-GB" sz="1300" b="1">
                <a:solidFill>
                  <a:srgbClr val="7544D3"/>
                </a:solidFill>
                <a:latin typeface="Aptos" panose="020B0004020202020204" pitchFamily="34" charset="0"/>
              </a:rPr>
              <a:t>PHASE 2 · MODERATE AND LEARN</a:t>
            </a:r>
            <a:endParaRPr lang="sv-SE" sz="1300" b="1">
              <a:solidFill>
                <a:srgbClr val="7544D3"/>
              </a:solidFill>
              <a:latin typeface="Aptos" panose="020B0004020202020204" pitchFamily="34" charset="0"/>
            </a:endParaRPr>
          </a:p>
        </p:txBody>
      </p:sp>
      <p:sp>
        <p:nvSpPr>
          <p:cNvPr id="9" name="Rectangle 8">
            <a:extLst>
              <a:ext uri="{FF2B5EF4-FFF2-40B4-BE49-F238E27FC236}">
                <a16:creationId xmlns:a16="http://schemas.microsoft.com/office/drawing/2014/main" id="{6586386C-6BB2-814A-EADD-137767E75432}"/>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12-community-listing.png">
            <a:extLst>
              <a:ext uri="{FF2B5EF4-FFF2-40B4-BE49-F238E27FC236}">
                <a16:creationId xmlns:a16="http://schemas.microsoft.com/office/drawing/2014/main" id="{426A68D6-E1F8-B1CD-E93A-A3796D967EC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57295" y="2413000"/>
            <a:ext cx="7042411" cy="5588000"/>
          </a:xfrm>
          <a:prstGeom prst="rect">
            <a:avLst/>
          </a:prstGeom>
        </p:spPr>
      </p:pic>
      <p:sp>
        <p:nvSpPr>
          <p:cNvPr id="12" name="TextBox 11">
            <a:extLst>
              <a:ext uri="{FF2B5EF4-FFF2-40B4-BE49-F238E27FC236}">
                <a16:creationId xmlns:a16="http://schemas.microsoft.com/office/drawing/2014/main" id="{F37ACA8C-BBFD-3276-5B03-94F22F67ACB2}"/>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Immediate listing, later content moderation</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D58D18E0-950A-861A-D00C-9C40576469BA}"/>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Initial rollout</a:t>
            </a:r>
          </a:p>
        </p:txBody>
      </p:sp>
      <p:sp>
        <p:nvSpPr>
          <p:cNvPr id="14" name="TextBox 13">
            <a:extLst>
              <a:ext uri="{FF2B5EF4-FFF2-40B4-BE49-F238E27FC236}">
                <a16:creationId xmlns:a16="http://schemas.microsoft.com/office/drawing/2014/main" id="{49AA1A19-438D-396B-693D-5FB6562FB585}"/>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Human moderation after publication filters spam and inappropriate uploads.</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54A679CB-4C95-83BA-5E24-C924B58BFE28}"/>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Long-term operating model</a:t>
            </a:r>
          </a:p>
        </p:txBody>
      </p:sp>
      <p:sp>
        <p:nvSpPr>
          <p:cNvPr id="16" name="TextBox 15">
            <a:extLst>
              <a:ext uri="{FF2B5EF4-FFF2-40B4-BE49-F238E27FC236}">
                <a16:creationId xmlns:a16="http://schemas.microsoft.com/office/drawing/2014/main" id="{E4FEFEA0-BEF7-F915-11B1-AD67D28D1DD2}"/>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Community-managed inspection, reports and moderation supported by automation.</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A2C4AACA-0DEB-DB49-6E20-A9616DDEFF3B}"/>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Separate service ownership</a:t>
            </a:r>
          </a:p>
        </p:txBody>
      </p:sp>
      <p:sp>
        <p:nvSpPr>
          <p:cNvPr id="18" name="TextBox 17">
            <a:extLst>
              <a:ext uri="{FF2B5EF4-FFF2-40B4-BE49-F238E27FC236}">
                <a16:creationId xmlns:a16="http://schemas.microsoft.com/office/drawing/2014/main" id="{4AC326F3-E9F3-6623-A4EE-ED0D465FFDDC}"/>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The web library is maintained separately from community module creation.</a:t>
            </a:r>
            <a:endParaRPr lang="sv-SE">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75FDB223-5468-2EB4-821B-7FE4835CD5E2}"/>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2355315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97742-88E7-3804-A7D6-C9AD7D25D87C}"/>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7D251E62-0702-F411-08CE-0DBA8BF99D83}"/>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B52F5857-EBE5-D4DD-82F6-B3C041597257}"/>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17 / 23</a:t>
            </a:r>
          </a:p>
        </p:txBody>
      </p:sp>
      <p:sp>
        <p:nvSpPr>
          <p:cNvPr id="5" name="Rectangle 4">
            <a:extLst>
              <a:ext uri="{FF2B5EF4-FFF2-40B4-BE49-F238E27FC236}">
                <a16:creationId xmlns:a16="http://schemas.microsoft.com/office/drawing/2014/main" id="{B0756FDF-4374-D180-346F-CB88E87AA402}"/>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623C0F7F-CE5F-CFEC-8618-2FD8E0E440E2}"/>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This is a simulated purchase. No money, checkout service or verified receipt is involved.</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CED75B98-66C6-6A80-9704-EB8C2A07E6C9}"/>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sv-SE" sz="3800" b="1">
                <a:solidFill>
                  <a:srgbClr val="201A35"/>
                </a:solidFill>
                <a:latin typeface="Aptos" panose="020B0004020202020204" pitchFamily="34" charset="0"/>
              </a:rPr>
              <a:t>15 / Paid official distribution, inspectable source</a:t>
            </a:r>
          </a:p>
        </p:txBody>
      </p:sp>
      <p:sp>
        <p:nvSpPr>
          <p:cNvPr id="8" name="TextBox 7">
            <a:extLst>
              <a:ext uri="{FF2B5EF4-FFF2-40B4-BE49-F238E27FC236}">
                <a16:creationId xmlns:a16="http://schemas.microsoft.com/office/drawing/2014/main" id="{E2ACF374-0CDB-FB1E-4AFD-433116BCC713}"/>
              </a:ext>
            </a:extLst>
          </p:cNvPr>
          <p:cNvSpPr txBox="1">
            <a:spLocks/>
          </p:cNvSpPr>
          <p:nvPr/>
        </p:nvSpPr>
        <p:spPr>
          <a:xfrm>
            <a:off x="546100" y="1866899"/>
            <a:ext cx="15176500" cy="3048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2 · COMMERCIAL OPTION</a:t>
            </a:r>
          </a:p>
        </p:txBody>
      </p:sp>
      <p:sp>
        <p:nvSpPr>
          <p:cNvPr id="9" name="Rectangle 8">
            <a:extLst>
              <a:ext uri="{FF2B5EF4-FFF2-40B4-BE49-F238E27FC236}">
                <a16:creationId xmlns:a16="http://schemas.microsoft.com/office/drawing/2014/main" id="{F870EABC-E36A-B803-0E57-DA0C86BEE5D0}"/>
              </a:ext>
            </a:extLst>
          </p:cNvPr>
          <p:cNvSpPr/>
          <p:nvPr/>
        </p:nvSpPr>
        <p:spPr>
          <a:xfrm>
            <a:off x="508000" y="2413000"/>
            <a:ext cx="10541000" cy="5588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1" name="Picture 10" descr="Demo screenshot: screenshots/15-paid-module-concept.png">
            <a:extLst>
              <a:ext uri="{FF2B5EF4-FFF2-40B4-BE49-F238E27FC236}">
                <a16:creationId xmlns:a16="http://schemas.microsoft.com/office/drawing/2014/main" id="{7D117B2D-DF87-DC8F-D6D3-EEA4968036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76618" y="2413000"/>
            <a:ext cx="9203765" cy="5588000"/>
          </a:xfrm>
          <a:prstGeom prst="rect">
            <a:avLst/>
          </a:prstGeom>
        </p:spPr>
      </p:pic>
      <p:sp>
        <p:nvSpPr>
          <p:cNvPr id="12" name="TextBox 11">
            <a:extLst>
              <a:ext uri="{FF2B5EF4-FFF2-40B4-BE49-F238E27FC236}">
                <a16:creationId xmlns:a16="http://schemas.microsoft.com/office/drawing/2014/main" id="{CFA07CF4-4F68-4076-0836-1441E5255574}"/>
              </a:ext>
            </a:extLst>
          </p:cNvPr>
          <p:cNvSpPr txBox="1">
            <a:spLocks/>
          </p:cNvSpPr>
          <p:nvPr/>
        </p:nvSpPr>
        <p:spPr>
          <a:xfrm>
            <a:off x="11430000" y="2400299"/>
            <a:ext cx="4318000" cy="952500"/>
          </a:xfrm>
          <a:prstGeom prst="rect">
            <a:avLst/>
          </a:prstGeom>
          <a:noFill/>
        </p:spPr>
        <p:txBody>
          <a:bodyPr vert="horz" wrap="square" lIns="0" tIns="0" rIns="0" bIns="0" rtlCol="0">
            <a:noAutofit/>
          </a:bodyPr>
          <a:lstStyle/>
          <a:p>
            <a:r>
              <a:rPr lang="en-GB" sz="2300" b="1">
                <a:solidFill>
                  <a:srgbClr val="201A35"/>
                </a:solidFill>
                <a:latin typeface="Aptos" panose="020B0004020202020204" pitchFamily="34" charset="0"/>
              </a:rPr>
              <a:t>Focus: Entitlements without strong copy protection</a:t>
            </a:r>
            <a:endParaRPr lang="sv-SE" sz="2300" b="1">
              <a:solidFill>
                <a:srgbClr val="201A35"/>
              </a:solidFill>
              <a:latin typeface="Aptos" panose="020B0004020202020204" pitchFamily="34" charset="0"/>
            </a:endParaRPr>
          </a:p>
        </p:txBody>
      </p:sp>
      <p:sp>
        <p:nvSpPr>
          <p:cNvPr id="13" name="TextBox 12">
            <a:extLst>
              <a:ext uri="{FF2B5EF4-FFF2-40B4-BE49-F238E27FC236}">
                <a16:creationId xmlns:a16="http://schemas.microsoft.com/office/drawing/2014/main" id="{F603E30E-E881-F315-2F93-A74D00F1C811}"/>
              </a:ext>
            </a:extLst>
          </p:cNvPr>
          <p:cNvSpPr txBox="1">
            <a:spLocks/>
          </p:cNvSpPr>
          <p:nvPr/>
        </p:nvSpPr>
        <p:spPr>
          <a:xfrm>
            <a:off x="11430000" y="36067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Inspect before purchasing</a:t>
            </a:r>
          </a:p>
        </p:txBody>
      </p:sp>
      <p:sp>
        <p:nvSpPr>
          <p:cNvPr id="14" name="TextBox 13">
            <a:extLst>
              <a:ext uri="{FF2B5EF4-FFF2-40B4-BE49-F238E27FC236}">
                <a16:creationId xmlns:a16="http://schemas.microsoft.com/office/drawing/2014/main" id="{7F8092D0-0B98-9B38-0643-F0A8BAE5EF15}"/>
              </a:ext>
            </a:extLst>
          </p:cNvPr>
          <p:cNvSpPr txBox="1">
            <a:spLocks/>
          </p:cNvSpPr>
          <p:nvPr/>
        </p:nvSpPr>
        <p:spPr>
          <a:xfrm>
            <a:off x="11430000" y="40131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Source remains inspectable; publisher identity and release provenance matter.</a:t>
            </a:r>
            <a:endParaRPr lang="sv-SE">
              <a:solidFill>
                <a:srgbClr val="625E70"/>
              </a:solidFill>
              <a:latin typeface="Aptos" panose="020B0004020202020204" pitchFamily="34" charset="0"/>
            </a:endParaRPr>
          </a:p>
        </p:txBody>
      </p:sp>
      <p:sp>
        <p:nvSpPr>
          <p:cNvPr id="15" name="TextBox 14">
            <a:extLst>
              <a:ext uri="{FF2B5EF4-FFF2-40B4-BE49-F238E27FC236}">
                <a16:creationId xmlns:a16="http://schemas.microsoft.com/office/drawing/2014/main" id="{6688B819-C788-3BD2-68FE-F6EF8926AAEC}"/>
              </a:ext>
            </a:extLst>
          </p:cNvPr>
          <p:cNvSpPr txBox="1">
            <a:spLocks/>
          </p:cNvSpPr>
          <p:nvPr/>
        </p:nvSpPr>
        <p:spPr>
          <a:xfrm>
            <a:off x="11430000" y="5092699"/>
            <a:ext cx="4318000" cy="368300"/>
          </a:xfrm>
          <a:prstGeom prst="rect">
            <a:avLst/>
          </a:prstGeom>
          <a:noFill/>
        </p:spPr>
        <p:txBody>
          <a:bodyPr vert="horz" wrap="square" lIns="0" tIns="0" rIns="0" bIns="0" rtlCol="0">
            <a:noAutofit/>
          </a:bodyPr>
          <a:lstStyle/>
          <a:p>
            <a:r>
              <a:rPr lang="sv-SE" sz="1900" b="1">
                <a:solidFill>
                  <a:srgbClr val="7544D3"/>
                </a:solidFill>
                <a:latin typeface="Aptos" panose="020B0004020202020204" pitchFamily="34" charset="0"/>
              </a:rPr>
              <a:t>Use installed versions offline</a:t>
            </a:r>
          </a:p>
        </p:txBody>
      </p:sp>
      <p:sp>
        <p:nvSpPr>
          <p:cNvPr id="16" name="TextBox 15">
            <a:extLst>
              <a:ext uri="{FF2B5EF4-FFF2-40B4-BE49-F238E27FC236}">
                <a16:creationId xmlns:a16="http://schemas.microsoft.com/office/drawing/2014/main" id="{D948A412-72F4-6F50-9EFD-4F3134266A3D}"/>
              </a:ext>
            </a:extLst>
          </p:cNvPr>
          <p:cNvSpPr txBox="1">
            <a:spLocks/>
          </p:cNvSpPr>
          <p:nvPr/>
        </p:nvSpPr>
        <p:spPr>
          <a:xfrm>
            <a:off x="11430000" y="5499099"/>
            <a:ext cx="4318000" cy="10287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The direction supports local entitlements without continuous license-server access.</a:t>
            </a:r>
            <a:endParaRPr lang="sv-SE">
              <a:solidFill>
                <a:srgbClr val="625E70"/>
              </a:solidFill>
              <a:latin typeface="Aptos" panose="020B0004020202020204" pitchFamily="34" charset="0"/>
            </a:endParaRPr>
          </a:p>
        </p:txBody>
      </p:sp>
      <p:sp>
        <p:nvSpPr>
          <p:cNvPr id="17" name="TextBox 16">
            <a:extLst>
              <a:ext uri="{FF2B5EF4-FFF2-40B4-BE49-F238E27FC236}">
                <a16:creationId xmlns:a16="http://schemas.microsoft.com/office/drawing/2014/main" id="{7D4365F8-54A0-15C3-EC02-BBA416E2A54C}"/>
              </a:ext>
            </a:extLst>
          </p:cNvPr>
          <p:cNvSpPr txBox="1">
            <a:spLocks/>
          </p:cNvSpPr>
          <p:nvPr/>
        </p:nvSpPr>
        <p:spPr>
          <a:xfrm>
            <a:off x="11430000" y="6578599"/>
            <a:ext cx="4318000" cy="368300"/>
          </a:xfrm>
          <a:prstGeom prst="rect">
            <a:avLst/>
          </a:prstGeom>
          <a:noFill/>
        </p:spPr>
        <p:txBody>
          <a:bodyPr vert="horz" wrap="square" lIns="0" tIns="0" rIns="0" bIns="0" rtlCol="0">
            <a:noAutofit/>
          </a:bodyPr>
          <a:lstStyle/>
          <a:p>
            <a:r>
              <a:rPr lang="en-GB" sz="1900" b="1">
                <a:solidFill>
                  <a:srgbClr val="7544D3"/>
                </a:solidFill>
                <a:latin typeface="Aptos" panose="020B0004020202020204" pitchFamily="34" charset="0"/>
              </a:rPr>
              <a:t>Commerce is part of Phase 2</a:t>
            </a:r>
            <a:endParaRPr lang="sv-SE" sz="1900" b="1">
              <a:solidFill>
                <a:srgbClr val="7544D3"/>
              </a:solidFill>
              <a:latin typeface="Aptos" panose="020B0004020202020204" pitchFamily="34" charset="0"/>
            </a:endParaRPr>
          </a:p>
        </p:txBody>
      </p:sp>
      <p:sp>
        <p:nvSpPr>
          <p:cNvPr id="18" name="TextBox 17">
            <a:extLst>
              <a:ext uri="{FF2B5EF4-FFF2-40B4-BE49-F238E27FC236}">
                <a16:creationId xmlns:a16="http://schemas.microsoft.com/office/drawing/2014/main" id="{DAA67102-B17C-3B91-A139-1C51D20787AB}"/>
              </a:ext>
            </a:extLst>
          </p:cNvPr>
          <p:cNvSpPr txBox="1">
            <a:spLocks/>
          </p:cNvSpPr>
          <p:nvPr/>
        </p:nvSpPr>
        <p:spPr>
          <a:xfrm>
            <a:off x="11430000" y="6984999"/>
            <a:ext cx="4318000" cy="1028700"/>
          </a:xfrm>
          <a:prstGeom prst="rect">
            <a:avLst/>
          </a:prstGeom>
          <a:noFill/>
        </p:spPr>
        <p:txBody>
          <a:bodyPr vert="horz" wrap="square" lIns="0" tIns="0" rIns="0" bIns="0" rtlCol="0">
            <a:noAutofit/>
          </a:bodyPr>
          <a:lstStyle/>
          <a:p>
            <a:r>
              <a:rPr lang="en-GB" sz="1750">
                <a:solidFill>
                  <a:srgbClr val="625E70"/>
                </a:solidFill>
                <a:latin typeface="Aptos" panose="020B0004020202020204" pitchFamily="34" charset="0"/>
              </a:rPr>
              <a:t>Paid distribution is required. Pricing, provider, subscription and redistribution/fork policies still need definition.</a:t>
            </a:r>
            <a:endParaRPr lang="sv-SE" sz="1750">
              <a:solidFill>
                <a:srgbClr val="625E70"/>
              </a:solidFill>
              <a:latin typeface="Aptos" panose="020B0004020202020204" pitchFamily="34" charset="0"/>
            </a:endParaRPr>
          </a:p>
        </p:txBody>
      </p:sp>
      <p:sp>
        <p:nvSpPr>
          <p:cNvPr id="19" name="TextBox 18">
            <a:extLst>
              <a:ext uri="{FF2B5EF4-FFF2-40B4-BE49-F238E27FC236}">
                <a16:creationId xmlns:a16="http://schemas.microsoft.com/office/drawing/2014/main" id="{9CA4F962-FAD5-DAA7-F1A1-BE40CC239793}"/>
              </a:ext>
            </a:extLst>
          </p:cNvPr>
          <p:cNvSpPr txBox="1">
            <a:spLocks/>
          </p:cNvSpPr>
          <p:nvPr/>
        </p:nvSpPr>
        <p:spPr>
          <a:xfrm>
            <a:off x="533400" y="8077200"/>
            <a:ext cx="10541000" cy="266700"/>
          </a:xfrm>
          <a:prstGeom prst="rect">
            <a:avLst/>
          </a:prstGeom>
          <a:noFill/>
        </p:spPr>
        <p:txBody>
          <a:bodyPr vert="horz" wrap="square" lIns="0" tIns="0" rIns="0" bIns="0" rtlCol="0">
            <a:noAutofit/>
          </a:bodyPr>
          <a:lstStyle/>
          <a:p>
            <a:r>
              <a:rPr lang="en-GB" sz="1100">
                <a:solidFill>
                  <a:srgbClr val="625E70"/>
                </a:solidFill>
                <a:latin typeface="Aptos" panose="020B0004020202020204" pitchFamily="34" charset="0"/>
              </a:rPr>
              <a:t>Captured from the demo frontend; explanatory text is editable.</a:t>
            </a:r>
            <a:endParaRPr lang="sv-SE" sz="1100">
              <a:solidFill>
                <a:srgbClr val="625E70"/>
              </a:solidFill>
              <a:latin typeface="Aptos" panose="020B0004020202020204" pitchFamily="34" charset="0"/>
            </a:endParaRPr>
          </a:p>
        </p:txBody>
      </p:sp>
    </p:spTree>
    <p:extLst>
      <p:ext uri="{BB962C8B-B14F-4D97-AF65-F5344CB8AC3E}">
        <p14:creationId xmlns:p14="http://schemas.microsoft.com/office/powerpoint/2010/main" val="3055156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FDEBF-BE6B-CB43-B621-2BCA8DD2BD36}"/>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9F09E069-421D-A303-0812-005F8AE844AA}"/>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A7430421-9384-0996-468D-9E1ACF45D842}"/>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18 / 23</a:t>
            </a:r>
          </a:p>
        </p:txBody>
      </p:sp>
      <p:sp>
        <p:nvSpPr>
          <p:cNvPr id="5" name="Rectangle 4">
            <a:extLst>
              <a:ext uri="{FF2B5EF4-FFF2-40B4-BE49-F238E27FC236}">
                <a16:creationId xmlns:a16="http://schemas.microsoft.com/office/drawing/2014/main" id="{421B62F3-B8A1-4439-2640-FCF7B1B042E8}"/>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42C67830-2E5D-59FE-2C83-E37390998159}"/>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The Phase 1 demo library is a lifecycle-test fixture, not the production publishing service.</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801BD2E1-E9E2-E243-3E0D-F9F54277E087}"/>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Delivery: local value first, hosted services second</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160DF7E4-7A68-D0C8-A19F-150573B5A6F9}"/>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The phase boundary is agreed. The public service is not a prerequisite for local use.</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A5636862-B583-CED8-0314-5506C0AAC1F0}"/>
              </a:ext>
            </a:extLst>
          </p:cNvPr>
          <p:cNvSpPr/>
          <p:nvPr/>
        </p:nvSpPr>
        <p:spPr>
          <a:xfrm>
            <a:off x="508000" y="2882900"/>
            <a:ext cx="74676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44657166-864E-F59D-C0D5-37B3CD499526}"/>
              </a:ext>
            </a:extLst>
          </p:cNvPr>
          <p:cNvSpPr txBox="1">
            <a:spLocks/>
          </p:cNvSpPr>
          <p:nvPr/>
        </p:nvSpPr>
        <p:spPr>
          <a:xfrm>
            <a:off x="787400" y="3149599"/>
            <a:ext cx="69088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a:t>
            </a:r>
          </a:p>
        </p:txBody>
      </p:sp>
      <p:sp>
        <p:nvSpPr>
          <p:cNvPr id="11" name="TextBox 10">
            <a:extLst>
              <a:ext uri="{FF2B5EF4-FFF2-40B4-BE49-F238E27FC236}">
                <a16:creationId xmlns:a16="http://schemas.microsoft.com/office/drawing/2014/main" id="{C0CBCF39-658A-8ED2-8CDF-AF67664494F8}"/>
              </a:ext>
            </a:extLst>
          </p:cNvPr>
          <p:cNvSpPr txBox="1">
            <a:spLocks/>
          </p:cNvSpPr>
          <p:nvPr/>
        </p:nvSpPr>
        <p:spPr>
          <a:xfrm>
            <a:off x="787400" y="3644899"/>
            <a:ext cx="69088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M1 → M2 → M3</a:t>
            </a:r>
          </a:p>
        </p:txBody>
      </p:sp>
      <p:sp>
        <p:nvSpPr>
          <p:cNvPr id="12" name="TextBox 11">
            <a:extLst>
              <a:ext uri="{FF2B5EF4-FFF2-40B4-BE49-F238E27FC236}">
                <a16:creationId xmlns:a16="http://schemas.microsoft.com/office/drawing/2014/main" id="{0260E8B8-6327-A35F-8DC8-A597A2AA5C2E}"/>
              </a:ext>
            </a:extLst>
          </p:cNvPr>
          <p:cNvSpPr txBox="1">
            <a:spLocks/>
          </p:cNvSpPr>
          <p:nvPr/>
        </p:nvSpPr>
        <p:spPr>
          <a:xfrm>
            <a:off x="787400" y="4902199"/>
            <a:ext cx="6908800" cy="2654300"/>
          </a:xfrm>
          <a:prstGeom prst="rect">
            <a:avLst/>
          </a:prstGeom>
          <a:noFill/>
        </p:spPr>
        <p:txBody>
          <a:bodyPr vert="horz" wrap="square" lIns="0" tIns="0" rIns="0" bIns="0" rtlCol="0">
            <a:noAutofit/>
          </a:bodyPr>
          <a:lstStyle/>
          <a:p>
            <a:r>
              <a:rPr lang="en-GB" sz="2300">
                <a:solidFill>
                  <a:srgbClr val="625E70"/>
                </a:solidFill>
                <a:latin typeface="Aptos" panose="020B0004020202020204" pitchFamily="34" charset="0"/>
              </a:rPr>
              <a:t>Lifecycle proof
Default-capability parity
Independent local authoring proof</a:t>
            </a:r>
            <a:endParaRPr lang="sv-SE" sz="2300">
              <a:solidFill>
                <a:srgbClr val="625E70"/>
              </a:solidFill>
              <a:latin typeface="Aptos" panose="020B0004020202020204" pitchFamily="34" charset="0"/>
            </a:endParaRPr>
          </a:p>
        </p:txBody>
      </p:sp>
      <p:sp>
        <p:nvSpPr>
          <p:cNvPr id="13" name="Rectangle 12">
            <a:extLst>
              <a:ext uri="{FF2B5EF4-FFF2-40B4-BE49-F238E27FC236}">
                <a16:creationId xmlns:a16="http://schemas.microsoft.com/office/drawing/2014/main" id="{4206436B-22F1-7276-B990-510F94980149}"/>
              </a:ext>
            </a:extLst>
          </p:cNvPr>
          <p:cNvSpPr/>
          <p:nvPr/>
        </p:nvSpPr>
        <p:spPr>
          <a:xfrm>
            <a:off x="8280400" y="2882900"/>
            <a:ext cx="74676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Box 13">
            <a:extLst>
              <a:ext uri="{FF2B5EF4-FFF2-40B4-BE49-F238E27FC236}">
                <a16:creationId xmlns:a16="http://schemas.microsoft.com/office/drawing/2014/main" id="{89957876-C2B1-FAD8-AC5C-4493FF84CE47}"/>
              </a:ext>
            </a:extLst>
          </p:cNvPr>
          <p:cNvSpPr txBox="1">
            <a:spLocks/>
          </p:cNvSpPr>
          <p:nvPr/>
        </p:nvSpPr>
        <p:spPr>
          <a:xfrm>
            <a:off x="8559800" y="3149599"/>
            <a:ext cx="69088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2</a:t>
            </a:r>
          </a:p>
        </p:txBody>
      </p:sp>
      <p:sp>
        <p:nvSpPr>
          <p:cNvPr id="15" name="TextBox 14">
            <a:extLst>
              <a:ext uri="{FF2B5EF4-FFF2-40B4-BE49-F238E27FC236}">
                <a16:creationId xmlns:a16="http://schemas.microsoft.com/office/drawing/2014/main" id="{25288099-69CC-4CB1-9496-BD7C89B0C9CB}"/>
              </a:ext>
            </a:extLst>
          </p:cNvPr>
          <p:cNvSpPr txBox="1">
            <a:spLocks/>
          </p:cNvSpPr>
          <p:nvPr/>
        </p:nvSpPr>
        <p:spPr>
          <a:xfrm>
            <a:off x="8559800" y="3644899"/>
            <a:ext cx="69088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M4</a:t>
            </a:r>
          </a:p>
        </p:txBody>
      </p:sp>
      <p:sp>
        <p:nvSpPr>
          <p:cNvPr id="16" name="TextBox 15">
            <a:extLst>
              <a:ext uri="{FF2B5EF4-FFF2-40B4-BE49-F238E27FC236}">
                <a16:creationId xmlns:a16="http://schemas.microsoft.com/office/drawing/2014/main" id="{887E482A-DD97-6401-EEED-6D20F934C8CE}"/>
              </a:ext>
            </a:extLst>
          </p:cNvPr>
          <p:cNvSpPr txBox="1">
            <a:spLocks/>
          </p:cNvSpPr>
          <p:nvPr/>
        </p:nvSpPr>
        <p:spPr>
          <a:xfrm>
            <a:off x="8559800" y="4902199"/>
            <a:ext cx="6908800" cy="2654300"/>
          </a:xfrm>
          <a:prstGeom prst="rect">
            <a:avLst/>
          </a:prstGeom>
          <a:noFill/>
        </p:spPr>
        <p:txBody>
          <a:bodyPr vert="horz" wrap="square" lIns="0" tIns="0" rIns="0" bIns="0" rtlCol="0">
            <a:noAutofit/>
          </a:bodyPr>
          <a:lstStyle/>
          <a:p>
            <a:r>
              <a:rPr lang="en-GB" sz="2300">
                <a:solidFill>
                  <a:srgbClr val="625E70"/>
                </a:solidFill>
                <a:latin typeface="Aptos" panose="020B0004020202020204" pitchFamily="34" charset="0"/>
              </a:rPr>
              <a:t>Hosted catalog and publishing
Source inspection and reputation
Moderation and required commerce</a:t>
            </a:r>
            <a:endParaRPr lang="sv-SE" sz="2300">
              <a:solidFill>
                <a:srgbClr val="625E70"/>
              </a:solidFill>
              <a:latin typeface="Aptos" panose="020B0004020202020204" pitchFamily="34" charset="0"/>
            </a:endParaRPr>
          </a:p>
        </p:txBody>
      </p:sp>
    </p:spTree>
    <p:extLst>
      <p:ext uri="{BB962C8B-B14F-4D97-AF65-F5344CB8AC3E}">
        <p14:creationId xmlns:p14="http://schemas.microsoft.com/office/powerpoint/2010/main" val="310226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3AD629-F949-01BA-79C2-CDB44D7C576D}"/>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05C3A415-5136-EDE4-4441-CCF5994582F6}"/>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1554806F-AF78-1CD4-B709-9744F10C5AFE}"/>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19 / 23</a:t>
            </a:r>
          </a:p>
        </p:txBody>
      </p:sp>
      <p:sp>
        <p:nvSpPr>
          <p:cNvPr id="5" name="Rectangle 4">
            <a:extLst>
              <a:ext uri="{FF2B5EF4-FFF2-40B4-BE49-F238E27FC236}">
                <a16:creationId xmlns:a16="http://schemas.microsoft.com/office/drawing/2014/main" id="{62190120-D1D1-15B1-B828-A7E0F2132407}"/>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3C843B72-706C-086B-A1C5-B6E96BC4FB40}"/>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No start date, staffing commitment or budget is implied. Re-estimate after M1.</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1114CD0C-A16E-881D-8030-7DE1B8E1C962}"/>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How to read the development estimates</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3C79EAB9-E04B-5EC1-92E4-FEF50F4ED177}"/>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Bottom-up planning ranges based on scope; low confidence until the first lifecycle slice works.</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07DDAB30-2BB3-2567-6E74-DBBA03D7E75A}"/>
              </a:ext>
            </a:extLst>
          </p:cNvPr>
          <p:cNvSpPr/>
          <p:nvPr/>
        </p:nvSpPr>
        <p:spPr>
          <a:xfrm>
            <a:off x="508000" y="2743200"/>
            <a:ext cx="7429500" cy="25273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56C696DB-DCB4-0527-00FE-7ACEE7511A77}"/>
              </a:ext>
            </a:extLst>
          </p:cNvPr>
          <p:cNvSpPr txBox="1">
            <a:spLocks/>
          </p:cNvSpPr>
          <p:nvPr/>
        </p:nvSpPr>
        <p:spPr>
          <a:xfrm>
            <a:off x="787400" y="3009899"/>
            <a:ext cx="68707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CAPACITY</a:t>
            </a:r>
          </a:p>
        </p:txBody>
      </p:sp>
      <p:sp>
        <p:nvSpPr>
          <p:cNvPr id="11" name="TextBox 10">
            <a:extLst>
              <a:ext uri="{FF2B5EF4-FFF2-40B4-BE49-F238E27FC236}">
                <a16:creationId xmlns:a16="http://schemas.microsoft.com/office/drawing/2014/main" id="{1D2EFCB9-82A5-1AFD-5B5C-A61353625C6C}"/>
              </a:ext>
            </a:extLst>
          </p:cNvPr>
          <p:cNvSpPr txBox="1">
            <a:spLocks/>
          </p:cNvSpPr>
          <p:nvPr/>
        </p:nvSpPr>
        <p:spPr>
          <a:xfrm>
            <a:off x="787400" y="3505199"/>
            <a:ext cx="6870700" cy="533400"/>
          </a:xfrm>
          <a:prstGeom prst="rect">
            <a:avLst/>
          </a:prstGeom>
          <a:noFill/>
        </p:spPr>
        <p:txBody>
          <a:bodyPr vert="horz" wrap="square" lIns="0" tIns="0" rIns="0" bIns="0" rtlCol="0">
            <a:noAutofit/>
          </a:bodyPr>
          <a:lstStyle/>
          <a:p>
            <a:r>
              <a:rPr lang="sv-SE" sz="2400" b="1">
                <a:solidFill>
                  <a:srgbClr val="201A35"/>
                </a:solidFill>
                <a:latin typeface="Aptos" panose="020B0004020202020204" pitchFamily="34" charset="0"/>
              </a:rPr>
              <a:t>Two full-time engineers</a:t>
            </a:r>
          </a:p>
        </p:txBody>
      </p:sp>
      <p:sp>
        <p:nvSpPr>
          <p:cNvPr id="12" name="TextBox 11">
            <a:extLst>
              <a:ext uri="{FF2B5EF4-FFF2-40B4-BE49-F238E27FC236}">
                <a16:creationId xmlns:a16="http://schemas.microsoft.com/office/drawing/2014/main" id="{0930583E-B23F-3A4E-1AE5-2031C86E87F4}"/>
              </a:ext>
            </a:extLst>
          </p:cNvPr>
          <p:cNvSpPr txBox="1">
            <a:spLocks/>
          </p:cNvSpPr>
          <p:nvPr/>
        </p:nvSpPr>
        <p:spPr>
          <a:xfrm>
            <a:off x="787400" y="4152899"/>
            <a:ext cx="6870700" cy="8382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One backend/runtime/hardware focus; one frontend/tools focus. Part-time QA/hardware and infrastructure support available.</a:t>
            </a:r>
            <a:endParaRPr lang="sv-SE" sz="1900">
              <a:solidFill>
                <a:srgbClr val="625E70"/>
              </a:solidFill>
              <a:latin typeface="Aptos" panose="020B0004020202020204" pitchFamily="34" charset="0"/>
            </a:endParaRPr>
          </a:p>
        </p:txBody>
      </p:sp>
      <p:sp>
        <p:nvSpPr>
          <p:cNvPr id="13" name="Rectangle 12">
            <a:extLst>
              <a:ext uri="{FF2B5EF4-FFF2-40B4-BE49-F238E27FC236}">
                <a16:creationId xmlns:a16="http://schemas.microsoft.com/office/drawing/2014/main" id="{E6C766B6-E656-F848-6C12-F11098F7EF68}"/>
              </a:ext>
            </a:extLst>
          </p:cNvPr>
          <p:cNvSpPr/>
          <p:nvPr/>
        </p:nvSpPr>
        <p:spPr>
          <a:xfrm>
            <a:off x="8318500" y="2743200"/>
            <a:ext cx="7429500" cy="25273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Box 13">
            <a:extLst>
              <a:ext uri="{FF2B5EF4-FFF2-40B4-BE49-F238E27FC236}">
                <a16:creationId xmlns:a16="http://schemas.microsoft.com/office/drawing/2014/main" id="{6A0CD88B-A4D0-C41E-4511-CE63EB039EDB}"/>
              </a:ext>
            </a:extLst>
          </p:cNvPr>
          <p:cNvSpPr txBox="1">
            <a:spLocks/>
          </p:cNvSpPr>
          <p:nvPr/>
        </p:nvSpPr>
        <p:spPr>
          <a:xfrm>
            <a:off x="8597900" y="3009899"/>
            <a:ext cx="68707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MEASUREMENT</a:t>
            </a:r>
          </a:p>
        </p:txBody>
      </p:sp>
      <p:sp>
        <p:nvSpPr>
          <p:cNvPr id="15" name="TextBox 14">
            <a:extLst>
              <a:ext uri="{FF2B5EF4-FFF2-40B4-BE49-F238E27FC236}">
                <a16:creationId xmlns:a16="http://schemas.microsoft.com/office/drawing/2014/main" id="{A29B64E0-B391-43EC-FA10-0B1A28A873F2}"/>
              </a:ext>
            </a:extLst>
          </p:cNvPr>
          <p:cNvSpPr txBox="1">
            <a:spLocks/>
          </p:cNvSpPr>
          <p:nvPr/>
        </p:nvSpPr>
        <p:spPr>
          <a:xfrm>
            <a:off x="8597900" y="3505199"/>
            <a:ext cx="6870700" cy="533400"/>
          </a:xfrm>
          <a:prstGeom prst="rect">
            <a:avLst/>
          </a:prstGeom>
          <a:noFill/>
        </p:spPr>
        <p:txBody>
          <a:bodyPr vert="horz" wrap="square" lIns="0" tIns="0" rIns="0" bIns="0" rtlCol="0">
            <a:noAutofit/>
          </a:bodyPr>
          <a:lstStyle/>
          <a:p>
            <a:r>
              <a:rPr lang="sv-SE" sz="2400" b="1">
                <a:solidFill>
                  <a:srgbClr val="201A35"/>
                </a:solidFill>
                <a:latin typeface="Aptos" panose="020B0004020202020204" pitchFamily="34" charset="0"/>
              </a:rPr>
              <a:t>Effort, then elapsed time</a:t>
            </a:r>
          </a:p>
        </p:txBody>
      </p:sp>
      <p:sp>
        <p:nvSpPr>
          <p:cNvPr id="16" name="TextBox 15">
            <a:extLst>
              <a:ext uri="{FF2B5EF4-FFF2-40B4-BE49-F238E27FC236}">
                <a16:creationId xmlns:a16="http://schemas.microsoft.com/office/drawing/2014/main" id="{B4EC5609-0D84-DC7E-F343-6B3EB2812B78}"/>
              </a:ext>
            </a:extLst>
          </p:cNvPr>
          <p:cNvSpPr txBox="1">
            <a:spLocks/>
          </p:cNvSpPr>
          <p:nvPr/>
        </p:nvSpPr>
        <p:spPr>
          <a:xfrm>
            <a:off x="8597900" y="4152899"/>
            <a:ext cx="6870700" cy="838200"/>
          </a:xfrm>
          <a:prstGeom prst="rect">
            <a:avLst/>
          </a:prstGeom>
          <a:noFill/>
        </p:spPr>
        <p:txBody>
          <a:bodyPr vert="horz" wrap="square" lIns="0" tIns="0" rIns="0" bIns="0" rtlCol="0">
            <a:noAutofit/>
          </a:bodyPr>
          <a:lstStyle/>
          <a:p>
            <a:r>
              <a:rPr lang="en-GB" sz="1850">
                <a:solidFill>
                  <a:srgbClr val="625E70"/>
                </a:solidFill>
                <a:latin typeface="Aptos" panose="020B0004020202020204" pitchFamily="34" charset="0"/>
              </a:rPr>
              <a:t>One engineer-week is five focused workdays. Raw elapsed weeks = effort ÷ 2. Scheduling envelopes add about 20% for interruptions/integration.</a:t>
            </a:r>
            <a:endParaRPr lang="sv-SE" sz="1850">
              <a:solidFill>
                <a:srgbClr val="625E70"/>
              </a:solidFill>
              <a:latin typeface="Aptos" panose="020B0004020202020204" pitchFamily="34" charset="0"/>
            </a:endParaRPr>
          </a:p>
        </p:txBody>
      </p:sp>
      <p:sp>
        <p:nvSpPr>
          <p:cNvPr id="17" name="Rectangle 16">
            <a:extLst>
              <a:ext uri="{FF2B5EF4-FFF2-40B4-BE49-F238E27FC236}">
                <a16:creationId xmlns:a16="http://schemas.microsoft.com/office/drawing/2014/main" id="{A5CFDF73-EA3B-E33B-E7B4-A198DF18CE39}"/>
              </a:ext>
            </a:extLst>
          </p:cNvPr>
          <p:cNvSpPr/>
          <p:nvPr/>
        </p:nvSpPr>
        <p:spPr>
          <a:xfrm>
            <a:off x="508000" y="5562600"/>
            <a:ext cx="7429500" cy="25273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TextBox 17">
            <a:extLst>
              <a:ext uri="{FF2B5EF4-FFF2-40B4-BE49-F238E27FC236}">
                <a16:creationId xmlns:a16="http://schemas.microsoft.com/office/drawing/2014/main" id="{85B2926F-ADA7-D4A6-3360-6E66188AD646}"/>
              </a:ext>
            </a:extLst>
          </p:cNvPr>
          <p:cNvSpPr txBox="1">
            <a:spLocks/>
          </p:cNvSpPr>
          <p:nvPr/>
        </p:nvSpPr>
        <p:spPr>
          <a:xfrm>
            <a:off x="787400" y="5829299"/>
            <a:ext cx="68707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INCLUDED</a:t>
            </a:r>
          </a:p>
        </p:txBody>
      </p:sp>
      <p:sp>
        <p:nvSpPr>
          <p:cNvPr id="19" name="TextBox 18">
            <a:extLst>
              <a:ext uri="{FF2B5EF4-FFF2-40B4-BE49-F238E27FC236}">
                <a16:creationId xmlns:a16="http://schemas.microsoft.com/office/drawing/2014/main" id="{6804B652-7D59-7C08-3DA6-8AC55FC777BE}"/>
              </a:ext>
            </a:extLst>
          </p:cNvPr>
          <p:cNvSpPr txBox="1">
            <a:spLocks/>
          </p:cNvSpPr>
          <p:nvPr/>
        </p:nvSpPr>
        <p:spPr>
          <a:xfrm>
            <a:off x="787400" y="6324599"/>
            <a:ext cx="6870700" cy="533400"/>
          </a:xfrm>
          <a:prstGeom prst="rect">
            <a:avLst/>
          </a:prstGeom>
          <a:noFill/>
        </p:spPr>
        <p:txBody>
          <a:bodyPr vert="horz" wrap="square" lIns="0" tIns="0" rIns="0" bIns="0" rtlCol="0">
            <a:noAutofit/>
          </a:bodyPr>
          <a:lstStyle/>
          <a:p>
            <a:r>
              <a:rPr lang="sv-SE" sz="2400" b="1">
                <a:solidFill>
                  <a:srgbClr val="201A35"/>
                </a:solidFill>
                <a:latin typeface="Aptos" panose="020B0004020202020204" pitchFamily="34" charset="0"/>
              </a:rPr>
              <a:t>Delivery, not just code</a:t>
            </a:r>
          </a:p>
        </p:txBody>
      </p:sp>
      <p:sp>
        <p:nvSpPr>
          <p:cNvPr id="20" name="TextBox 19">
            <a:extLst>
              <a:ext uri="{FF2B5EF4-FFF2-40B4-BE49-F238E27FC236}">
                <a16:creationId xmlns:a16="http://schemas.microsoft.com/office/drawing/2014/main" id="{6727082F-67F0-0B15-A470-7E321A2F6E43}"/>
              </a:ext>
            </a:extLst>
          </p:cNvPr>
          <p:cNvSpPr txBox="1">
            <a:spLocks/>
          </p:cNvSpPr>
          <p:nvPr/>
        </p:nvSpPr>
        <p:spPr>
          <a:xfrm>
            <a:off x="787400" y="6972299"/>
            <a:ext cx="6870700" cy="838200"/>
          </a:xfrm>
          <a:prstGeom prst="rect">
            <a:avLst/>
          </a:prstGeom>
          <a:noFill/>
        </p:spPr>
        <p:txBody>
          <a:bodyPr vert="horz" wrap="square" lIns="0" tIns="0" rIns="0" bIns="0" rtlCol="0">
            <a:noAutofit/>
          </a:bodyPr>
          <a:lstStyle/>
          <a:p>
            <a:r>
              <a:rPr lang="en-GB" sz="1850">
                <a:solidFill>
                  <a:srgbClr val="625E70"/>
                </a:solidFill>
                <a:latin typeface="Aptos" panose="020B0004020202020204" pitchFamily="34" charset="0"/>
              </a:rPr>
              <a:t>Engineering review, automated tests, docs, integration and representative Pi acceptance are included in effort. The current frontend demo is reused.</a:t>
            </a:r>
            <a:endParaRPr lang="sv-SE" sz="1850">
              <a:solidFill>
                <a:srgbClr val="625E70"/>
              </a:solidFill>
              <a:latin typeface="Aptos" panose="020B0004020202020204" pitchFamily="34" charset="0"/>
            </a:endParaRPr>
          </a:p>
        </p:txBody>
      </p:sp>
      <p:sp>
        <p:nvSpPr>
          <p:cNvPr id="21" name="Rectangle 20">
            <a:extLst>
              <a:ext uri="{FF2B5EF4-FFF2-40B4-BE49-F238E27FC236}">
                <a16:creationId xmlns:a16="http://schemas.microsoft.com/office/drawing/2014/main" id="{BF548279-5F0C-C359-252F-7792BD681EC2}"/>
              </a:ext>
            </a:extLst>
          </p:cNvPr>
          <p:cNvSpPr/>
          <p:nvPr/>
        </p:nvSpPr>
        <p:spPr>
          <a:xfrm>
            <a:off x="8318500" y="5562600"/>
            <a:ext cx="7429500" cy="25273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TextBox 21">
            <a:extLst>
              <a:ext uri="{FF2B5EF4-FFF2-40B4-BE49-F238E27FC236}">
                <a16:creationId xmlns:a16="http://schemas.microsoft.com/office/drawing/2014/main" id="{F2202DDB-3A3D-0940-5209-7FCB2C61B3A3}"/>
              </a:ext>
            </a:extLst>
          </p:cNvPr>
          <p:cNvSpPr txBox="1">
            <a:spLocks/>
          </p:cNvSpPr>
          <p:nvPr/>
        </p:nvSpPr>
        <p:spPr>
          <a:xfrm>
            <a:off x="8597900" y="5829299"/>
            <a:ext cx="68707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EXCLUDED</a:t>
            </a:r>
          </a:p>
        </p:txBody>
      </p:sp>
      <p:sp>
        <p:nvSpPr>
          <p:cNvPr id="23" name="TextBox 22">
            <a:extLst>
              <a:ext uri="{FF2B5EF4-FFF2-40B4-BE49-F238E27FC236}">
                <a16:creationId xmlns:a16="http://schemas.microsoft.com/office/drawing/2014/main" id="{09D7D180-A88A-9A93-5A08-C90AF5E29596}"/>
              </a:ext>
            </a:extLst>
          </p:cNvPr>
          <p:cNvSpPr txBox="1">
            <a:spLocks/>
          </p:cNvSpPr>
          <p:nvPr/>
        </p:nvSpPr>
        <p:spPr>
          <a:xfrm>
            <a:off x="8597900" y="6324599"/>
            <a:ext cx="6870700" cy="533400"/>
          </a:xfrm>
          <a:prstGeom prst="rect">
            <a:avLst/>
          </a:prstGeom>
          <a:noFill/>
        </p:spPr>
        <p:txBody>
          <a:bodyPr vert="horz" wrap="square" lIns="0" tIns="0" rIns="0" bIns="0" rtlCol="0">
            <a:noAutofit/>
          </a:bodyPr>
          <a:lstStyle/>
          <a:p>
            <a:r>
              <a:rPr lang="sv-SE" sz="2400" b="1">
                <a:solidFill>
                  <a:srgbClr val="201A35"/>
                </a:solidFill>
                <a:latin typeface="Aptos" panose="020B0004020202020204" pitchFamily="34" charset="0"/>
              </a:rPr>
              <a:t>Separate budgets and scope</a:t>
            </a:r>
          </a:p>
        </p:txBody>
      </p:sp>
      <p:sp>
        <p:nvSpPr>
          <p:cNvPr id="24" name="TextBox 23">
            <a:extLst>
              <a:ext uri="{FF2B5EF4-FFF2-40B4-BE49-F238E27FC236}">
                <a16:creationId xmlns:a16="http://schemas.microsoft.com/office/drawing/2014/main" id="{5FB461E3-9800-52B6-B23E-9B6FDEB8ADCF}"/>
              </a:ext>
            </a:extLst>
          </p:cNvPr>
          <p:cNvSpPr txBox="1">
            <a:spLocks/>
          </p:cNvSpPr>
          <p:nvPr/>
        </p:nvSpPr>
        <p:spPr>
          <a:xfrm>
            <a:off x="8597900" y="6972299"/>
            <a:ext cx="6870700" cy="838200"/>
          </a:xfrm>
          <a:prstGeom prst="rect">
            <a:avLst/>
          </a:prstGeom>
          <a:noFill/>
        </p:spPr>
        <p:txBody>
          <a:bodyPr vert="horz" wrap="square" lIns="0" tIns="0" rIns="0" bIns="0" rtlCol="0">
            <a:noAutofit/>
          </a:bodyPr>
          <a:lstStyle/>
          <a:p>
            <a:r>
              <a:rPr lang="en-GB" sz="1850">
                <a:solidFill>
                  <a:srgbClr val="625E70"/>
                </a:solidFill>
                <a:latin typeface="Aptos" panose="020B0004020202020204" pitchFamily="34" charset="0"/>
              </a:rPr>
              <a:t>No fully featured IDE, in-app AI harness, module CLI, arbitrary custom UI, universal hardware qualification or managed automatic rollback. Ongoing library operations are separate.</a:t>
            </a:r>
            <a:endParaRPr lang="sv-SE" sz="1850">
              <a:solidFill>
                <a:srgbClr val="625E70"/>
              </a:solidFill>
              <a:latin typeface="Aptos" panose="020B0004020202020204" pitchFamily="34" charset="0"/>
            </a:endParaRPr>
          </a:p>
        </p:txBody>
      </p:sp>
    </p:spTree>
    <p:extLst>
      <p:ext uri="{BB962C8B-B14F-4D97-AF65-F5344CB8AC3E}">
        <p14:creationId xmlns:p14="http://schemas.microsoft.com/office/powerpoint/2010/main" val="915541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B943A-A51F-C66C-D92F-119F6BE55F7B}"/>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F77C69AA-7240-D553-EE73-04B8DD4C2665}"/>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C1A768E2-C178-82B2-7E87-7DC450B97374}"/>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20 / 23</a:t>
            </a:r>
          </a:p>
        </p:txBody>
      </p:sp>
      <p:sp>
        <p:nvSpPr>
          <p:cNvPr id="5" name="Rectangle 4">
            <a:extLst>
              <a:ext uri="{FF2B5EF4-FFF2-40B4-BE49-F238E27FC236}">
                <a16:creationId xmlns:a16="http://schemas.microsoft.com/office/drawing/2014/main" id="{934D204E-31F2-0BC4-6A27-AC04D52CA0FC}"/>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74A5A294-A690-334D-6D9D-FD8B2612EDFA}"/>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Phase 1 total: 40–62 engineer-weeks · 20–31 raw weeks · about 24–38 scheduled weeks.</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F9AB2304-7BEE-5814-770C-F7E9C9C1546B}"/>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sv-SE" sz="3800" b="1">
                <a:solidFill>
                  <a:srgbClr val="201A35"/>
                </a:solidFill>
                <a:latin typeface="Aptos" panose="020B0004020202020204" pitchFamily="34" charset="0"/>
              </a:rPr>
              <a:t>Phase 1 estimates: prove local extensibility</a:t>
            </a:r>
          </a:p>
        </p:txBody>
      </p:sp>
      <p:sp>
        <p:nvSpPr>
          <p:cNvPr id="8" name="TextBox 7">
            <a:extLst>
              <a:ext uri="{FF2B5EF4-FFF2-40B4-BE49-F238E27FC236}">
                <a16:creationId xmlns:a16="http://schemas.microsoft.com/office/drawing/2014/main" id="{83EDB34F-E862-E8A5-3BD6-50287D68FDA9}"/>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Engineering effort includes testing and integration; elapsed ranges assume two dedicated engineers.</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3717E536-DE9D-E2F7-D55A-1F155F0CA742}"/>
              </a:ext>
            </a:extLst>
          </p:cNvPr>
          <p:cNvSpPr/>
          <p:nvPr/>
        </p:nvSpPr>
        <p:spPr>
          <a:xfrm>
            <a:off x="508000" y="2692400"/>
            <a:ext cx="15240000" cy="660400"/>
          </a:xfrm>
          <a:prstGeom prst="rect">
            <a:avLst/>
          </a:prstGeom>
          <a:solidFill>
            <a:srgbClr val="201A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129E0032-BA71-1559-15F2-772A3163326E}"/>
              </a:ext>
            </a:extLst>
          </p:cNvPr>
          <p:cNvSpPr txBox="1">
            <a:spLocks/>
          </p:cNvSpPr>
          <p:nvPr/>
        </p:nvSpPr>
        <p:spPr>
          <a:xfrm>
            <a:off x="685800" y="2870199"/>
            <a:ext cx="45720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Milestone / enabling work</a:t>
            </a:r>
          </a:p>
        </p:txBody>
      </p:sp>
      <p:sp>
        <p:nvSpPr>
          <p:cNvPr id="11" name="TextBox 10">
            <a:extLst>
              <a:ext uri="{FF2B5EF4-FFF2-40B4-BE49-F238E27FC236}">
                <a16:creationId xmlns:a16="http://schemas.microsoft.com/office/drawing/2014/main" id="{09839345-02B2-494B-939E-146970B84D1E}"/>
              </a:ext>
            </a:extLst>
          </p:cNvPr>
          <p:cNvSpPr txBox="1">
            <a:spLocks/>
          </p:cNvSpPr>
          <p:nvPr/>
        </p:nvSpPr>
        <p:spPr>
          <a:xfrm>
            <a:off x="5613400" y="2870199"/>
            <a:ext cx="17780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Engineer-weeks</a:t>
            </a:r>
          </a:p>
        </p:txBody>
      </p:sp>
      <p:sp>
        <p:nvSpPr>
          <p:cNvPr id="12" name="TextBox 11">
            <a:extLst>
              <a:ext uri="{FF2B5EF4-FFF2-40B4-BE49-F238E27FC236}">
                <a16:creationId xmlns:a16="http://schemas.microsoft.com/office/drawing/2014/main" id="{65AD9050-680D-F1C2-68D6-031F220D4D8D}"/>
              </a:ext>
            </a:extLst>
          </p:cNvPr>
          <p:cNvSpPr txBox="1">
            <a:spLocks/>
          </p:cNvSpPr>
          <p:nvPr/>
        </p:nvSpPr>
        <p:spPr>
          <a:xfrm>
            <a:off x="7747000" y="2870199"/>
            <a:ext cx="17272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Raw elapsed</a:t>
            </a:r>
          </a:p>
        </p:txBody>
      </p:sp>
      <p:sp>
        <p:nvSpPr>
          <p:cNvPr id="13" name="TextBox 12">
            <a:extLst>
              <a:ext uri="{FF2B5EF4-FFF2-40B4-BE49-F238E27FC236}">
                <a16:creationId xmlns:a16="http://schemas.microsoft.com/office/drawing/2014/main" id="{C8EF6475-5EDB-F95D-46A6-0A44D214C7A0}"/>
              </a:ext>
            </a:extLst>
          </p:cNvPr>
          <p:cNvSpPr txBox="1">
            <a:spLocks/>
          </p:cNvSpPr>
          <p:nvPr/>
        </p:nvSpPr>
        <p:spPr>
          <a:xfrm>
            <a:off x="9829800" y="2870199"/>
            <a:ext cx="57404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Acceptance evidence</a:t>
            </a:r>
          </a:p>
        </p:txBody>
      </p:sp>
      <p:sp>
        <p:nvSpPr>
          <p:cNvPr id="14" name="Rectangle 13">
            <a:extLst>
              <a:ext uri="{FF2B5EF4-FFF2-40B4-BE49-F238E27FC236}">
                <a16:creationId xmlns:a16="http://schemas.microsoft.com/office/drawing/2014/main" id="{4970F20A-B42C-4D60-9195-4F46C0511AFA}"/>
              </a:ext>
            </a:extLst>
          </p:cNvPr>
          <p:cNvSpPr/>
          <p:nvPr/>
        </p:nvSpPr>
        <p:spPr>
          <a:xfrm>
            <a:off x="508000" y="3352800"/>
            <a:ext cx="15240000" cy="1079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TextBox 14">
            <a:extLst>
              <a:ext uri="{FF2B5EF4-FFF2-40B4-BE49-F238E27FC236}">
                <a16:creationId xmlns:a16="http://schemas.microsoft.com/office/drawing/2014/main" id="{69084029-8990-2CCF-CF8E-A5F8DB8463D3}"/>
              </a:ext>
            </a:extLst>
          </p:cNvPr>
          <p:cNvSpPr txBox="1">
            <a:spLocks/>
          </p:cNvSpPr>
          <p:nvPr/>
        </p:nvSpPr>
        <p:spPr>
          <a:xfrm>
            <a:off x="685800" y="35432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App-wide backup/restore prerequisite</a:t>
            </a:r>
          </a:p>
        </p:txBody>
      </p:sp>
      <p:sp>
        <p:nvSpPr>
          <p:cNvPr id="16" name="TextBox 15">
            <a:extLst>
              <a:ext uri="{FF2B5EF4-FFF2-40B4-BE49-F238E27FC236}">
                <a16:creationId xmlns:a16="http://schemas.microsoft.com/office/drawing/2014/main" id="{02D93EEB-DD35-44F0-24D4-7FF78CAA4E20}"/>
              </a:ext>
            </a:extLst>
          </p:cNvPr>
          <p:cNvSpPr txBox="1">
            <a:spLocks/>
          </p:cNvSpPr>
          <p:nvPr/>
        </p:nvSpPr>
        <p:spPr>
          <a:xfrm>
            <a:off x="5613400" y="35432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6–10</a:t>
            </a:r>
          </a:p>
        </p:txBody>
      </p:sp>
      <p:sp>
        <p:nvSpPr>
          <p:cNvPr id="17" name="TextBox 16">
            <a:extLst>
              <a:ext uri="{FF2B5EF4-FFF2-40B4-BE49-F238E27FC236}">
                <a16:creationId xmlns:a16="http://schemas.microsoft.com/office/drawing/2014/main" id="{DAD3D49C-66FC-E8B8-F620-401F949A2CE7}"/>
              </a:ext>
            </a:extLst>
          </p:cNvPr>
          <p:cNvSpPr txBox="1">
            <a:spLocks/>
          </p:cNvSpPr>
          <p:nvPr/>
        </p:nvSpPr>
        <p:spPr>
          <a:xfrm>
            <a:off x="7747000" y="35432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3–5 weeks</a:t>
            </a:r>
          </a:p>
        </p:txBody>
      </p:sp>
      <p:sp>
        <p:nvSpPr>
          <p:cNvPr id="18" name="TextBox 17">
            <a:extLst>
              <a:ext uri="{FF2B5EF4-FFF2-40B4-BE49-F238E27FC236}">
                <a16:creationId xmlns:a16="http://schemas.microsoft.com/office/drawing/2014/main" id="{A4C1655D-8850-DF71-85A8-D0DA7FC70E91}"/>
              </a:ext>
            </a:extLst>
          </p:cNvPr>
          <p:cNvSpPr txBox="1">
            <a:spLocks/>
          </p:cNvSpPr>
          <p:nvPr/>
        </p:nvSpPr>
        <p:spPr>
          <a:xfrm>
            <a:off x="9829800" y="35432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Export managed state + logs; restore on a test device.</a:t>
            </a:r>
            <a:endParaRPr lang="sv-SE">
              <a:solidFill>
                <a:srgbClr val="625E70"/>
              </a:solidFill>
              <a:latin typeface="Aptos" panose="020B0004020202020204" pitchFamily="34" charset="0"/>
            </a:endParaRPr>
          </a:p>
        </p:txBody>
      </p:sp>
      <p:sp>
        <p:nvSpPr>
          <p:cNvPr id="19" name="Rectangle 18">
            <a:extLst>
              <a:ext uri="{FF2B5EF4-FFF2-40B4-BE49-F238E27FC236}">
                <a16:creationId xmlns:a16="http://schemas.microsoft.com/office/drawing/2014/main" id="{F3EFD1B5-A7DA-66DE-C70F-61ED1CF1F272}"/>
              </a:ext>
            </a:extLst>
          </p:cNvPr>
          <p:cNvSpPr/>
          <p:nvPr/>
        </p:nvSpPr>
        <p:spPr>
          <a:xfrm>
            <a:off x="508000" y="4457700"/>
            <a:ext cx="15240000" cy="1079500"/>
          </a:xfrm>
          <a:prstGeom prst="rect">
            <a:avLst/>
          </a:prstGeom>
          <a:solidFill>
            <a:srgbClr val="EEEB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TextBox 19">
            <a:extLst>
              <a:ext uri="{FF2B5EF4-FFF2-40B4-BE49-F238E27FC236}">
                <a16:creationId xmlns:a16="http://schemas.microsoft.com/office/drawing/2014/main" id="{9E35C887-5845-D4D8-B11B-965ACAEC23C1}"/>
              </a:ext>
            </a:extLst>
          </p:cNvPr>
          <p:cNvSpPr txBox="1">
            <a:spLocks/>
          </p:cNvSpPr>
          <p:nvPr/>
        </p:nvSpPr>
        <p:spPr>
          <a:xfrm>
            <a:off x="685800" y="46481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M1 · Contracts + lifecycle slice</a:t>
            </a:r>
          </a:p>
        </p:txBody>
      </p:sp>
      <p:sp>
        <p:nvSpPr>
          <p:cNvPr id="21" name="TextBox 20">
            <a:extLst>
              <a:ext uri="{FF2B5EF4-FFF2-40B4-BE49-F238E27FC236}">
                <a16:creationId xmlns:a16="http://schemas.microsoft.com/office/drawing/2014/main" id="{5C69171A-30BA-8352-D2FA-46C8F70729C3}"/>
              </a:ext>
            </a:extLst>
          </p:cNvPr>
          <p:cNvSpPr txBox="1">
            <a:spLocks/>
          </p:cNvSpPr>
          <p:nvPr/>
        </p:nvSpPr>
        <p:spPr>
          <a:xfrm>
            <a:off x="5613400" y="46481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8–12</a:t>
            </a:r>
          </a:p>
        </p:txBody>
      </p:sp>
      <p:sp>
        <p:nvSpPr>
          <p:cNvPr id="22" name="TextBox 21">
            <a:extLst>
              <a:ext uri="{FF2B5EF4-FFF2-40B4-BE49-F238E27FC236}">
                <a16:creationId xmlns:a16="http://schemas.microsoft.com/office/drawing/2014/main" id="{75DDFF34-088B-D757-13C3-A15D6B6450BC}"/>
              </a:ext>
            </a:extLst>
          </p:cNvPr>
          <p:cNvSpPr txBox="1">
            <a:spLocks/>
          </p:cNvSpPr>
          <p:nvPr/>
        </p:nvSpPr>
        <p:spPr>
          <a:xfrm>
            <a:off x="7747000" y="46481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4–6 weeks</a:t>
            </a:r>
          </a:p>
        </p:txBody>
      </p:sp>
      <p:sp>
        <p:nvSpPr>
          <p:cNvPr id="23" name="TextBox 22">
            <a:extLst>
              <a:ext uri="{FF2B5EF4-FFF2-40B4-BE49-F238E27FC236}">
                <a16:creationId xmlns:a16="http://schemas.microsoft.com/office/drawing/2014/main" id="{2E47CE34-7598-41CD-9909-EA5FE31F58BD}"/>
              </a:ext>
            </a:extLst>
          </p:cNvPr>
          <p:cNvSpPr txBox="1">
            <a:spLocks/>
          </p:cNvSpPr>
          <p:nvPr/>
        </p:nvSpPr>
        <p:spPr>
          <a:xfrm>
            <a:off x="9829800" y="46481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HTTP/Fetch removal, real demo download, activation and restart.</a:t>
            </a:r>
            <a:endParaRPr lang="sv-SE">
              <a:solidFill>
                <a:srgbClr val="625E70"/>
              </a:solidFill>
              <a:latin typeface="Aptos" panose="020B0004020202020204" pitchFamily="34" charset="0"/>
            </a:endParaRPr>
          </a:p>
        </p:txBody>
      </p:sp>
      <p:sp>
        <p:nvSpPr>
          <p:cNvPr id="24" name="Rectangle 23">
            <a:extLst>
              <a:ext uri="{FF2B5EF4-FFF2-40B4-BE49-F238E27FC236}">
                <a16:creationId xmlns:a16="http://schemas.microsoft.com/office/drawing/2014/main" id="{F10A83D1-10DB-BC27-73C5-48EE08F154F1}"/>
              </a:ext>
            </a:extLst>
          </p:cNvPr>
          <p:cNvSpPr/>
          <p:nvPr/>
        </p:nvSpPr>
        <p:spPr>
          <a:xfrm>
            <a:off x="508000" y="5562600"/>
            <a:ext cx="15240000" cy="1079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TextBox 24">
            <a:extLst>
              <a:ext uri="{FF2B5EF4-FFF2-40B4-BE49-F238E27FC236}">
                <a16:creationId xmlns:a16="http://schemas.microsoft.com/office/drawing/2014/main" id="{1E5B8299-B269-5BB4-E831-4DF5563FCAFC}"/>
              </a:ext>
            </a:extLst>
          </p:cNvPr>
          <p:cNvSpPr txBox="1">
            <a:spLocks/>
          </p:cNvSpPr>
          <p:nvPr/>
        </p:nvSpPr>
        <p:spPr>
          <a:xfrm>
            <a:off x="685800" y="57530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M2 · Default capability parity</a:t>
            </a:r>
          </a:p>
        </p:txBody>
      </p:sp>
      <p:sp>
        <p:nvSpPr>
          <p:cNvPr id="26" name="TextBox 25">
            <a:extLst>
              <a:ext uri="{FF2B5EF4-FFF2-40B4-BE49-F238E27FC236}">
                <a16:creationId xmlns:a16="http://schemas.microsoft.com/office/drawing/2014/main" id="{60B94178-E6F3-DA0F-8E00-864EECC5E670}"/>
              </a:ext>
            </a:extLst>
          </p:cNvPr>
          <p:cNvSpPr txBox="1">
            <a:spLocks/>
          </p:cNvSpPr>
          <p:nvPr/>
        </p:nvSpPr>
        <p:spPr>
          <a:xfrm>
            <a:off x="5613400" y="57530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16–24</a:t>
            </a:r>
          </a:p>
        </p:txBody>
      </p:sp>
      <p:sp>
        <p:nvSpPr>
          <p:cNvPr id="27" name="TextBox 26">
            <a:extLst>
              <a:ext uri="{FF2B5EF4-FFF2-40B4-BE49-F238E27FC236}">
                <a16:creationId xmlns:a16="http://schemas.microsoft.com/office/drawing/2014/main" id="{0EF9BF94-F11F-1976-1786-8CAF73BBDE1B}"/>
              </a:ext>
            </a:extLst>
          </p:cNvPr>
          <p:cNvSpPr txBox="1">
            <a:spLocks/>
          </p:cNvSpPr>
          <p:nvPr/>
        </p:nvSpPr>
        <p:spPr>
          <a:xfrm>
            <a:off x="7747000" y="57530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8–12 weeks</a:t>
            </a:r>
          </a:p>
        </p:txBody>
      </p:sp>
      <p:sp>
        <p:nvSpPr>
          <p:cNvPr id="28" name="TextBox 27">
            <a:extLst>
              <a:ext uri="{FF2B5EF4-FFF2-40B4-BE49-F238E27FC236}">
                <a16:creationId xmlns:a16="http://schemas.microsoft.com/office/drawing/2014/main" id="{736A927B-B7EA-777D-9E92-9B1ABF661581}"/>
              </a:ext>
            </a:extLst>
          </p:cNvPr>
          <p:cNvSpPr txBox="1">
            <a:spLocks/>
          </p:cNvSpPr>
          <p:nvPr/>
        </p:nvSpPr>
        <p:spPr>
          <a:xfrm>
            <a:off x="9829800" y="57530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Hardware/devices/blocks extracted; Pi parity and missing states.</a:t>
            </a:r>
            <a:endParaRPr lang="sv-SE">
              <a:solidFill>
                <a:srgbClr val="625E70"/>
              </a:solidFill>
              <a:latin typeface="Aptos" panose="020B0004020202020204" pitchFamily="34" charset="0"/>
            </a:endParaRPr>
          </a:p>
        </p:txBody>
      </p:sp>
      <p:sp>
        <p:nvSpPr>
          <p:cNvPr id="29" name="Rectangle 28">
            <a:extLst>
              <a:ext uri="{FF2B5EF4-FFF2-40B4-BE49-F238E27FC236}">
                <a16:creationId xmlns:a16="http://schemas.microsoft.com/office/drawing/2014/main" id="{F867F325-B7D8-0AB1-A675-3D810122540B}"/>
              </a:ext>
            </a:extLst>
          </p:cNvPr>
          <p:cNvSpPr/>
          <p:nvPr/>
        </p:nvSpPr>
        <p:spPr>
          <a:xfrm>
            <a:off x="508000" y="6667500"/>
            <a:ext cx="15240000" cy="1079500"/>
          </a:xfrm>
          <a:prstGeom prst="rect">
            <a:avLst/>
          </a:prstGeom>
          <a:solidFill>
            <a:srgbClr val="EEEB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0" name="TextBox 29">
            <a:extLst>
              <a:ext uri="{FF2B5EF4-FFF2-40B4-BE49-F238E27FC236}">
                <a16:creationId xmlns:a16="http://schemas.microsoft.com/office/drawing/2014/main" id="{7C018BC8-8EDF-0D75-5A2C-03FDC754D67A}"/>
              </a:ext>
            </a:extLst>
          </p:cNvPr>
          <p:cNvSpPr txBox="1">
            <a:spLocks/>
          </p:cNvSpPr>
          <p:nvPr/>
        </p:nvSpPr>
        <p:spPr>
          <a:xfrm>
            <a:off x="685800" y="68579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M3 · Local authoring proof</a:t>
            </a:r>
          </a:p>
        </p:txBody>
      </p:sp>
      <p:sp>
        <p:nvSpPr>
          <p:cNvPr id="31" name="TextBox 30">
            <a:extLst>
              <a:ext uri="{FF2B5EF4-FFF2-40B4-BE49-F238E27FC236}">
                <a16:creationId xmlns:a16="http://schemas.microsoft.com/office/drawing/2014/main" id="{329240AC-A269-81EB-EE7E-B638E957CFEB}"/>
              </a:ext>
            </a:extLst>
          </p:cNvPr>
          <p:cNvSpPr txBox="1">
            <a:spLocks/>
          </p:cNvSpPr>
          <p:nvPr/>
        </p:nvSpPr>
        <p:spPr>
          <a:xfrm>
            <a:off x="5613400" y="68579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10–16</a:t>
            </a:r>
          </a:p>
        </p:txBody>
      </p:sp>
      <p:sp>
        <p:nvSpPr>
          <p:cNvPr id="32" name="TextBox 31">
            <a:extLst>
              <a:ext uri="{FF2B5EF4-FFF2-40B4-BE49-F238E27FC236}">
                <a16:creationId xmlns:a16="http://schemas.microsoft.com/office/drawing/2014/main" id="{8B37C4EE-078F-1BBB-F4D3-B495EE6C0C62}"/>
              </a:ext>
            </a:extLst>
          </p:cNvPr>
          <p:cNvSpPr txBox="1">
            <a:spLocks/>
          </p:cNvSpPr>
          <p:nvPr/>
        </p:nvSpPr>
        <p:spPr>
          <a:xfrm>
            <a:off x="7747000" y="68579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5–8 weeks</a:t>
            </a:r>
          </a:p>
        </p:txBody>
      </p:sp>
      <p:sp>
        <p:nvSpPr>
          <p:cNvPr id="33" name="TextBox 32">
            <a:extLst>
              <a:ext uri="{FF2B5EF4-FFF2-40B4-BE49-F238E27FC236}">
                <a16:creationId xmlns:a16="http://schemas.microsoft.com/office/drawing/2014/main" id="{609642F2-671C-FD31-987B-D0A062350ECA}"/>
              </a:ext>
            </a:extLst>
          </p:cNvPr>
          <p:cNvSpPr txBox="1">
            <a:spLocks/>
          </p:cNvSpPr>
          <p:nvPr/>
        </p:nvSpPr>
        <p:spPr>
          <a:xfrm>
            <a:off x="9829800" y="68579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New sensor/block from another author; package and install elsewhere.</a:t>
            </a:r>
            <a:endParaRPr lang="sv-SE">
              <a:solidFill>
                <a:srgbClr val="625E70"/>
              </a:solidFill>
              <a:latin typeface="Aptos" panose="020B0004020202020204" pitchFamily="34" charset="0"/>
            </a:endParaRPr>
          </a:p>
        </p:txBody>
      </p:sp>
    </p:spTree>
    <p:extLst>
      <p:ext uri="{BB962C8B-B14F-4D97-AF65-F5344CB8AC3E}">
        <p14:creationId xmlns:p14="http://schemas.microsoft.com/office/powerpoint/2010/main" val="578665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EFC3A2-EE95-84FC-76EC-C41EAD751D42}"/>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A812A80A-6CAB-E414-E19A-690D1316FC2B}"/>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75A4479A-8138-4DC5-9ED4-99A1F8558588}"/>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21 / 23</a:t>
            </a:r>
          </a:p>
        </p:txBody>
      </p:sp>
      <p:sp>
        <p:nvSpPr>
          <p:cNvPr id="5" name="Rectangle 4">
            <a:extLst>
              <a:ext uri="{FF2B5EF4-FFF2-40B4-BE49-F238E27FC236}">
                <a16:creationId xmlns:a16="http://schemas.microsoft.com/office/drawing/2014/main" id="{FAFF4CBD-67C5-2506-E9E9-06B5565353F4}"/>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66A2128E-6F18-E5AD-F7AC-E76CAA6C6A57}"/>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Phase 2 total: 24–40 engineer-weeks · 12–20 raw weeks · about 15–24 scheduled weeks.</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E291ACFB-B6A4-90EA-DEF2-1AC18F69D708}"/>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Phase 2 estimates: library and commerce</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1B02B845-433E-C694-7251-279CE86A6EC5}"/>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All three M4 work packages are included in the Phase 2 baseline.</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D6620DDD-402C-D4A4-2B20-83F50A4625AE}"/>
              </a:ext>
            </a:extLst>
          </p:cNvPr>
          <p:cNvSpPr/>
          <p:nvPr/>
        </p:nvSpPr>
        <p:spPr>
          <a:xfrm>
            <a:off x="508000" y="2692400"/>
            <a:ext cx="15240000" cy="660400"/>
          </a:xfrm>
          <a:prstGeom prst="rect">
            <a:avLst/>
          </a:prstGeom>
          <a:solidFill>
            <a:srgbClr val="201A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B9B54383-5693-4480-FD0C-0DAD75C168CB}"/>
              </a:ext>
            </a:extLst>
          </p:cNvPr>
          <p:cNvSpPr txBox="1">
            <a:spLocks/>
          </p:cNvSpPr>
          <p:nvPr/>
        </p:nvSpPr>
        <p:spPr>
          <a:xfrm>
            <a:off x="685800" y="2870199"/>
            <a:ext cx="45720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M4 work package</a:t>
            </a:r>
          </a:p>
        </p:txBody>
      </p:sp>
      <p:sp>
        <p:nvSpPr>
          <p:cNvPr id="11" name="TextBox 10">
            <a:extLst>
              <a:ext uri="{FF2B5EF4-FFF2-40B4-BE49-F238E27FC236}">
                <a16:creationId xmlns:a16="http://schemas.microsoft.com/office/drawing/2014/main" id="{8C86B068-F981-BCD7-62C1-08E6F2FC5D02}"/>
              </a:ext>
            </a:extLst>
          </p:cNvPr>
          <p:cNvSpPr txBox="1">
            <a:spLocks/>
          </p:cNvSpPr>
          <p:nvPr/>
        </p:nvSpPr>
        <p:spPr>
          <a:xfrm>
            <a:off x="5613400" y="2870199"/>
            <a:ext cx="17780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Engineer-weeks</a:t>
            </a:r>
          </a:p>
        </p:txBody>
      </p:sp>
      <p:sp>
        <p:nvSpPr>
          <p:cNvPr id="12" name="TextBox 11">
            <a:extLst>
              <a:ext uri="{FF2B5EF4-FFF2-40B4-BE49-F238E27FC236}">
                <a16:creationId xmlns:a16="http://schemas.microsoft.com/office/drawing/2014/main" id="{741EF06C-9A0B-D469-3C68-D4AC4BDA1251}"/>
              </a:ext>
            </a:extLst>
          </p:cNvPr>
          <p:cNvSpPr txBox="1">
            <a:spLocks/>
          </p:cNvSpPr>
          <p:nvPr/>
        </p:nvSpPr>
        <p:spPr>
          <a:xfrm>
            <a:off x="7747000" y="2870199"/>
            <a:ext cx="17272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Raw elapsed</a:t>
            </a:r>
          </a:p>
        </p:txBody>
      </p:sp>
      <p:sp>
        <p:nvSpPr>
          <p:cNvPr id="13" name="TextBox 12">
            <a:extLst>
              <a:ext uri="{FF2B5EF4-FFF2-40B4-BE49-F238E27FC236}">
                <a16:creationId xmlns:a16="http://schemas.microsoft.com/office/drawing/2014/main" id="{CA4A2874-A8D5-8B75-CBFA-0BAAE9C018BA}"/>
              </a:ext>
            </a:extLst>
          </p:cNvPr>
          <p:cNvSpPr txBox="1">
            <a:spLocks/>
          </p:cNvSpPr>
          <p:nvPr/>
        </p:nvSpPr>
        <p:spPr>
          <a:xfrm>
            <a:off x="9829800" y="2870199"/>
            <a:ext cx="5740400" cy="406400"/>
          </a:xfrm>
          <a:prstGeom prst="rect">
            <a:avLst/>
          </a:prstGeom>
          <a:noFill/>
        </p:spPr>
        <p:txBody>
          <a:bodyPr vert="horz" wrap="square" lIns="0" tIns="0" rIns="0" bIns="0" rtlCol="0">
            <a:noAutofit/>
          </a:bodyPr>
          <a:lstStyle/>
          <a:p>
            <a:r>
              <a:rPr lang="sv-SE" sz="1700" b="1">
                <a:solidFill>
                  <a:srgbClr val="FFFFFF"/>
                </a:solidFill>
                <a:latin typeface="Aptos" panose="020B0004020202020204" pitchFamily="34" charset="0"/>
              </a:rPr>
              <a:t>Acceptance evidence</a:t>
            </a:r>
          </a:p>
        </p:txBody>
      </p:sp>
      <p:sp>
        <p:nvSpPr>
          <p:cNvPr id="14" name="Rectangle 13">
            <a:extLst>
              <a:ext uri="{FF2B5EF4-FFF2-40B4-BE49-F238E27FC236}">
                <a16:creationId xmlns:a16="http://schemas.microsoft.com/office/drawing/2014/main" id="{8A4FC442-FC30-3674-1F20-CF7F28D61513}"/>
              </a:ext>
            </a:extLst>
          </p:cNvPr>
          <p:cNvSpPr/>
          <p:nvPr/>
        </p:nvSpPr>
        <p:spPr>
          <a:xfrm>
            <a:off x="508000" y="3352800"/>
            <a:ext cx="15240000" cy="1079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TextBox 14">
            <a:extLst>
              <a:ext uri="{FF2B5EF4-FFF2-40B4-BE49-F238E27FC236}">
                <a16:creationId xmlns:a16="http://schemas.microsoft.com/office/drawing/2014/main" id="{F64E7D3A-28EC-242B-36AC-364EC164F389}"/>
              </a:ext>
            </a:extLst>
          </p:cNvPr>
          <p:cNvSpPr txBox="1">
            <a:spLocks/>
          </p:cNvSpPr>
          <p:nvPr/>
        </p:nvSpPr>
        <p:spPr>
          <a:xfrm>
            <a:off x="685800" y="35432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M4a · Hosting + self-service publishing</a:t>
            </a:r>
          </a:p>
        </p:txBody>
      </p:sp>
      <p:sp>
        <p:nvSpPr>
          <p:cNvPr id="16" name="TextBox 15">
            <a:extLst>
              <a:ext uri="{FF2B5EF4-FFF2-40B4-BE49-F238E27FC236}">
                <a16:creationId xmlns:a16="http://schemas.microsoft.com/office/drawing/2014/main" id="{26F10CB6-315C-3BC5-1CD6-08F7D5CF9D18}"/>
              </a:ext>
            </a:extLst>
          </p:cNvPr>
          <p:cNvSpPr txBox="1">
            <a:spLocks/>
          </p:cNvSpPr>
          <p:nvPr/>
        </p:nvSpPr>
        <p:spPr>
          <a:xfrm>
            <a:off x="5613400" y="35432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10–16</a:t>
            </a:r>
          </a:p>
        </p:txBody>
      </p:sp>
      <p:sp>
        <p:nvSpPr>
          <p:cNvPr id="17" name="TextBox 16">
            <a:extLst>
              <a:ext uri="{FF2B5EF4-FFF2-40B4-BE49-F238E27FC236}">
                <a16:creationId xmlns:a16="http://schemas.microsoft.com/office/drawing/2014/main" id="{45C95293-1C3D-927B-1A80-FFD7196A7A0F}"/>
              </a:ext>
            </a:extLst>
          </p:cNvPr>
          <p:cNvSpPr txBox="1">
            <a:spLocks/>
          </p:cNvSpPr>
          <p:nvPr/>
        </p:nvSpPr>
        <p:spPr>
          <a:xfrm>
            <a:off x="7747000" y="35432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5–8 weeks</a:t>
            </a:r>
          </a:p>
        </p:txBody>
      </p:sp>
      <p:sp>
        <p:nvSpPr>
          <p:cNvPr id="18" name="TextBox 17">
            <a:extLst>
              <a:ext uri="{FF2B5EF4-FFF2-40B4-BE49-F238E27FC236}">
                <a16:creationId xmlns:a16="http://schemas.microsoft.com/office/drawing/2014/main" id="{A64A4A75-04D3-7154-2CC9-70B63B223654}"/>
              </a:ext>
            </a:extLst>
          </p:cNvPr>
          <p:cNvSpPr txBox="1">
            <a:spLocks/>
          </p:cNvSpPr>
          <p:nvPr/>
        </p:nvSpPr>
        <p:spPr>
          <a:xfrm>
            <a:off x="9829800" y="35432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Accounts, immutable artifacts, checks, listings and app delivery.</a:t>
            </a:r>
            <a:endParaRPr lang="sv-SE">
              <a:solidFill>
                <a:srgbClr val="625E70"/>
              </a:solidFill>
              <a:latin typeface="Aptos" panose="020B0004020202020204" pitchFamily="34" charset="0"/>
            </a:endParaRPr>
          </a:p>
        </p:txBody>
      </p:sp>
      <p:sp>
        <p:nvSpPr>
          <p:cNvPr id="19" name="Rectangle 18">
            <a:extLst>
              <a:ext uri="{FF2B5EF4-FFF2-40B4-BE49-F238E27FC236}">
                <a16:creationId xmlns:a16="http://schemas.microsoft.com/office/drawing/2014/main" id="{639D1FD5-760D-DAA0-02C6-ACF98AB4DD7E}"/>
              </a:ext>
            </a:extLst>
          </p:cNvPr>
          <p:cNvSpPr/>
          <p:nvPr/>
        </p:nvSpPr>
        <p:spPr>
          <a:xfrm>
            <a:off x="508000" y="4457700"/>
            <a:ext cx="15240000" cy="1079500"/>
          </a:xfrm>
          <a:prstGeom prst="rect">
            <a:avLst/>
          </a:prstGeom>
          <a:solidFill>
            <a:srgbClr val="EEEB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TextBox 19">
            <a:extLst>
              <a:ext uri="{FF2B5EF4-FFF2-40B4-BE49-F238E27FC236}">
                <a16:creationId xmlns:a16="http://schemas.microsoft.com/office/drawing/2014/main" id="{8E144BB1-ED67-3B97-6799-62C38164B265}"/>
              </a:ext>
            </a:extLst>
          </p:cNvPr>
          <p:cNvSpPr txBox="1">
            <a:spLocks/>
          </p:cNvSpPr>
          <p:nvPr/>
        </p:nvSpPr>
        <p:spPr>
          <a:xfrm>
            <a:off x="685800" y="46481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M4b · Reputation + community tools</a:t>
            </a:r>
          </a:p>
        </p:txBody>
      </p:sp>
      <p:sp>
        <p:nvSpPr>
          <p:cNvPr id="21" name="TextBox 20">
            <a:extLst>
              <a:ext uri="{FF2B5EF4-FFF2-40B4-BE49-F238E27FC236}">
                <a16:creationId xmlns:a16="http://schemas.microsoft.com/office/drawing/2014/main" id="{121B664E-9536-A3D9-DED4-BA7624B49B0E}"/>
              </a:ext>
            </a:extLst>
          </p:cNvPr>
          <p:cNvSpPr txBox="1">
            <a:spLocks/>
          </p:cNvSpPr>
          <p:nvPr/>
        </p:nvSpPr>
        <p:spPr>
          <a:xfrm>
            <a:off x="5613400" y="46481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6–10</a:t>
            </a:r>
          </a:p>
        </p:txBody>
      </p:sp>
      <p:sp>
        <p:nvSpPr>
          <p:cNvPr id="22" name="TextBox 21">
            <a:extLst>
              <a:ext uri="{FF2B5EF4-FFF2-40B4-BE49-F238E27FC236}">
                <a16:creationId xmlns:a16="http://schemas.microsoft.com/office/drawing/2014/main" id="{5A4AD8E4-D289-4A1C-CFA6-EC66183E04F5}"/>
              </a:ext>
            </a:extLst>
          </p:cNvPr>
          <p:cNvSpPr txBox="1">
            <a:spLocks/>
          </p:cNvSpPr>
          <p:nvPr/>
        </p:nvSpPr>
        <p:spPr>
          <a:xfrm>
            <a:off x="7747000" y="46481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3–5 weeks</a:t>
            </a:r>
          </a:p>
        </p:txBody>
      </p:sp>
      <p:sp>
        <p:nvSpPr>
          <p:cNvPr id="23" name="TextBox 22">
            <a:extLst>
              <a:ext uri="{FF2B5EF4-FFF2-40B4-BE49-F238E27FC236}">
                <a16:creationId xmlns:a16="http://schemas.microsoft.com/office/drawing/2014/main" id="{50F7079E-14A7-8BCE-596D-FF4AAFD2BF7F}"/>
              </a:ext>
            </a:extLst>
          </p:cNvPr>
          <p:cNvSpPr txBox="1">
            <a:spLocks/>
          </p:cNvSpPr>
          <p:nvPr/>
        </p:nvSpPr>
        <p:spPr>
          <a:xfrm>
            <a:off x="9829800" y="46481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Ratings, builder aggregates, counters, inspection and report flows.</a:t>
            </a:r>
            <a:endParaRPr lang="sv-SE">
              <a:solidFill>
                <a:srgbClr val="625E70"/>
              </a:solidFill>
              <a:latin typeface="Aptos" panose="020B0004020202020204" pitchFamily="34" charset="0"/>
            </a:endParaRPr>
          </a:p>
        </p:txBody>
      </p:sp>
      <p:sp>
        <p:nvSpPr>
          <p:cNvPr id="24" name="Rectangle 23">
            <a:extLst>
              <a:ext uri="{FF2B5EF4-FFF2-40B4-BE49-F238E27FC236}">
                <a16:creationId xmlns:a16="http://schemas.microsoft.com/office/drawing/2014/main" id="{68AFECBC-5A2A-4FBF-DBFB-1B6A80665854}"/>
              </a:ext>
            </a:extLst>
          </p:cNvPr>
          <p:cNvSpPr/>
          <p:nvPr/>
        </p:nvSpPr>
        <p:spPr>
          <a:xfrm>
            <a:off x="508000" y="5562600"/>
            <a:ext cx="15240000" cy="1079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TextBox 24">
            <a:extLst>
              <a:ext uri="{FF2B5EF4-FFF2-40B4-BE49-F238E27FC236}">
                <a16:creationId xmlns:a16="http://schemas.microsoft.com/office/drawing/2014/main" id="{C0B73A80-3A34-009F-60B0-A1136C5CE6A8}"/>
              </a:ext>
            </a:extLst>
          </p:cNvPr>
          <p:cNvSpPr txBox="1">
            <a:spLocks/>
          </p:cNvSpPr>
          <p:nvPr/>
        </p:nvSpPr>
        <p:spPr>
          <a:xfrm>
            <a:off x="685800" y="57530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M4c · Required commerce</a:t>
            </a:r>
          </a:p>
        </p:txBody>
      </p:sp>
      <p:sp>
        <p:nvSpPr>
          <p:cNvPr id="26" name="TextBox 25">
            <a:extLst>
              <a:ext uri="{FF2B5EF4-FFF2-40B4-BE49-F238E27FC236}">
                <a16:creationId xmlns:a16="http://schemas.microsoft.com/office/drawing/2014/main" id="{DB47FA76-3672-0930-F16E-B8343D86EA9E}"/>
              </a:ext>
            </a:extLst>
          </p:cNvPr>
          <p:cNvSpPr txBox="1">
            <a:spLocks/>
          </p:cNvSpPr>
          <p:nvPr/>
        </p:nvSpPr>
        <p:spPr>
          <a:xfrm>
            <a:off x="5613400" y="57530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8–14</a:t>
            </a:r>
          </a:p>
        </p:txBody>
      </p:sp>
      <p:sp>
        <p:nvSpPr>
          <p:cNvPr id="27" name="TextBox 26">
            <a:extLst>
              <a:ext uri="{FF2B5EF4-FFF2-40B4-BE49-F238E27FC236}">
                <a16:creationId xmlns:a16="http://schemas.microsoft.com/office/drawing/2014/main" id="{FF3C6E7A-C672-9B38-6557-1CD9BA4831D0}"/>
              </a:ext>
            </a:extLst>
          </p:cNvPr>
          <p:cNvSpPr txBox="1">
            <a:spLocks/>
          </p:cNvSpPr>
          <p:nvPr/>
        </p:nvSpPr>
        <p:spPr>
          <a:xfrm>
            <a:off x="7747000" y="57530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4–7 weeks</a:t>
            </a:r>
          </a:p>
        </p:txBody>
      </p:sp>
      <p:sp>
        <p:nvSpPr>
          <p:cNvPr id="28" name="TextBox 27">
            <a:extLst>
              <a:ext uri="{FF2B5EF4-FFF2-40B4-BE49-F238E27FC236}">
                <a16:creationId xmlns:a16="http://schemas.microsoft.com/office/drawing/2014/main" id="{85B0E05A-89C5-D73C-AECF-8793054EF438}"/>
              </a:ext>
            </a:extLst>
          </p:cNvPr>
          <p:cNvSpPr txBox="1">
            <a:spLocks/>
          </p:cNvSpPr>
          <p:nvPr/>
        </p:nvSpPr>
        <p:spPr>
          <a:xfrm>
            <a:off x="9829800" y="57530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Checkout, contributor payouts, refunds and offline entitlement.</a:t>
            </a:r>
            <a:endParaRPr lang="sv-SE">
              <a:solidFill>
                <a:srgbClr val="625E70"/>
              </a:solidFill>
              <a:latin typeface="Aptos" panose="020B0004020202020204" pitchFamily="34" charset="0"/>
            </a:endParaRPr>
          </a:p>
        </p:txBody>
      </p:sp>
      <p:sp>
        <p:nvSpPr>
          <p:cNvPr id="29" name="Rectangle 28">
            <a:extLst>
              <a:ext uri="{FF2B5EF4-FFF2-40B4-BE49-F238E27FC236}">
                <a16:creationId xmlns:a16="http://schemas.microsoft.com/office/drawing/2014/main" id="{89A18540-7D5D-7E86-4D3F-4D655C0CF10E}"/>
              </a:ext>
            </a:extLst>
          </p:cNvPr>
          <p:cNvSpPr/>
          <p:nvPr/>
        </p:nvSpPr>
        <p:spPr>
          <a:xfrm>
            <a:off x="508000" y="6667500"/>
            <a:ext cx="15240000" cy="1079500"/>
          </a:xfrm>
          <a:prstGeom prst="rect">
            <a:avLst/>
          </a:prstGeom>
          <a:solidFill>
            <a:srgbClr val="EEEB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0" name="TextBox 29">
            <a:extLst>
              <a:ext uri="{FF2B5EF4-FFF2-40B4-BE49-F238E27FC236}">
                <a16:creationId xmlns:a16="http://schemas.microsoft.com/office/drawing/2014/main" id="{B8594C0A-4E4C-0957-2008-BEE850F1876F}"/>
              </a:ext>
            </a:extLst>
          </p:cNvPr>
          <p:cNvSpPr txBox="1">
            <a:spLocks/>
          </p:cNvSpPr>
          <p:nvPr/>
        </p:nvSpPr>
        <p:spPr>
          <a:xfrm>
            <a:off x="685800" y="6857999"/>
            <a:ext cx="4572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M4 total · Includes commerce</a:t>
            </a:r>
          </a:p>
        </p:txBody>
      </p:sp>
      <p:sp>
        <p:nvSpPr>
          <p:cNvPr id="31" name="TextBox 30">
            <a:extLst>
              <a:ext uri="{FF2B5EF4-FFF2-40B4-BE49-F238E27FC236}">
                <a16:creationId xmlns:a16="http://schemas.microsoft.com/office/drawing/2014/main" id="{9205E815-BDF9-9858-C09D-996BC0F072BA}"/>
              </a:ext>
            </a:extLst>
          </p:cNvPr>
          <p:cNvSpPr txBox="1">
            <a:spLocks/>
          </p:cNvSpPr>
          <p:nvPr/>
        </p:nvSpPr>
        <p:spPr>
          <a:xfrm>
            <a:off x="5613400" y="6857999"/>
            <a:ext cx="17780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24–40</a:t>
            </a:r>
          </a:p>
        </p:txBody>
      </p:sp>
      <p:sp>
        <p:nvSpPr>
          <p:cNvPr id="32" name="TextBox 31">
            <a:extLst>
              <a:ext uri="{FF2B5EF4-FFF2-40B4-BE49-F238E27FC236}">
                <a16:creationId xmlns:a16="http://schemas.microsoft.com/office/drawing/2014/main" id="{DE0691F3-9DC6-55F9-7198-009609CDA4B7}"/>
              </a:ext>
            </a:extLst>
          </p:cNvPr>
          <p:cNvSpPr txBox="1">
            <a:spLocks/>
          </p:cNvSpPr>
          <p:nvPr/>
        </p:nvSpPr>
        <p:spPr>
          <a:xfrm>
            <a:off x="7747000" y="6857999"/>
            <a:ext cx="1727200" cy="800100"/>
          </a:xfrm>
          <a:prstGeom prst="rect">
            <a:avLst/>
          </a:prstGeom>
          <a:noFill/>
        </p:spPr>
        <p:txBody>
          <a:bodyPr vert="horz" wrap="square" lIns="0" tIns="0" rIns="0" bIns="0" rtlCol="0">
            <a:noAutofit/>
          </a:bodyPr>
          <a:lstStyle/>
          <a:p>
            <a:r>
              <a:rPr lang="sv-SE" sz="2000" b="1">
                <a:solidFill>
                  <a:srgbClr val="201A35"/>
                </a:solidFill>
                <a:latin typeface="Aptos" panose="020B0004020202020204" pitchFamily="34" charset="0"/>
              </a:rPr>
              <a:t>12–20 weeks</a:t>
            </a:r>
          </a:p>
        </p:txBody>
      </p:sp>
      <p:sp>
        <p:nvSpPr>
          <p:cNvPr id="33" name="TextBox 32">
            <a:extLst>
              <a:ext uri="{FF2B5EF4-FFF2-40B4-BE49-F238E27FC236}">
                <a16:creationId xmlns:a16="http://schemas.microsoft.com/office/drawing/2014/main" id="{6C914655-EDAD-C739-53AB-3D339D4C3FD5}"/>
              </a:ext>
            </a:extLst>
          </p:cNvPr>
          <p:cNvSpPr txBox="1">
            <a:spLocks/>
          </p:cNvSpPr>
          <p:nvPr/>
        </p:nvSpPr>
        <p:spPr>
          <a:xfrm>
            <a:off x="9829800" y="6857999"/>
            <a:ext cx="5740400" cy="800100"/>
          </a:xfrm>
          <a:prstGeom prst="rect">
            <a:avLst/>
          </a:prstGeom>
          <a:noFill/>
        </p:spPr>
        <p:txBody>
          <a:bodyPr vert="horz" wrap="square" lIns="0" tIns="0" rIns="0" bIns="0" rtlCol="0">
            <a:noAutofit/>
          </a:bodyPr>
          <a:lstStyle/>
          <a:p>
            <a:r>
              <a:rPr lang="en-GB">
                <a:solidFill>
                  <a:srgbClr val="625E70"/>
                </a:solidFill>
                <a:latin typeface="Aptos" panose="020B0004020202020204" pitchFamily="34" charset="0"/>
              </a:rPr>
              <a:t>Publish, inspect, buy, install and continue installed-version use offline.</a:t>
            </a:r>
            <a:endParaRPr lang="sv-SE">
              <a:solidFill>
                <a:srgbClr val="625E70"/>
              </a:solidFill>
              <a:latin typeface="Aptos" panose="020B0004020202020204" pitchFamily="34" charset="0"/>
            </a:endParaRPr>
          </a:p>
        </p:txBody>
      </p:sp>
    </p:spTree>
    <p:extLst>
      <p:ext uri="{BB962C8B-B14F-4D97-AF65-F5344CB8AC3E}">
        <p14:creationId xmlns:p14="http://schemas.microsoft.com/office/powerpoint/2010/main" val="2848921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A19C59-FF78-2BC4-8724-3C06428E210F}"/>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1AD33EF4-AF42-FBA6-890D-89BF82B65115}"/>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E7ABDFB9-ECB3-0344-EFD9-F9B4F0855952}"/>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22 / 23</a:t>
            </a:r>
          </a:p>
        </p:txBody>
      </p:sp>
      <p:sp>
        <p:nvSpPr>
          <p:cNvPr id="5" name="Rectangle 4">
            <a:extLst>
              <a:ext uri="{FF2B5EF4-FFF2-40B4-BE49-F238E27FC236}">
                <a16:creationId xmlns:a16="http://schemas.microsoft.com/office/drawing/2014/main" id="{B33B4F2A-51EB-1736-41D7-914C732485BC}"/>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B5B3CB9E-7CEA-32D2-FC37-B2F86E4347E5}"/>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Both phases: 64–102 engineer-weeks · 32–51 raw weeks · about 39–62 scheduled weeks.</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4598BFFF-D3D4-FA9C-9555-71FDF4654664}"/>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A planning envelope, not a promised launch date</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2D2DA67B-FB85-48B4-A9E4-38DB6E121EE3}"/>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Conservative sequential arithmetic; no unsupported overlap or AI productivity discount.</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61568795-62BE-10DC-2CB5-9ED16F0CD50D}"/>
              </a:ext>
            </a:extLst>
          </p:cNvPr>
          <p:cNvSpPr/>
          <p:nvPr/>
        </p:nvSpPr>
        <p:spPr>
          <a:xfrm>
            <a:off x="508000" y="2882900"/>
            <a:ext cx="74676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AEF48860-9DEB-5712-5689-E6FDEAF5838F}"/>
              </a:ext>
            </a:extLst>
          </p:cNvPr>
          <p:cNvSpPr txBox="1">
            <a:spLocks/>
          </p:cNvSpPr>
          <p:nvPr/>
        </p:nvSpPr>
        <p:spPr>
          <a:xfrm>
            <a:off x="787400" y="3149599"/>
            <a:ext cx="69088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1 · LOCAL BUILDER</a:t>
            </a:r>
          </a:p>
        </p:txBody>
      </p:sp>
      <p:sp>
        <p:nvSpPr>
          <p:cNvPr id="11" name="TextBox 10">
            <a:extLst>
              <a:ext uri="{FF2B5EF4-FFF2-40B4-BE49-F238E27FC236}">
                <a16:creationId xmlns:a16="http://schemas.microsoft.com/office/drawing/2014/main" id="{B6D6B31F-14C5-E3AA-15C6-F1AC634FFBB7}"/>
              </a:ext>
            </a:extLst>
          </p:cNvPr>
          <p:cNvSpPr txBox="1">
            <a:spLocks/>
          </p:cNvSpPr>
          <p:nvPr/>
        </p:nvSpPr>
        <p:spPr>
          <a:xfrm>
            <a:off x="787400" y="3644899"/>
            <a:ext cx="69088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40–62 engineer-weeks</a:t>
            </a:r>
          </a:p>
        </p:txBody>
      </p:sp>
      <p:sp>
        <p:nvSpPr>
          <p:cNvPr id="12" name="TextBox 11">
            <a:extLst>
              <a:ext uri="{FF2B5EF4-FFF2-40B4-BE49-F238E27FC236}">
                <a16:creationId xmlns:a16="http://schemas.microsoft.com/office/drawing/2014/main" id="{D65C9647-D2E7-02E6-6422-B3C456A5A629}"/>
              </a:ext>
            </a:extLst>
          </p:cNvPr>
          <p:cNvSpPr txBox="1">
            <a:spLocks/>
          </p:cNvSpPr>
          <p:nvPr/>
        </p:nvSpPr>
        <p:spPr>
          <a:xfrm>
            <a:off x="787400" y="4902199"/>
            <a:ext cx="6908800" cy="2654300"/>
          </a:xfrm>
          <a:prstGeom prst="rect">
            <a:avLst/>
          </a:prstGeom>
          <a:noFill/>
        </p:spPr>
        <p:txBody>
          <a:bodyPr vert="horz" wrap="square" lIns="0" tIns="0" rIns="0" bIns="0" rtlCol="0">
            <a:noAutofit/>
          </a:bodyPr>
          <a:lstStyle/>
          <a:p>
            <a:r>
              <a:rPr lang="en-GB" sz="2300">
                <a:solidFill>
                  <a:srgbClr val="625E70"/>
                </a:solidFill>
                <a:latin typeface="Aptos" panose="020B0004020202020204" pitchFamily="34" charset="0"/>
              </a:rPr>
              <a:t>Includes device export/restore prerequisite. Two engineers: about 24–38 scheduled weeks.</a:t>
            </a:r>
            <a:endParaRPr lang="sv-SE" sz="2300">
              <a:solidFill>
                <a:srgbClr val="625E70"/>
              </a:solidFill>
              <a:latin typeface="Aptos" panose="020B0004020202020204" pitchFamily="34" charset="0"/>
            </a:endParaRPr>
          </a:p>
        </p:txBody>
      </p:sp>
      <p:sp>
        <p:nvSpPr>
          <p:cNvPr id="13" name="Rectangle 12">
            <a:extLst>
              <a:ext uri="{FF2B5EF4-FFF2-40B4-BE49-F238E27FC236}">
                <a16:creationId xmlns:a16="http://schemas.microsoft.com/office/drawing/2014/main" id="{A0A1BEDD-4BCF-B49C-D063-C013CE206873}"/>
              </a:ext>
            </a:extLst>
          </p:cNvPr>
          <p:cNvSpPr/>
          <p:nvPr/>
        </p:nvSpPr>
        <p:spPr>
          <a:xfrm>
            <a:off x="8280400" y="2882900"/>
            <a:ext cx="74676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Box 13">
            <a:extLst>
              <a:ext uri="{FF2B5EF4-FFF2-40B4-BE49-F238E27FC236}">
                <a16:creationId xmlns:a16="http://schemas.microsoft.com/office/drawing/2014/main" id="{50FDF993-F494-EE23-E4F6-15D819CB22C8}"/>
              </a:ext>
            </a:extLst>
          </p:cNvPr>
          <p:cNvSpPr txBox="1">
            <a:spLocks/>
          </p:cNvSpPr>
          <p:nvPr/>
        </p:nvSpPr>
        <p:spPr>
          <a:xfrm>
            <a:off x="8559800" y="3149599"/>
            <a:ext cx="69088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PHASE 2 · LIBRARY + COMMERCE</a:t>
            </a:r>
          </a:p>
        </p:txBody>
      </p:sp>
      <p:sp>
        <p:nvSpPr>
          <p:cNvPr id="15" name="TextBox 14">
            <a:extLst>
              <a:ext uri="{FF2B5EF4-FFF2-40B4-BE49-F238E27FC236}">
                <a16:creationId xmlns:a16="http://schemas.microsoft.com/office/drawing/2014/main" id="{CEA3B14C-9D10-64FB-0393-20200F1DAF92}"/>
              </a:ext>
            </a:extLst>
          </p:cNvPr>
          <p:cNvSpPr txBox="1">
            <a:spLocks/>
          </p:cNvSpPr>
          <p:nvPr/>
        </p:nvSpPr>
        <p:spPr>
          <a:xfrm>
            <a:off x="8559800" y="3644899"/>
            <a:ext cx="69088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24–40 engineer-weeks</a:t>
            </a:r>
          </a:p>
        </p:txBody>
      </p:sp>
      <p:sp>
        <p:nvSpPr>
          <p:cNvPr id="16" name="TextBox 15">
            <a:extLst>
              <a:ext uri="{FF2B5EF4-FFF2-40B4-BE49-F238E27FC236}">
                <a16:creationId xmlns:a16="http://schemas.microsoft.com/office/drawing/2014/main" id="{C74B0846-3031-33A7-C8FE-BA80411A5AC7}"/>
              </a:ext>
            </a:extLst>
          </p:cNvPr>
          <p:cNvSpPr txBox="1">
            <a:spLocks/>
          </p:cNvSpPr>
          <p:nvPr/>
        </p:nvSpPr>
        <p:spPr>
          <a:xfrm>
            <a:off x="8559800" y="4902199"/>
            <a:ext cx="6908800" cy="2654300"/>
          </a:xfrm>
          <a:prstGeom prst="rect">
            <a:avLst/>
          </a:prstGeom>
          <a:noFill/>
        </p:spPr>
        <p:txBody>
          <a:bodyPr vert="horz" wrap="square" lIns="0" tIns="0" rIns="0" bIns="0" rtlCol="0">
            <a:noAutofit/>
          </a:bodyPr>
          <a:lstStyle/>
          <a:p>
            <a:r>
              <a:rPr lang="en-GB" sz="2300">
                <a:solidFill>
                  <a:srgbClr val="625E70"/>
                </a:solidFill>
                <a:latin typeface="Aptos" panose="020B0004020202020204" pitchFamily="34" charset="0"/>
              </a:rPr>
              <a:t>Includes checkout, contributor payouts and offline entitlements. Two engineers: about 15–24 scheduled weeks.</a:t>
            </a:r>
            <a:endParaRPr lang="sv-SE" sz="2300">
              <a:solidFill>
                <a:srgbClr val="625E70"/>
              </a:solidFill>
              <a:latin typeface="Aptos" panose="020B0004020202020204" pitchFamily="34" charset="0"/>
            </a:endParaRPr>
          </a:p>
        </p:txBody>
      </p:sp>
    </p:spTree>
    <p:extLst>
      <p:ext uri="{BB962C8B-B14F-4D97-AF65-F5344CB8AC3E}">
        <p14:creationId xmlns:p14="http://schemas.microsoft.com/office/powerpoint/2010/main" val="1479088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CABF50-E470-959B-E6D8-61AAB01D80BB}"/>
              </a:ext>
            </a:extLst>
          </p:cNvPr>
          <p:cNvSpPr/>
          <p:nvPr/>
        </p:nvSpPr>
        <p:spPr>
          <a:xfrm>
            <a:off x="508000" y="342900"/>
            <a:ext cx="152400" cy="152400"/>
          </a:xfrm>
          <a:prstGeom prst="rect">
            <a:avLst/>
          </a:prstGeom>
          <a:solidFill>
            <a:srgbClr val="7544D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Box 2">
            <a:extLst>
              <a:ext uri="{FF2B5EF4-FFF2-40B4-BE49-F238E27FC236}">
                <a16:creationId xmlns:a16="http://schemas.microsoft.com/office/drawing/2014/main" id="{A28B032C-B730-A9DD-75C5-6DFC518958EF}"/>
              </a:ext>
            </a:extLst>
          </p:cNvPr>
          <p:cNvSpPr txBox="1">
            <a:spLocks/>
          </p:cNvSpPr>
          <p:nvPr/>
        </p:nvSpPr>
        <p:spPr>
          <a:xfrm>
            <a:off x="825500" y="304799"/>
            <a:ext cx="11430000" cy="317500"/>
          </a:xfrm>
          <a:prstGeom prst="rect">
            <a:avLst/>
          </a:prstGeom>
          <a:noFill/>
        </p:spPr>
        <p:txBody>
          <a:bodyPr vert="horz" wrap="square" lIns="0" tIns="0" rIns="0" bIns="0" rtlCol="0">
            <a:noAutofit/>
          </a:bodyPr>
          <a:lstStyle/>
          <a:p>
            <a:r>
              <a:rPr lang="sv-SE" sz="1200" b="1">
                <a:solidFill>
                  <a:srgbClr val="625E70"/>
                </a:solidFill>
                <a:latin typeface="Aptos" panose="020B0004020202020204" pitchFamily="34" charset="0"/>
              </a:rPr>
              <a:t>EDGE STUDIO  /  MODULE BUILDER</a:t>
            </a:r>
          </a:p>
        </p:txBody>
      </p:sp>
      <p:sp>
        <p:nvSpPr>
          <p:cNvPr id="4" name="TextBox 3">
            <a:extLst>
              <a:ext uri="{FF2B5EF4-FFF2-40B4-BE49-F238E27FC236}">
                <a16:creationId xmlns:a16="http://schemas.microsoft.com/office/drawing/2014/main" id="{579ED1DF-A3B7-F62E-85CF-B7071BE1DADD}"/>
              </a:ext>
            </a:extLst>
          </p:cNvPr>
          <p:cNvSpPr txBox="1">
            <a:spLocks/>
          </p:cNvSpPr>
          <p:nvPr/>
        </p:nvSpPr>
        <p:spPr>
          <a:xfrm>
            <a:off x="14605000" y="304799"/>
            <a:ext cx="1143000" cy="317500"/>
          </a:xfrm>
          <a:prstGeom prst="rect">
            <a:avLst/>
          </a:prstGeom>
          <a:noFill/>
        </p:spPr>
        <p:txBody>
          <a:bodyPr vert="horz" wrap="square" lIns="0" tIns="0" rIns="0" bIns="0" rtlCol="0">
            <a:noAutofit/>
          </a:bodyPr>
          <a:lstStyle/>
          <a:p>
            <a:r>
              <a:rPr lang="sv-SE" sz="1200">
                <a:solidFill>
                  <a:srgbClr val="625E70"/>
                </a:solidFill>
                <a:latin typeface="Aptos" panose="020B0004020202020204" pitchFamily="34" charset="0"/>
              </a:rPr>
              <a:t>23 / 23</a:t>
            </a:r>
          </a:p>
        </p:txBody>
      </p:sp>
      <p:sp>
        <p:nvSpPr>
          <p:cNvPr id="5" name="Rectangle 4">
            <a:extLst>
              <a:ext uri="{FF2B5EF4-FFF2-40B4-BE49-F238E27FC236}">
                <a16:creationId xmlns:a16="http://schemas.microsoft.com/office/drawing/2014/main" id="{5A8501B3-785F-06C8-A6BF-2D197A2A03A5}"/>
              </a:ext>
            </a:extLst>
          </p:cNvPr>
          <p:cNvSpPr/>
          <p:nvPr/>
        </p:nvSpPr>
        <p:spPr>
          <a:xfrm>
            <a:off x="508000" y="8445500"/>
            <a:ext cx="15240000" cy="12700"/>
          </a:xfrm>
          <a:prstGeom prst="rect">
            <a:avLst/>
          </a:prstGeom>
          <a:solidFill>
            <a:srgbClr val="E1DD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Box 5">
            <a:extLst>
              <a:ext uri="{FF2B5EF4-FFF2-40B4-BE49-F238E27FC236}">
                <a16:creationId xmlns:a16="http://schemas.microsoft.com/office/drawing/2014/main" id="{8D1D3941-DA26-DEE2-EAF6-A543F40E85B7}"/>
              </a:ext>
            </a:extLst>
          </p:cNvPr>
          <p:cNvSpPr txBox="1">
            <a:spLocks/>
          </p:cNvSpPr>
          <p:nvPr/>
        </p:nvSpPr>
        <p:spPr>
          <a:xfrm>
            <a:off x="508000" y="8610599"/>
            <a:ext cx="15240000" cy="355600"/>
          </a:xfrm>
          <a:prstGeom prst="rect">
            <a:avLst/>
          </a:prstGeom>
          <a:noFill/>
        </p:spPr>
        <p:txBody>
          <a:bodyPr vert="horz" wrap="square" lIns="0" tIns="0" rIns="0" bIns="0" rtlCol="0">
            <a:noAutofit/>
          </a:bodyPr>
          <a:lstStyle/>
          <a:p>
            <a:r>
              <a:rPr lang="en-GB" sz="1400" b="1">
                <a:solidFill>
                  <a:srgbClr val="087F75"/>
                </a:solidFill>
                <a:latin typeface="Aptos" panose="020B0004020202020204" pitchFamily="34" charset="0"/>
              </a:rPr>
              <a:t>Proposed checkpoint: review M1 evidence, re-estimate M2–M4, then confirm the next funding/staffing step.</a:t>
            </a:r>
            <a:endParaRPr lang="sv-SE" sz="1400" b="1">
              <a:solidFill>
                <a:srgbClr val="087F75"/>
              </a:solidFill>
              <a:latin typeface="Aptos" panose="020B0004020202020204" pitchFamily="34" charset="0"/>
            </a:endParaRPr>
          </a:p>
        </p:txBody>
      </p:sp>
      <p:sp>
        <p:nvSpPr>
          <p:cNvPr id="7" name="TextBox 6">
            <a:extLst>
              <a:ext uri="{FF2B5EF4-FFF2-40B4-BE49-F238E27FC236}">
                <a16:creationId xmlns:a16="http://schemas.microsoft.com/office/drawing/2014/main" id="{1296734E-971C-0173-9A0C-0916D5F68413}"/>
              </a:ext>
            </a:extLst>
          </p:cNvPr>
          <p:cNvSpPr txBox="1">
            <a:spLocks/>
          </p:cNvSpPr>
          <p:nvPr/>
        </p:nvSpPr>
        <p:spPr>
          <a:xfrm>
            <a:off x="508000" y="876299"/>
            <a:ext cx="15240000" cy="952500"/>
          </a:xfrm>
          <a:prstGeom prst="rect">
            <a:avLst/>
          </a:prstGeom>
          <a:noFill/>
        </p:spPr>
        <p:txBody>
          <a:bodyPr vert="horz" wrap="square" lIns="0" tIns="0" rIns="0" bIns="0" rtlCol="0">
            <a:noAutofit/>
          </a:bodyPr>
          <a:lstStyle/>
          <a:p>
            <a:r>
              <a:rPr lang="en-GB" sz="3800" b="1">
                <a:solidFill>
                  <a:srgbClr val="201A35"/>
                </a:solidFill>
                <a:latin typeface="Aptos" panose="020B0004020202020204" pitchFamily="34" charset="0"/>
              </a:rPr>
              <a:t>Validate the first slice before committing the full build</a:t>
            </a:r>
            <a:endParaRPr lang="sv-SE" sz="3800" b="1">
              <a:solidFill>
                <a:srgbClr val="201A35"/>
              </a:solidFill>
              <a:latin typeface="Aptos" panose="020B0004020202020204" pitchFamily="34" charset="0"/>
            </a:endParaRPr>
          </a:p>
        </p:txBody>
      </p:sp>
      <p:sp>
        <p:nvSpPr>
          <p:cNvPr id="8" name="TextBox 7">
            <a:extLst>
              <a:ext uri="{FF2B5EF4-FFF2-40B4-BE49-F238E27FC236}">
                <a16:creationId xmlns:a16="http://schemas.microsoft.com/office/drawing/2014/main" id="{51A74823-5FDE-C326-724D-4A3185EC5C73}"/>
              </a:ext>
            </a:extLst>
          </p:cNvPr>
          <p:cNvSpPr txBox="1">
            <a:spLocks/>
          </p:cNvSpPr>
          <p:nvPr/>
        </p:nvSpPr>
        <p:spPr>
          <a:xfrm>
            <a:off x="533400" y="1841499"/>
            <a:ext cx="15176500" cy="5969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The next estimate should be grounded in implementation evidence, not a closer radar polygon.</a:t>
            </a:r>
            <a:endParaRPr lang="sv-SE" sz="1900">
              <a:solidFill>
                <a:srgbClr val="625E70"/>
              </a:solidFill>
              <a:latin typeface="Aptos" panose="020B0004020202020204" pitchFamily="34" charset="0"/>
            </a:endParaRPr>
          </a:p>
        </p:txBody>
      </p:sp>
      <p:sp>
        <p:nvSpPr>
          <p:cNvPr id="9" name="Rectangle 8">
            <a:extLst>
              <a:ext uri="{FF2B5EF4-FFF2-40B4-BE49-F238E27FC236}">
                <a16:creationId xmlns:a16="http://schemas.microsoft.com/office/drawing/2014/main" id="{06C9CFD4-B27E-5562-FBD9-C1CD63880378}"/>
              </a:ext>
            </a:extLst>
          </p:cNvPr>
          <p:cNvSpPr/>
          <p:nvPr/>
        </p:nvSpPr>
        <p:spPr>
          <a:xfrm>
            <a:off x="508000" y="2882900"/>
            <a:ext cx="48768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Box 9">
            <a:extLst>
              <a:ext uri="{FF2B5EF4-FFF2-40B4-BE49-F238E27FC236}">
                <a16:creationId xmlns:a16="http://schemas.microsoft.com/office/drawing/2014/main" id="{9B769F06-7A34-A4A3-BD1F-81A4297ADE90}"/>
              </a:ext>
            </a:extLst>
          </p:cNvPr>
          <p:cNvSpPr txBox="1">
            <a:spLocks/>
          </p:cNvSpPr>
          <p:nvPr/>
        </p:nvSpPr>
        <p:spPr>
          <a:xfrm>
            <a:off x="787400" y="3149599"/>
            <a:ext cx="43180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PROVE</a:t>
            </a:r>
          </a:p>
        </p:txBody>
      </p:sp>
      <p:sp>
        <p:nvSpPr>
          <p:cNvPr id="11" name="TextBox 10">
            <a:extLst>
              <a:ext uri="{FF2B5EF4-FFF2-40B4-BE49-F238E27FC236}">
                <a16:creationId xmlns:a16="http://schemas.microsoft.com/office/drawing/2014/main" id="{0777B351-6DBA-FAD5-9E06-ED1CB6D523D3}"/>
              </a:ext>
            </a:extLst>
          </p:cNvPr>
          <p:cNvSpPr txBox="1">
            <a:spLocks/>
          </p:cNvSpPr>
          <p:nvPr/>
        </p:nvSpPr>
        <p:spPr>
          <a:xfrm>
            <a:off x="787400" y="3644899"/>
            <a:ext cx="43180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M1 acceptance</a:t>
            </a:r>
          </a:p>
        </p:txBody>
      </p:sp>
      <p:sp>
        <p:nvSpPr>
          <p:cNvPr id="12" name="TextBox 11">
            <a:extLst>
              <a:ext uri="{FF2B5EF4-FFF2-40B4-BE49-F238E27FC236}">
                <a16:creationId xmlns:a16="http://schemas.microsoft.com/office/drawing/2014/main" id="{BF5D2515-0A52-6AF9-75EA-FE9EE106A25B}"/>
              </a:ext>
            </a:extLst>
          </p:cNvPr>
          <p:cNvSpPr txBox="1">
            <a:spLocks/>
          </p:cNvSpPr>
          <p:nvPr/>
        </p:nvSpPr>
        <p:spPr>
          <a:xfrm>
            <a:off x="787400" y="4902199"/>
            <a:ext cx="4318000" cy="26543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Remove → download → install inactive → activate → restart. Preserve existing configuration/history and expose missing-module states.</a:t>
            </a:r>
            <a:endParaRPr lang="sv-SE" sz="1900">
              <a:solidFill>
                <a:srgbClr val="625E70"/>
              </a:solidFill>
              <a:latin typeface="Aptos" panose="020B0004020202020204" pitchFamily="34" charset="0"/>
            </a:endParaRPr>
          </a:p>
        </p:txBody>
      </p:sp>
      <p:sp>
        <p:nvSpPr>
          <p:cNvPr id="13" name="Rectangle 12">
            <a:extLst>
              <a:ext uri="{FF2B5EF4-FFF2-40B4-BE49-F238E27FC236}">
                <a16:creationId xmlns:a16="http://schemas.microsoft.com/office/drawing/2014/main" id="{D0E5E503-7BD5-BFD8-BF3E-E5B8291850B0}"/>
              </a:ext>
            </a:extLst>
          </p:cNvPr>
          <p:cNvSpPr/>
          <p:nvPr/>
        </p:nvSpPr>
        <p:spPr>
          <a:xfrm>
            <a:off x="5689600" y="2882900"/>
            <a:ext cx="48768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Box 13">
            <a:extLst>
              <a:ext uri="{FF2B5EF4-FFF2-40B4-BE49-F238E27FC236}">
                <a16:creationId xmlns:a16="http://schemas.microsoft.com/office/drawing/2014/main" id="{94EC6EC2-EE3E-F6E0-3E44-70E966154FAF}"/>
              </a:ext>
            </a:extLst>
          </p:cNvPr>
          <p:cNvSpPr txBox="1">
            <a:spLocks/>
          </p:cNvSpPr>
          <p:nvPr/>
        </p:nvSpPr>
        <p:spPr>
          <a:xfrm>
            <a:off x="5969000" y="3149599"/>
            <a:ext cx="43180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RESOLVE</a:t>
            </a:r>
          </a:p>
        </p:txBody>
      </p:sp>
      <p:sp>
        <p:nvSpPr>
          <p:cNvPr id="15" name="TextBox 14">
            <a:extLst>
              <a:ext uri="{FF2B5EF4-FFF2-40B4-BE49-F238E27FC236}">
                <a16:creationId xmlns:a16="http://schemas.microsoft.com/office/drawing/2014/main" id="{FFE9F67F-945E-C668-30EC-8C19B0CA5F8C}"/>
              </a:ext>
            </a:extLst>
          </p:cNvPr>
          <p:cNvSpPr txBox="1">
            <a:spLocks/>
          </p:cNvSpPr>
          <p:nvPr/>
        </p:nvSpPr>
        <p:spPr>
          <a:xfrm>
            <a:off x="5969000" y="3644899"/>
            <a:ext cx="43180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Cross-app dependencies</a:t>
            </a:r>
          </a:p>
        </p:txBody>
      </p:sp>
      <p:sp>
        <p:nvSpPr>
          <p:cNvPr id="16" name="TextBox 15">
            <a:extLst>
              <a:ext uri="{FF2B5EF4-FFF2-40B4-BE49-F238E27FC236}">
                <a16:creationId xmlns:a16="http://schemas.microsoft.com/office/drawing/2014/main" id="{6E154BCA-FB49-13DD-16B1-45824ACD23A6}"/>
              </a:ext>
            </a:extLst>
          </p:cNvPr>
          <p:cNvSpPr txBox="1">
            <a:spLocks/>
          </p:cNvSpPr>
          <p:nvPr/>
        </p:nvSpPr>
        <p:spPr>
          <a:xfrm>
            <a:off x="5969000" y="4902199"/>
            <a:ext cx="4318000" cy="26543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App-wide support policy, export/restore coverage and recovery route, module/runtime contracts and named owners.</a:t>
            </a:r>
            <a:endParaRPr lang="sv-SE" sz="1900">
              <a:solidFill>
                <a:srgbClr val="625E70"/>
              </a:solidFill>
              <a:latin typeface="Aptos" panose="020B0004020202020204" pitchFamily="34" charset="0"/>
            </a:endParaRPr>
          </a:p>
        </p:txBody>
      </p:sp>
      <p:sp>
        <p:nvSpPr>
          <p:cNvPr id="17" name="Rectangle 16">
            <a:extLst>
              <a:ext uri="{FF2B5EF4-FFF2-40B4-BE49-F238E27FC236}">
                <a16:creationId xmlns:a16="http://schemas.microsoft.com/office/drawing/2014/main" id="{19CDF9E3-5B18-E9E3-D2BE-F0278C2C3F9E}"/>
              </a:ext>
            </a:extLst>
          </p:cNvPr>
          <p:cNvSpPr/>
          <p:nvPr/>
        </p:nvSpPr>
        <p:spPr>
          <a:xfrm>
            <a:off x="10871200" y="2882900"/>
            <a:ext cx="4876800" cy="4953000"/>
          </a:xfrm>
          <a:prstGeom prst="rect">
            <a:avLst/>
          </a:prstGeom>
          <a:solidFill>
            <a:srgbClr val="FFFFFF"/>
          </a:solidFill>
          <a:ln w="10160">
            <a:solidFill>
              <a:srgbClr val="E1DD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TextBox 17">
            <a:extLst>
              <a:ext uri="{FF2B5EF4-FFF2-40B4-BE49-F238E27FC236}">
                <a16:creationId xmlns:a16="http://schemas.microsoft.com/office/drawing/2014/main" id="{6622FB1A-7769-8396-6627-54398D947A3D}"/>
              </a:ext>
            </a:extLst>
          </p:cNvPr>
          <p:cNvSpPr txBox="1">
            <a:spLocks/>
          </p:cNvSpPr>
          <p:nvPr/>
        </p:nvSpPr>
        <p:spPr>
          <a:xfrm>
            <a:off x="11150600" y="3149599"/>
            <a:ext cx="4318000" cy="330200"/>
          </a:xfrm>
          <a:prstGeom prst="rect">
            <a:avLst/>
          </a:prstGeom>
          <a:noFill/>
        </p:spPr>
        <p:txBody>
          <a:bodyPr vert="horz" wrap="square" lIns="0" tIns="0" rIns="0" bIns="0" rtlCol="0">
            <a:noAutofit/>
          </a:bodyPr>
          <a:lstStyle/>
          <a:p>
            <a:r>
              <a:rPr lang="sv-SE" sz="1300" b="1">
                <a:solidFill>
                  <a:srgbClr val="7544D3"/>
                </a:solidFill>
                <a:latin typeface="Aptos" panose="020B0004020202020204" pitchFamily="34" charset="0"/>
              </a:rPr>
              <a:t>DECIDE</a:t>
            </a:r>
          </a:p>
        </p:txBody>
      </p:sp>
      <p:sp>
        <p:nvSpPr>
          <p:cNvPr id="19" name="TextBox 18">
            <a:extLst>
              <a:ext uri="{FF2B5EF4-FFF2-40B4-BE49-F238E27FC236}">
                <a16:creationId xmlns:a16="http://schemas.microsoft.com/office/drawing/2014/main" id="{C56944B5-E176-A17B-3C38-575285384279}"/>
              </a:ext>
            </a:extLst>
          </p:cNvPr>
          <p:cNvSpPr txBox="1">
            <a:spLocks/>
          </p:cNvSpPr>
          <p:nvPr/>
        </p:nvSpPr>
        <p:spPr>
          <a:xfrm>
            <a:off x="11150600" y="3644899"/>
            <a:ext cx="4318000" cy="1003300"/>
          </a:xfrm>
          <a:prstGeom prst="rect">
            <a:avLst/>
          </a:prstGeom>
          <a:noFill/>
        </p:spPr>
        <p:txBody>
          <a:bodyPr vert="horz" wrap="square" lIns="0" tIns="0" rIns="0" bIns="0" rtlCol="0">
            <a:noAutofit/>
          </a:bodyPr>
          <a:lstStyle/>
          <a:p>
            <a:r>
              <a:rPr lang="sv-SE" sz="2900" b="1">
                <a:solidFill>
                  <a:srgbClr val="201A35"/>
                </a:solidFill>
                <a:latin typeface="Aptos" panose="020B0004020202020204" pitchFamily="34" charset="0"/>
              </a:rPr>
              <a:t>Phase 2 implementation policies</a:t>
            </a:r>
          </a:p>
        </p:txBody>
      </p:sp>
      <p:sp>
        <p:nvSpPr>
          <p:cNvPr id="20" name="TextBox 19">
            <a:extLst>
              <a:ext uri="{FF2B5EF4-FFF2-40B4-BE49-F238E27FC236}">
                <a16:creationId xmlns:a16="http://schemas.microsoft.com/office/drawing/2014/main" id="{CF7D3342-6555-3F02-C52C-29A8ED6EDCE1}"/>
              </a:ext>
            </a:extLst>
          </p:cNvPr>
          <p:cNvSpPr txBox="1">
            <a:spLocks/>
          </p:cNvSpPr>
          <p:nvPr/>
        </p:nvSpPr>
        <p:spPr>
          <a:xfrm>
            <a:off x="11150600" y="4902199"/>
            <a:ext cx="4318000" cy="2654300"/>
          </a:xfrm>
          <a:prstGeom prst="rect">
            <a:avLst/>
          </a:prstGeom>
          <a:noFill/>
        </p:spPr>
        <p:txBody>
          <a:bodyPr vert="horz" wrap="square" lIns="0" tIns="0" rIns="0" bIns="0" rtlCol="0">
            <a:noAutofit/>
          </a:bodyPr>
          <a:lstStyle/>
          <a:p>
            <a:r>
              <a:rPr lang="en-GB" sz="1900">
                <a:solidFill>
                  <a:srgbClr val="625E70"/>
                </a:solidFill>
                <a:latin typeface="Aptos" panose="020B0004020202020204" pitchFamily="34" charset="0"/>
              </a:rPr>
              <a:t>Commerce is required. Define provider/purchase terms, redistribution policy, publication checks and moderation ownership.</a:t>
            </a:r>
            <a:endParaRPr lang="sv-SE" sz="1900">
              <a:solidFill>
                <a:srgbClr val="625E70"/>
              </a:solidFill>
              <a:latin typeface="Aptos" panose="020B0004020202020204" pitchFamily="34" charset="0"/>
            </a:endParaRPr>
          </a:p>
        </p:txBody>
      </p:sp>
    </p:spTree>
    <p:extLst>
      <p:ext uri="{BB962C8B-B14F-4D97-AF65-F5344CB8AC3E}">
        <p14:creationId xmlns:p14="http://schemas.microsoft.com/office/powerpoint/2010/main" val="2179565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4411</Words>
  <Application>Microsoft Office PowerPoint</Application>
  <PresentationFormat>Custom</PresentationFormat>
  <Paragraphs>363</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Rasmus Wersäll</dc:creator>
  <cp:lastModifiedBy>Rasmus Wersäll</cp:lastModifiedBy>
  <cp:revision>1</cp:revision>
  <dcterms:created xsi:type="dcterms:W3CDTF">2026-10-28T11:25:55Z</dcterms:created>
  <dcterms:modified xsi:type="dcterms:W3CDTF">2026-10-28T11:25:55Z</dcterms:modified>
</cp:coreProperties>
</file>