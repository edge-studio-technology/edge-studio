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CBBB26-F11B-473C-BC74-0D7ED84F9A75}" type="datetimeFigureOut">
              <a:rPr lang="sv-SE" smtClean="0"/>
              <a:t>2026-10-20</a:t>
            </a:fld>
            <a:endParaRPr lang="sv-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52FE3C-2A34-4FA3-A31B-A3900C21336B}" type="slidenum">
              <a:rPr lang="sv-SE" smtClean="0"/>
              <a:t>‹#›</a:t>
            </a:fld>
            <a:endParaRPr lang="sv-SE"/>
          </a:p>
        </p:txBody>
      </p:sp>
    </p:spTree>
    <p:extLst>
      <p:ext uri="{BB962C8B-B14F-4D97-AF65-F5344CB8AC3E}">
        <p14:creationId xmlns:p14="http://schemas.microsoft.com/office/powerpoint/2010/main" val="93387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01: Module Builder
Introduce Module Builder as an evolution of the current application. The plan is documented but implementation has not started. Full host access is intentional. The initial delivery proves local extensibility; a production public marketplace is a later phase.</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1</a:t>
            </a:fld>
            <a:endParaRPr lang="sv-SE"/>
          </a:p>
        </p:txBody>
      </p:sp>
    </p:spTree>
    <p:extLst>
      <p:ext uri="{BB962C8B-B14F-4D97-AF65-F5344CB8AC3E}">
        <p14:creationId xmlns:p14="http://schemas.microsoft.com/office/powerpoint/2010/main" val="3761041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02: Adding capabilities currently means changing the app
This is a repository finding, not an industry-wide claim. A new picker alone does not solve extensibility: runtime behavior, validation, configuration, and help must also move to package contracts. The expected benefit is fewer core edits for new capabilities; no reduction in effort has yet been measured.</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2</a:t>
            </a:fld>
            <a:endParaRPr lang="sv-SE"/>
          </a:p>
        </p:txBody>
      </p:sp>
    </p:spTree>
    <p:extLst>
      <p:ext uri="{BB962C8B-B14F-4D97-AF65-F5344CB8AC3E}">
        <p14:creationId xmlns:p14="http://schemas.microsoft.com/office/powerpoint/2010/main" val="820002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03: One module can connect the whole experience
Use an air-quality sensor as an illustrative future module. Its code, setup experience, and blocks share a package identity and version. Packages can also contain only a preset or a block. Configured instances and secrets remain separate from distributable package definitions. Exact default-package boundaries follow the inventory.</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3</a:t>
            </a:fld>
            <a:endParaRPr lang="sv-SE"/>
          </a:p>
        </p:txBody>
      </p:sp>
    </p:spTree>
    <p:extLst>
      <p:ext uri="{BB962C8B-B14F-4D97-AF65-F5344CB8AC3E}">
        <p14:creationId xmlns:p14="http://schemas.microsoft.com/office/powerpoint/2010/main" val="3364122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04: The direction is agreed; delivery details remain open
Do not ask stakeholders to reapprove the full-host-access product requirement. Ask them to align on sequencing and operating responsibility. Recommendations later in the deck are discussion proposals unless the implementation plan already commits to them. App runtime behavior has not changed.</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4</a:t>
            </a:fld>
            <a:endParaRPr lang="sv-SE"/>
          </a:p>
        </p:txBody>
      </p:sp>
    </p:spTree>
    <p:extLst>
      <p:ext uri="{BB962C8B-B14F-4D97-AF65-F5344CB8AC3E}">
        <p14:creationId xmlns:p14="http://schemas.microsoft.com/office/powerpoint/2010/main" val="3355987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05: Established platforms offer useful patterns
These are documented behaviors; the lessons are our interpretation. This is not a recommendation to embed any of these platforms. Node-RED distributes through npm and its Flow Library; our planned library hosts artifacts centrally. Home Assistant has its own supervisor model. VS Code's desktop permissions are not equivalent to root access on a Pi.
Sources:
- https://nodered.org/docs/creating-nodes/
- https://nodered.org/docs/creating-nodes/packaging
- https://contributors.home-assistant.io/core/integrations/manifest/
- https://contributors.home-assistant.io/apps/reference/configuration/
- https://code.visualstudio.com/api/references/extension-manifest
- https://code.visualstudio.com/api/advanced-topics/extension-host</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5</a:t>
            </a:fld>
            <a:endParaRPr lang="sv-SE"/>
          </a:p>
        </p:txBody>
      </p:sp>
    </p:spTree>
    <p:extLst>
      <p:ext uri="{BB962C8B-B14F-4D97-AF65-F5344CB8AC3E}">
        <p14:creationId xmlns:p14="http://schemas.microsoft.com/office/powerpoint/2010/main" val="3015760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06: Full host access means trusting host software
The earlier research recommended restricted execution; the user deliberately selected full host access. A root-capable module can bypass application policy and reach credentials. Do not describe manifests or containers as enforcing a security boundary against that module. VS Code documents that desktop extensions inherit the application's permissions, illustrating why publisher trust matters. Our host privileges can be broader still. Signing verifies origin/integrity, not harmless behavior.
Sources:
- https://code.visualstudio.com/docs/configure/extensions/extension-runtime-security
- https://docs.docker.com/engine/security/</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6</a:t>
            </a:fld>
            <a:endParaRPr lang="sv-SE"/>
          </a:p>
        </p:txBody>
      </p:sp>
    </p:spTree>
    <p:extLst>
      <p:ext uri="{BB962C8B-B14F-4D97-AF65-F5344CB8AC3E}">
        <p14:creationId xmlns:p14="http://schemas.microsoft.com/office/powerpoint/2010/main" val="2235365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07: Keep a small core that can restore every extension
This diagram describes responsibilities, not a sandbox boundary. The app owns generic orchestration and persistence; packages provide the choices and handlers. The core installer and recovery controls cannot themselves disappear when defaults are removed. An installed module should run without a live library connection. Transport/runtime details remain to be designed.</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7</a:t>
            </a:fld>
            <a:endParaRPr lang="sv-SE"/>
          </a:p>
        </p:txBody>
      </p:sp>
    </p:spTree>
    <p:extLst>
      <p:ext uri="{BB962C8B-B14F-4D97-AF65-F5344CB8AC3E}">
        <p14:creationId xmlns:p14="http://schemas.microsoft.com/office/powerpoint/2010/main" val="231827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08: Default capabilities become ordinary packages
The inventory sets final package boundaries and identifies shared dependencies. Wallet and Integritas services may stay in the application while their workflow contributions become packages. Existing source IDs, block IDs, configuration, secrets, and histories must survive. Default packages use the same installation path as future community modules and must stay removed across restart/update when the operator removes them.</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8</a:t>
            </a:fld>
            <a:endParaRPr lang="sv-SE"/>
          </a:p>
        </p:txBody>
      </p:sp>
    </p:spTree>
    <p:extLst>
      <p:ext uri="{BB962C8B-B14F-4D97-AF65-F5344CB8AC3E}">
        <p14:creationId xmlns:p14="http://schemas.microsoft.com/office/powerpoint/2010/main" val="418608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09: M1: prove one complete lifecycle before scaling
M1 groups inventory/contracts and the first implementation slice; it is not merely the inventory checklist item. Verify that uninstall really removes the contribution, rather than falling back to core code. Missing devices/blocks retain configuration. The extension manager remains available. This HTTP slice does not prove privileged hardware; that is required in M2. This is planned acceptance evidence, not a completed demo.</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9</a:t>
            </a:fld>
            <a:endParaRPr lang="sv-SE"/>
          </a:p>
        </p:txBody>
      </p:sp>
    </p:spTree>
    <p:extLst>
      <p:ext uri="{BB962C8B-B14F-4D97-AF65-F5344CB8AC3E}">
        <p14:creationId xmlns:p14="http://schemas.microsoft.com/office/powerpoint/2010/main" val="314713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10: M2: migrate all defaults and verify real hardware
Pi verification must cover actual devices, prerequisite jobs, event subscriptions, camera media hashing, shared resources, reboot requirements, failed hooks, and persisted state. Existing workflow order, budgets in ordinary app service calls, error ownership, watch/replay, and history should retain parity. Privileged module code can bypass app protections; do not claim otherwise.</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10</a:t>
            </a:fld>
            <a:endParaRPr lang="sv-SE"/>
          </a:p>
        </p:txBody>
      </p:sp>
    </p:spTree>
    <p:extLst>
      <p:ext uri="{BB962C8B-B14F-4D97-AF65-F5344CB8AC3E}">
        <p14:creationId xmlns:p14="http://schemas.microsoft.com/office/powerpoint/2010/main" val="19837798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11: M3: prove that developers can extend the app
My Modules, Builder, and Library are the main user areas. Keep local drafts separate from active releases. Create both a new workflow block and a new hardware/device capability using the tools as acceptance evidence. Source import does not guarantee a compatible executable artifact. Testing root-capable hooks can affect the host; a disposable test target is a separate environment, not a simulated safety guarantee.</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11</a:t>
            </a:fld>
            <a:endParaRPr lang="sv-SE"/>
          </a:p>
        </p:txBody>
      </p:sp>
    </p:spTree>
    <p:extLst>
      <p:ext uri="{BB962C8B-B14F-4D97-AF65-F5344CB8AC3E}">
        <p14:creationId xmlns:p14="http://schemas.microsoft.com/office/powerpoint/2010/main" val="2615593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12: The library starts locally and grows into a service
The first library is real local infrastructure, not mocked catalog data or shared installed files. A production library also needs namespace ownership, source/license policy, immutable artifacts, build security, key management, and support. Public publishing is optional for module authors. M4 is a future phase, not a committed expansion of M1. TUF is a candidate for update-trust design, not an adopted implementation.
Sources:
- https://theupdateframework.io/docs/overview/</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12</a:t>
            </a:fld>
            <a:endParaRPr lang="sv-SE"/>
          </a:p>
        </p:txBody>
      </p:sp>
    </p:spTree>
    <p:extLst>
      <p:ext uri="{BB962C8B-B14F-4D97-AF65-F5344CB8AC3E}">
        <p14:creationId xmlns:p14="http://schemas.microsoft.com/office/powerpoint/2010/main" val="1296703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13: Compare the practical implementation choices
These options do not change the agreed full-host-access requirement. Separate processes are an operational choice. UI recommendation: schemas for common forms and previews, versioned custom UI for advanced interactions. TypeScript-first authoring could match the app, while the protocol remains language-neutral; the plan does not yet select one final runtime implementation.</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13</a:t>
            </a:fld>
            <a:endParaRPr lang="sv-SE"/>
          </a:p>
        </p:txBody>
      </p:sp>
    </p:spTree>
    <p:extLst>
      <p:ext uri="{BB962C8B-B14F-4D97-AF65-F5344CB8AC3E}">
        <p14:creationId xmlns:p14="http://schemas.microsoft.com/office/powerpoint/2010/main" val="465887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14: Prove extensibility without losing existing users' work
Exact package versions/digests bind workflow execution. An in-flight run keeps its resolved version; changes activate at a safe boundary. Code rollback does not reverse state migrations, root setup scripts, payments, or physical effects. Unknown outcomes need investigation and operation IDs, not blind retries. The demonstration must include real behavior and Pi tests; a visually complete canvas is insufficient evidence.</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14</a:t>
            </a:fld>
            <a:endParaRPr lang="sv-SE"/>
          </a:p>
        </p:txBody>
      </p:sp>
    </p:spTree>
    <p:extLst>
      <p:ext uri="{BB962C8B-B14F-4D97-AF65-F5344CB8AC3E}">
        <p14:creationId xmlns:p14="http://schemas.microsoft.com/office/powerpoint/2010/main" val="2009034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15: Delivery gates control scope and investment
M1 maps to plan steps 1-2; M2 to 3-6; M3 to 7. M4 comes from the broader vision and discussion, not the current local-demo implementation scope. Authoring can overlap M2 once contracts stabilize. There is no invented schedule, headcount, or cost saving in this proposal. Owners and acceptance evidence should be named before implementation expands.</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15</a:t>
            </a:fld>
            <a:endParaRPr lang="sv-SE"/>
          </a:p>
        </p:txBody>
      </p:sp>
    </p:spTree>
    <p:extLst>
      <p:ext uri="{BB962C8B-B14F-4D97-AF65-F5344CB8AC3E}">
        <p14:creationId xmlns:p14="http://schemas.microsoft.com/office/powerpoint/2010/main" val="526224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16: Ecosystem maintenance is part of the product
These are responsibilities, not a staffing request with a known estimate. Discuss whether maintainers support only official packages or also troubleshoot community modules. Measure authoring effort and activation/recovery outcomes before setting targets. Open publication eligibility and local execution freedom are different policy decisions.</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16</a:t>
            </a:fld>
            <a:endParaRPr lang="sv-SE"/>
          </a:p>
        </p:txBody>
      </p:sp>
    </p:spTree>
    <p:extLst>
      <p:ext uri="{BB962C8B-B14F-4D97-AF65-F5344CB8AC3E}">
        <p14:creationId xmlns:p14="http://schemas.microsoft.com/office/powerpoint/2010/main" val="890721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17: Align on the next gate and the operating questions
This slide is a meeting prompt, not a claim that approval or staffing was obtained. Full host access and the dynamic extension direction are already specified by the user. Exact runtime contracts and implementation effort remain discovery work. Stakeholders can discuss future public policies now without adding them to the first demo gate.</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17</a:t>
            </a:fld>
            <a:endParaRPr lang="sv-SE"/>
          </a:p>
        </p:txBody>
      </p:sp>
    </p:spTree>
    <p:extLst>
      <p:ext uri="{BB962C8B-B14F-4D97-AF65-F5344CB8AC3E}">
        <p14:creationId xmlns:p14="http://schemas.microsoft.com/office/powerpoint/2010/main" val="16591469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18: The proof is a capability that returns intact
Close on the observable result rather than marketplace ambition. The implementation plan remains not started. Refer the audience to the appendix for comparison details, future library tradeoffs, and primary sources.</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18</a:t>
            </a:fld>
            <a:endParaRPr lang="sv-SE"/>
          </a:p>
        </p:txBody>
      </p:sp>
    </p:spTree>
    <p:extLst>
      <p:ext uri="{BB962C8B-B14F-4D97-AF65-F5344CB8AC3E}">
        <p14:creationId xmlns:p14="http://schemas.microsoft.com/office/powerpoint/2010/main" val="38793000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19: Appendix: what to borrow, and where the analogy stops
These comparisons are qualitative architectural interpretations of official documentation, not benchmarks. See discussion section 4 for the documented facts and their limits. We are not estimating ecosystem size, project quality, or comparative development costs.
Sources:
- https://nodered.org/docs/creating-nodes/packaging
- https://contributors.home-assistant.io/core/integrations/manifest/
- https://contributors.home-assistant.io/apps/reference/configuration/
- https://code.visualstudio.com/api/references/extension-manifest
- https://code.visualstudio.com/api/advanced-topics/extension-host</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19</a:t>
            </a:fld>
            <a:endParaRPr lang="sv-SE"/>
          </a:p>
        </p:txBody>
      </p:sp>
    </p:spTree>
    <p:extLst>
      <p:ext uri="{BB962C8B-B14F-4D97-AF65-F5344CB8AC3E}">
        <p14:creationId xmlns:p14="http://schemas.microsoft.com/office/powerpoint/2010/main" val="3540542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20: Appendix: public-library policy choices
Working recommendation is manual activation initially, explicit trust information, advisories, and a separately agreed public moderation model. No remote kill policy has been approved. Signing and scanning provide useful signals but are not a guarantee of harmless behavior. An outage of the library should not prevent already-installed modules from running locally.</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20</a:t>
            </a:fld>
            <a:endParaRPr lang="sv-SE"/>
          </a:p>
        </p:txBody>
      </p:sp>
    </p:spTree>
    <p:extLst>
      <p:ext uri="{BB962C8B-B14F-4D97-AF65-F5344CB8AC3E}">
        <p14:creationId xmlns:p14="http://schemas.microsoft.com/office/powerpoint/2010/main" val="20600205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21: Appendix: official research sources
All research used primary documentation. Source links are also included in the relevant slides' speaker notes. Preserve the distinction between documented platform behavior and proposed Edge Studio design.</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21</a:t>
            </a:fld>
            <a:endParaRPr lang="sv-SE"/>
          </a:p>
        </p:txBody>
      </p:sp>
    </p:spTree>
    <p:extLst>
      <p:ext uri="{BB962C8B-B14F-4D97-AF65-F5344CB8AC3E}">
        <p14:creationId xmlns:p14="http://schemas.microsoft.com/office/powerpoint/2010/main" val="36304785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22: Appendix: trust and internal references
The plan is the current delivery reference, while the companion discussion is working material rather than an adopted ADR. M4/public-service details are future discussion. The original restricted-only runtime recommendation was superseded by the explicit full-host-access requirement. No application code was changed to prepare this presentation.</a:t>
            </a:r>
            <a:endParaRPr lang="sv-SE"/>
          </a:p>
        </p:txBody>
      </p:sp>
      <p:sp>
        <p:nvSpPr>
          <p:cNvPr id="4" name="Slide Number Placeholder 3"/>
          <p:cNvSpPr>
            <a:spLocks noGrp="1"/>
          </p:cNvSpPr>
          <p:nvPr>
            <p:ph type="sldNum" sz="quarter" idx="5"/>
          </p:nvPr>
        </p:nvSpPr>
        <p:spPr/>
        <p:txBody>
          <a:bodyPr/>
          <a:lstStyle/>
          <a:p>
            <a:fld id="{C352FE3C-2A34-4FA3-A31B-A3900C21336B}" type="slidenum">
              <a:rPr lang="sv-SE" smtClean="0"/>
              <a:t>22</a:t>
            </a:fld>
            <a:endParaRPr lang="sv-SE"/>
          </a:p>
        </p:txBody>
      </p:sp>
    </p:spTree>
    <p:extLst>
      <p:ext uri="{BB962C8B-B14F-4D97-AF65-F5344CB8AC3E}">
        <p14:creationId xmlns:p14="http://schemas.microsoft.com/office/powerpoint/2010/main" val="1925000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1140-C6A0-E455-CF09-6365A41E68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sv-SE"/>
          </a:p>
        </p:txBody>
      </p:sp>
      <p:sp>
        <p:nvSpPr>
          <p:cNvPr id="3" name="Subtitle 2">
            <a:extLst>
              <a:ext uri="{FF2B5EF4-FFF2-40B4-BE49-F238E27FC236}">
                <a16:creationId xmlns:a16="http://schemas.microsoft.com/office/drawing/2014/main" id="{A3B09121-9060-4625-D4CF-A9D017F6AB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a:p>
        </p:txBody>
      </p:sp>
      <p:sp>
        <p:nvSpPr>
          <p:cNvPr id="4" name="Date Placeholder 3">
            <a:extLst>
              <a:ext uri="{FF2B5EF4-FFF2-40B4-BE49-F238E27FC236}">
                <a16:creationId xmlns:a16="http://schemas.microsoft.com/office/drawing/2014/main" id="{0223CA4E-7EEB-D8FC-2A41-159464E88E2F}"/>
              </a:ext>
            </a:extLst>
          </p:cNvPr>
          <p:cNvSpPr>
            <a:spLocks noGrp="1"/>
          </p:cNvSpPr>
          <p:nvPr>
            <p:ph type="dt" sz="half" idx="10"/>
          </p:nvPr>
        </p:nvSpPr>
        <p:spPr/>
        <p:txBody>
          <a:bodyPr/>
          <a:lstStyle/>
          <a:p>
            <a:fld id="{A5B6FEE3-DAD8-4BA5-B809-F799D12C7437}" type="datetimeFigureOut">
              <a:rPr lang="sv-SE" smtClean="0"/>
              <a:t>2026-10-20</a:t>
            </a:fld>
            <a:endParaRPr lang="sv-SE"/>
          </a:p>
        </p:txBody>
      </p:sp>
      <p:sp>
        <p:nvSpPr>
          <p:cNvPr id="5" name="Footer Placeholder 4">
            <a:extLst>
              <a:ext uri="{FF2B5EF4-FFF2-40B4-BE49-F238E27FC236}">
                <a16:creationId xmlns:a16="http://schemas.microsoft.com/office/drawing/2014/main" id="{B7E24544-075F-53A2-7052-18770B4CAF22}"/>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20A83D18-72E9-0D7E-A80D-A48067CB2F5A}"/>
              </a:ext>
            </a:extLst>
          </p:cNvPr>
          <p:cNvSpPr>
            <a:spLocks noGrp="1"/>
          </p:cNvSpPr>
          <p:nvPr>
            <p:ph type="sldNum" sz="quarter" idx="12"/>
          </p:nvPr>
        </p:nvSpPr>
        <p:spPr/>
        <p:txBody>
          <a:bodyPr/>
          <a:lstStyle/>
          <a:p>
            <a:fld id="{FAF349CA-3F17-49F4-BFB7-69C6C637325C}" type="slidenum">
              <a:rPr lang="sv-SE" smtClean="0"/>
              <a:t>‹#›</a:t>
            </a:fld>
            <a:endParaRPr lang="sv-SE"/>
          </a:p>
        </p:txBody>
      </p:sp>
    </p:spTree>
    <p:extLst>
      <p:ext uri="{BB962C8B-B14F-4D97-AF65-F5344CB8AC3E}">
        <p14:creationId xmlns:p14="http://schemas.microsoft.com/office/powerpoint/2010/main" val="1476739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C911C-EA06-943A-2D58-3E87178B391A}"/>
              </a:ext>
            </a:extLst>
          </p:cNvPr>
          <p:cNvSpPr>
            <a:spLocks noGrp="1"/>
          </p:cNvSpPr>
          <p:nvPr>
            <p:ph type="title"/>
          </p:nvPr>
        </p:nvSpPr>
        <p:spPr/>
        <p:txBody>
          <a:bodyPr/>
          <a:lstStyle/>
          <a:p>
            <a:r>
              <a:rPr lang="en-US"/>
              <a:t>Click to edit Master title style</a:t>
            </a:r>
            <a:endParaRPr lang="sv-SE"/>
          </a:p>
        </p:txBody>
      </p:sp>
      <p:sp>
        <p:nvSpPr>
          <p:cNvPr id="3" name="Content Placeholder 2">
            <a:extLst>
              <a:ext uri="{FF2B5EF4-FFF2-40B4-BE49-F238E27FC236}">
                <a16:creationId xmlns:a16="http://schemas.microsoft.com/office/drawing/2014/main" id="{7834AAB2-F4A5-9927-06EB-AE442DA6E9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D2F330D0-46A5-59D7-228A-2A29F2BA38C0}"/>
              </a:ext>
            </a:extLst>
          </p:cNvPr>
          <p:cNvSpPr>
            <a:spLocks noGrp="1"/>
          </p:cNvSpPr>
          <p:nvPr>
            <p:ph type="dt" sz="half" idx="10"/>
          </p:nvPr>
        </p:nvSpPr>
        <p:spPr/>
        <p:txBody>
          <a:bodyPr/>
          <a:lstStyle/>
          <a:p>
            <a:fld id="{A5B6FEE3-DAD8-4BA5-B809-F799D12C7437}" type="datetimeFigureOut">
              <a:rPr lang="sv-SE" smtClean="0"/>
              <a:t>2026-10-20</a:t>
            </a:fld>
            <a:endParaRPr lang="sv-SE"/>
          </a:p>
        </p:txBody>
      </p:sp>
      <p:sp>
        <p:nvSpPr>
          <p:cNvPr id="5" name="Footer Placeholder 4">
            <a:extLst>
              <a:ext uri="{FF2B5EF4-FFF2-40B4-BE49-F238E27FC236}">
                <a16:creationId xmlns:a16="http://schemas.microsoft.com/office/drawing/2014/main" id="{2A806268-89A9-6C34-9AB0-09A49AB61A07}"/>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628DC13E-5112-866E-172E-84E1D3A19ED4}"/>
              </a:ext>
            </a:extLst>
          </p:cNvPr>
          <p:cNvSpPr>
            <a:spLocks noGrp="1"/>
          </p:cNvSpPr>
          <p:nvPr>
            <p:ph type="sldNum" sz="quarter" idx="12"/>
          </p:nvPr>
        </p:nvSpPr>
        <p:spPr/>
        <p:txBody>
          <a:bodyPr/>
          <a:lstStyle/>
          <a:p>
            <a:fld id="{FAF349CA-3F17-49F4-BFB7-69C6C637325C}" type="slidenum">
              <a:rPr lang="sv-SE" smtClean="0"/>
              <a:t>‹#›</a:t>
            </a:fld>
            <a:endParaRPr lang="sv-SE"/>
          </a:p>
        </p:txBody>
      </p:sp>
    </p:spTree>
    <p:extLst>
      <p:ext uri="{BB962C8B-B14F-4D97-AF65-F5344CB8AC3E}">
        <p14:creationId xmlns:p14="http://schemas.microsoft.com/office/powerpoint/2010/main" val="918913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DA57F-BEDE-4F96-D763-373677409F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sv-SE"/>
          </a:p>
        </p:txBody>
      </p:sp>
      <p:sp>
        <p:nvSpPr>
          <p:cNvPr id="3" name="Text Placeholder 2">
            <a:extLst>
              <a:ext uri="{FF2B5EF4-FFF2-40B4-BE49-F238E27FC236}">
                <a16:creationId xmlns:a16="http://schemas.microsoft.com/office/drawing/2014/main" id="{1DB64DC9-7B9E-4C47-E883-898660FD68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6AB3C0-69C0-0C9B-8EB6-02EB89E9F966}"/>
              </a:ext>
            </a:extLst>
          </p:cNvPr>
          <p:cNvSpPr>
            <a:spLocks noGrp="1"/>
          </p:cNvSpPr>
          <p:nvPr>
            <p:ph type="dt" sz="half" idx="10"/>
          </p:nvPr>
        </p:nvSpPr>
        <p:spPr/>
        <p:txBody>
          <a:bodyPr/>
          <a:lstStyle/>
          <a:p>
            <a:fld id="{A5B6FEE3-DAD8-4BA5-B809-F799D12C7437}" type="datetimeFigureOut">
              <a:rPr lang="sv-SE" smtClean="0"/>
              <a:t>2026-10-20</a:t>
            </a:fld>
            <a:endParaRPr lang="sv-SE"/>
          </a:p>
        </p:txBody>
      </p:sp>
      <p:sp>
        <p:nvSpPr>
          <p:cNvPr id="5" name="Footer Placeholder 4">
            <a:extLst>
              <a:ext uri="{FF2B5EF4-FFF2-40B4-BE49-F238E27FC236}">
                <a16:creationId xmlns:a16="http://schemas.microsoft.com/office/drawing/2014/main" id="{E4FA2FA1-8E72-1CCA-39B8-D55BD197FE60}"/>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A36E3B42-6F4D-110E-49EE-DCB4AED833FF}"/>
              </a:ext>
            </a:extLst>
          </p:cNvPr>
          <p:cNvSpPr>
            <a:spLocks noGrp="1"/>
          </p:cNvSpPr>
          <p:nvPr>
            <p:ph type="sldNum" sz="quarter" idx="12"/>
          </p:nvPr>
        </p:nvSpPr>
        <p:spPr/>
        <p:txBody>
          <a:bodyPr/>
          <a:lstStyle/>
          <a:p>
            <a:fld id="{FAF349CA-3F17-49F4-BFB7-69C6C637325C}" type="slidenum">
              <a:rPr lang="sv-SE" smtClean="0"/>
              <a:t>‹#›</a:t>
            </a:fld>
            <a:endParaRPr lang="sv-SE"/>
          </a:p>
        </p:txBody>
      </p:sp>
    </p:spTree>
    <p:extLst>
      <p:ext uri="{BB962C8B-B14F-4D97-AF65-F5344CB8AC3E}">
        <p14:creationId xmlns:p14="http://schemas.microsoft.com/office/powerpoint/2010/main" val="443826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3EA40-51A2-FF80-7E23-D1A44037E7ED}"/>
              </a:ext>
            </a:extLst>
          </p:cNvPr>
          <p:cNvSpPr>
            <a:spLocks noGrp="1"/>
          </p:cNvSpPr>
          <p:nvPr>
            <p:ph type="title"/>
          </p:nvPr>
        </p:nvSpPr>
        <p:spPr/>
        <p:txBody>
          <a:bodyPr/>
          <a:lstStyle/>
          <a:p>
            <a:r>
              <a:rPr lang="en-US"/>
              <a:t>Click to edit Master title style</a:t>
            </a:r>
            <a:endParaRPr lang="sv-SE"/>
          </a:p>
        </p:txBody>
      </p:sp>
      <p:sp>
        <p:nvSpPr>
          <p:cNvPr id="3" name="Content Placeholder 2">
            <a:extLst>
              <a:ext uri="{FF2B5EF4-FFF2-40B4-BE49-F238E27FC236}">
                <a16:creationId xmlns:a16="http://schemas.microsoft.com/office/drawing/2014/main" id="{B507ACDA-801D-3B3F-B54B-7847387426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Content Placeholder 3">
            <a:extLst>
              <a:ext uri="{FF2B5EF4-FFF2-40B4-BE49-F238E27FC236}">
                <a16:creationId xmlns:a16="http://schemas.microsoft.com/office/drawing/2014/main" id="{CD806418-104F-D34D-8C10-8CCC048B95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Date Placeholder 4">
            <a:extLst>
              <a:ext uri="{FF2B5EF4-FFF2-40B4-BE49-F238E27FC236}">
                <a16:creationId xmlns:a16="http://schemas.microsoft.com/office/drawing/2014/main" id="{F0BBDBE6-843C-6ECD-3897-106CD3EE4F54}"/>
              </a:ext>
            </a:extLst>
          </p:cNvPr>
          <p:cNvSpPr>
            <a:spLocks noGrp="1"/>
          </p:cNvSpPr>
          <p:nvPr>
            <p:ph type="dt" sz="half" idx="10"/>
          </p:nvPr>
        </p:nvSpPr>
        <p:spPr/>
        <p:txBody>
          <a:bodyPr/>
          <a:lstStyle/>
          <a:p>
            <a:fld id="{A5B6FEE3-DAD8-4BA5-B809-F799D12C7437}" type="datetimeFigureOut">
              <a:rPr lang="sv-SE" smtClean="0"/>
              <a:t>2026-10-20</a:t>
            </a:fld>
            <a:endParaRPr lang="sv-SE"/>
          </a:p>
        </p:txBody>
      </p:sp>
      <p:sp>
        <p:nvSpPr>
          <p:cNvPr id="6" name="Footer Placeholder 5">
            <a:extLst>
              <a:ext uri="{FF2B5EF4-FFF2-40B4-BE49-F238E27FC236}">
                <a16:creationId xmlns:a16="http://schemas.microsoft.com/office/drawing/2014/main" id="{A6DC2DBA-6C93-E1D0-7D47-2F8E0EECEF6B}"/>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F168FCF5-C740-1268-D9E5-709496000FAB}"/>
              </a:ext>
            </a:extLst>
          </p:cNvPr>
          <p:cNvSpPr>
            <a:spLocks noGrp="1"/>
          </p:cNvSpPr>
          <p:nvPr>
            <p:ph type="sldNum" sz="quarter" idx="12"/>
          </p:nvPr>
        </p:nvSpPr>
        <p:spPr/>
        <p:txBody>
          <a:bodyPr/>
          <a:lstStyle/>
          <a:p>
            <a:fld id="{FAF349CA-3F17-49F4-BFB7-69C6C637325C}" type="slidenum">
              <a:rPr lang="sv-SE" smtClean="0"/>
              <a:t>‹#›</a:t>
            </a:fld>
            <a:endParaRPr lang="sv-SE"/>
          </a:p>
        </p:txBody>
      </p:sp>
    </p:spTree>
    <p:extLst>
      <p:ext uri="{BB962C8B-B14F-4D97-AF65-F5344CB8AC3E}">
        <p14:creationId xmlns:p14="http://schemas.microsoft.com/office/powerpoint/2010/main" val="2778671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B617E-C7DB-6322-4F85-28FE1F559D47}"/>
              </a:ext>
            </a:extLst>
          </p:cNvPr>
          <p:cNvSpPr>
            <a:spLocks noGrp="1"/>
          </p:cNvSpPr>
          <p:nvPr>
            <p:ph type="title"/>
          </p:nvPr>
        </p:nvSpPr>
        <p:spPr>
          <a:xfrm>
            <a:off x="839788" y="365125"/>
            <a:ext cx="10515600" cy="1325563"/>
          </a:xfrm>
        </p:spPr>
        <p:txBody>
          <a:bodyPr/>
          <a:lstStyle/>
          <a:p>
            <a:r>
              <a:rPr lang="en-US"/>
              <a:t>Click to edit Master title style</a:t>
            </a:r>
            <a:endParaRPr lang="sv-SE"/>
          </a:p>
        </p:txBody>
      </p:sp>
      <p:sp>
        <p:nvSpPr>
          <p:cNvPr id="3" name="Text Placeholder 2">
            <a:extLst>
              <a:ext uri="{FF2B5EF4-FFF2-40B4-BE49-F238E27FC236}">
                <a16:creationId xmlns:a16="http://schemas.microsoft.com/office/drawing/2014/main" id="{7991D552-8488-7BB5-ACB1-D3FC5830F6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B8885D-717C-9A8E-485C-F41F80436E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Text Placeholder 4">
            <a:extLst>
              <a:ext uri="{FF2B5EF4-FFF2-40B4-BE49-F238E27FC236}">
                <a16:creationId xmlns:a16="http://schemas.microsoft.com/office/drawing/2014/main" id="{FFA64500-F2CE-8ADF-6111-E87A54557C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B7CE4C-B830-D117-C2FA-E802CC10E6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7" name="Date Placeholder 6">
            <a:extLst>
              <a:ext uri="{FF2B5EF4-FFF2-40B4-BE49-F238E27FC236}">
                <a16:creationId xmlns:a16="http://schemas.microsoft.com/office/drawing/2014/main" id="{7C383E4B-411B-3033-03AC-86B4A062F325}"/>
              </a:ext>
            </a:extLst>
          </p:cNvPr>
          <p:cNvSpPr>
            <a:spLocks noGrp="1"/>
          </p:cNvSpPr>
          <p:nvPr>
            <p:ph type="dt" sz="half" idx="10"/>
          </p:nvPr>
        </p:nvSpPr>
        <p:spPr/>
        <p:txBody>
          <a:bodyPr/>
          <a:lstStyle/>
          <a:p>
            <a:fld id="{A5B6FEE3-DAD8-4BA5-B809-F799D12C7437}" type="datetimeFigureOut">
              <a:rPr lang="sv-SE" smtClean="0"/>
              <a:t>2026-10-20</a:t>
            </a:fld>
            <a:endParaRPr lang="sv-SE"/>
          </a:p>
        </p:txBody>
      </p:sp>
      <p:sp>
        <p:nvSpPr>
          <p:cNvPr id="8" name="Footer Placeholder 7">
            <a:extLst>
              <a:ext uri="{FF2B5EF4-FFF2-40B4-BE49-F238E27FC236}">
                <a16:creationId xmlns:a16="http://schemas.microsoft.com/office/drawing/2014/main" id="{3970EA25-61E6-37E3-A6C2-089BF1B3C98A}"/>
              </a:ext>
            </a:extLst>
          </p:cNvPr>
          <p:cNvSpPr>
            <a:spLocks noGrp="1"/>
          </p:cNvSpPr>
          <p:nvPr>
            <p:ph type="ftr" sz="quarter" idx="11"/>
          </p:nvPr>
        </p:nvSpPr>
        <p:spPr/>
        <p:txBody>
          <a:bodyPr/>
          <a:lstStyle/>
          <a:p>
            <a:endParaRPr lang="sv-SE"/>
          </a:p>
        </p:txBody>
      </p:sp>
      <p:sp>
        <p:nvSpPr>
          <p:cNvPr id="9" name="Slide Number Placeholder 8">
            <a:extLst>
              <a:ext uri="{FF2B5EF4-FFF2-40B4-BE49-F238E27FC236}">
                <a16:creationId xmlns:a16="http://schemas.microsoft.com/office/drawing/2014/main" id="{67887EAD-F34F-6EA0-5F27-0C9FAA2CC5E3}"/>
              </a:ext>
            </a:extLst>
          </p:cNvPr>
          <p:cNvSpPr>
            <a:spLocks noGrp="1"/>
          </p:cNvSpPr>
          <p:nvPr>
            <p:ph type="sldNum" sz="quarter" idx="12"/>
          </p:nvPr>
        </p:nvSpPr>
        <p:spPr/>
        <p:txBody>
          <a:bodyPr/>
          <a:lstStyle/>
          <a:p>
            <a:fld id="{FAF349CA-3F17-49F4-BFB7-69C6C637325C}" type="slidenum">
              <a:rPr lang="sv-SE" smtClean="0"/>
              <a:t>‹#›</a:t>
            </a:fld>
            <a:endParaRPr lang="sv-SE"/>
          </a:p>
        </p:txBody>
      </p:sp>
    </p:spTree>
    <p:extLst>
      <p:ext uri="{BB962C8B-B14F-4D97-AF65-F5344CB8AC3E}">
        <p14:creationId xmlns:p14="http://schemas.microsoft.com/office/powerpoint/2010/main" val="3033658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0FC38-B13F-620D-E6BA-6CD1F5408E56}"/>
              </a:ext>
            </a:extLst>
          </p:cNvPr>
          <p:cNvSpPr>
            <a:spLocks noGrp="1"/>
          </p:cNvSpPr>
          <p:nvPr>
            <p:ph type="title"/>
          </p:nvPr>
        </p:nvSpPr>
        <p:spPr/>
        <p:txBody>
          <a:bodyPr/>
          <a:lstStyle/>
          <a:p>
            <a:r>
              <a:rPr lang="en-US"/>
              <a:t>Click to edit Master title style</a:t>
            </a:r>
            <a:endParaRPr lang="sv-SE"/>
          </a:p>
        </p:txBody>
      </p:sp>
      <p:sp>
        <p:nvSpPr>
          <p:cNvPr id="3" name="Date Placeholder 2">
            <a:extLst>
              <a:ext uri="{FF2B5EF4-FFF2-40B4-BE49-F238E27FC236}">
                <a16:creationId xmlns:a16="http://schemas.microsoft.com/office/drawing/2014/main" id="{49B7A4DA-2A81-D7CA-F7BE-A4C78C04CA04}"/>
              </a:ext>
            </a:extLst>
          </p:cNvPr>
          <p:cNvSpPr>
            <a:spLocks noGrp="1"/>
          </p:cNvSpPr>
          <p:nvPr>
            <p:ph type="dt" sz="half" idx="10"/>
          </p:nvPr>
        </p:nvSpPr>
        <p:spPr/>
        <p:txBody>
          <a:bodyPr/>
          <a:lstStyle/>
          <a:p>
            <a:fld id="{A5B6FEE3-DAD8-4BA5-B809-F799D12C7437}" type="datetimeFigureOut">
              <a:rPr lang="sv-SE" smtClean="0"/>
              <a:t>2026-10-20</a:t>
            </a:fld>
            <a:endParaRPr lang="sv-SE"/>
          </a:p>
        </p:txBody>
      </p:sp>
      <p:sp>
        <p:nvSpPr>
          <p:cNvPr id="4" name="Footer Placeholder 3">
            <a:extLst>
              <a:ext uri="{FF2B5EF4-FFF2-40B4-BE49-F238E27FC236}">
                <a16:creationId xmlns:a16="http://schemas.microsoft.com/office/drawing/2014/main" id="{EA118E4F-A1C5-84CA-2DF8-723BC98497C7}"/>
              </a:ext>
            </a:extLst>
          </p:cNvPr>
          <p:cNvSpPr>
            <a:spLocks noGrp="1"/>
          </p:cNvSpPr>
          <p:nvPr>
            <p:ph type="ftr" sz="quarter" idx="11"/>
          </p:nvPr>
        </p:nvSpPr>
        <p:spPr/>
        <p:txBody>
          <a:bodyPr/>
          <a:lstStyle/>
          <a:p>
            <a:endParaRPr lang="sv-SE"/>
          </a:p>
        </p:txBody>
      </p:sp>
      <p:sp>
        <p:nvSpPr>
          <p:cNvPr id="5" name="Slide Number Placeholder 4">
            <a:extLst>
              <a:ext uri="{FF2B5EF4-FFF2-40B4-BE49-F238E27FC236}">
                <a16:creationId xmlns:a16="http://schemas.microsoft.com/office/drawing/2014/main" id="{2A2A16E8-DDAC-F62C-289B-FEDE74754099}"/>
              </a:ext>
            </a:extLst>
          </p:cNvPr>
          <p:cNvSpPr>
            <a:spLocks noGrp="1"/>
          </p:cNvSpPr>
          <p:nvPr>
            <p:ph type="sldNum" sz="quarter" idx="12"/>
          </p:nvPr>
        </p:nvSpPr>
        <p:spPr/>
        <p:txBody>
          <a:bodyPr/>
          <a:lstStyle/>
          <a:p>
            <a:fld id="{FAF349CA-3F17-49F4-BFB7-69C6C637325C}" type="slidenum">
              <a:rPr lang="sv-SE" smtClean="0"/>
              <a:t>‹#›</a:t>
            </a:fld>
            <a:endParaRPr lang="sv-SE"/>
          </a:p>
        </p:txBody>
      </p:sp>
    </p:spTree>
    <p:extLst>
      <p:ext uri="{BB962C8B-B14F-4D97-AF65-F5344CB8AC3E}">
        <p14:creationId xmlns:p14="http://schemas.microsoft.com/office/powerpoint/2010/main" val="392240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556A4F-F692-035C-E303-A378E6C11F5C}"/>
              </a:ext>
            </a:extLst>
          </p:cNvPr>
          <p:cNvSpPr>
            <a:spLocks noGrp="1"/>
          </p:cNvSpPr>
          <p:nvPr>
            <p:ph type="dt" sz="half" idx="10"/>
          </p:nvPr>
        </p:nvSpPr>
        <p:spPr/>
        <p:txBody>
          <a:bodyPr/>
          <a:lstStyle/>
          <a:p>
            <a:fld id="{A5B6FEE3-DAD8-4BA5-B809-F799D12C7437}" type="datetimeFigureOut">
              <a:rPr lang="sv-SE" smtClean="0"/>
              <a:t>2026-10-20</a:t>
            </a:fld>
            <a:endParaRPr lang="sv-SE"/>
          </a:p>
        </p:txBody>
      </p:sp>
      <p:sp>
        <p:nvSpPr>
          <p:cNvPr id="3" name="Footer Placeholder 2">
            <a:extLst>
              <a:ext uri="{FF2B5EF4-FFF2-40B4-BE49-F238E27FC236}">
                <a16:creationId xmlns:a16="http://schemas.microsoft.com/office/drawing/2014/main" id="{AF1C1E22-F23D-49DB-0388-92EF33127F70}"/>
              </a:ext>
            </a:extLst>
          </p:cNvPr>
          <p:cNvSpPr>
            <a:spLocks noGrp="1"/>
          </p:cNvSpPr>
          <p:nvPr>
            <p:ph type="ftr" sz="quarter" idx="11"/>
          </p:nvPr>
        </p:nvSpPr>
        <p:spPr/>
        <p:txBody>
          <a:bodyPr/>
          <a:lstStyle/>
          <a:p>
            <a:endParaRPr lang="sv-SE"/>
          </a:p>
        </p:txBody>
      </p:sp>
      <p:sp>
        <p:nvSpPr>
          <p:cNvPr id="4" name="Slide Number Placeholder 3">
            <a:extLst>
              <a:ext uri="{FF2B5EF4-FFF2-40B4-BE49-F238E27FC236}">
                <a16:creationId xmlns:a16="http://schemas.microsoft.com/office/drawing/2014/main" id="{EE8625A5-0368-7F4E-17B1-0DE9BC2CAEC5}"/>
              </a:ext>
            </a:extLst>
          </p:cNvPr>
          <p:cNvSpPr>
            <a:spLocks noGrp="1"/>
          </p:cNvSpPr>
          <p:nvPr>
            <p:ph type="sldNum" sz="quarter" idx="12"/>
          </p:nvPr>
        </p:nvSpPr>
        <p:spPr/>
        <p:txBody>
          <a:bodyPr/>
          <a:lstStyle/>
          <a:p>
            <a:fld id="{FAF349CA-3F17-49F4-BFB7-69C6C637325C}" type="slidenum">
              <a:rPr lang="sv-SE" smtClean="0"/>
              <a:t>‹#›</a:t>
            </a:fld>
            <a:endParaRPr lang="sv-SE"/>
          </a:p>
        </p:txBody>
      </p:sp>
    </p:spTree>
    <p:extLst>
      <p:ext uri="{BB962C8B-B14F-4D97-AF65-F5344CB8AC3E}">
        <p14:creationId xmlns:p14="http://schemas.microsoft.com/office/powerpoint/2010/main" val="3345958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9657-B11C-12BF-4820-BA06B0E5D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v-SE"/>
          </a:p>
        </p:txBody>
      </p:sp>
      <p:sp>
        <p:nvSpPr>
          <p:cNvPr id="3" name="Content Placeholder 2">
            <a:extLst>
              <a:ext uri="{FF2B5EF4-FFF2-40B4-BE49-F238E27FC236}">
                <a16:creationId xmlns:a16="http://schemas.microsoft.com/office/drawing/2014/main" id="{C7FE9848-E80D-C652-F226-07B489885F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Text Placeholder 3">
            <a:extLst>
              <a:ext uri="{FF2B5EF4-FFF2-40B4-BE49-F238E27FC236}">
                <a16:creationId xmlns:a16="http://schemas.microsoft.com/office/drawing/2014/main" id="{ABCDE368-FD75-2E85-CE20-1802E90829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2EACD-EAA4-A62C-85D5-7346D3AEED6C}"/>
              </a:ext>
            </a:extLst>
          </p:cNvPr>
          <p:cNvSpPr>
            <a:spLocks noGrp="1"/>
          </p:cNvSpPr>
          <p:nvPr>
            <p:ph type="dt" sz="half" idx="10"/>
          </p:nvPr>
        </p:nvSpPr>
        <p:spPr/>
        <p:txBody>
          <a:bodyPr/>
          <a:lstStyle/>
          <a:p>
            <a:fld id="{A5B6FEE3-DAD8-4BA5-B809-F799D12C7437}" type="datetimeFigureOut">
              <a:rPr lang="sv-SE" smtClean="0"/>
              <a:t>2026-10-20</a:t>
            </a:fld>
            <a:endParaRPr lang="sv-SE"/>
          </a:p>
        </p:txBody>
      </p:sp>
      <p:sp>
        <p:nvSpPr>
          <p:cNvPr id="6" name="Footer Placeholder 5">
            <a:extLst>
              <a:ext uri="{FF2B5EF4-FFF2-40B4-BE49-F238E27FC236}">
                <a16:creationId xmlns:a16="http://schemas.microsoft.com/office/drawing/2014/main" id="{D2E4DFD3-F9B2-05C6-DAF3-1403568E07C3}"/>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3953E722-7B2F-DD92-61A5-5F4770867391}"/>
              </a:ext>
            </a:extLst>
          </p:cNvPr>
          <p:cNvSpPr>
            <a:spLocks noGrp="1"/>
          </p:cNvSpPr>
          <p:nvPr>
            <p:ph type="sldNum" sz="quarter" idx="12"/>
          </p:nvPr>
        </p:nvSpPr>
        <p:spPr/>
        <p:txBody>
          <a:bodyPr/>
          <a:lstStyle/>
          <a:p>
            <a:fld id="{FAF349CA-3F17-49F4-BFB7-69C6C637325C}" type="slidenum">
              <a:rPr lang="sv-SE" smtClean="0"/>
              <a:t>‹#›</a:t>
            </a:fld>
            <a:endParaRPr lang="sv-SE"/>
          </a:p>
        </p:txBody>
      </p:sp>
    </p:spTree>
    <p:extLst>
      <p:ext uri="{BB962C8B-B14F-4D97-AF65-F5344CB8AC3E}">
        <p14:creationId xmlns:p14="http://schemas.microsoft.com/office/powerpoint/2010/main" val="1007996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11743-5C05-3DA4-0CFB-87531A4665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v-SE"/>
          </a:p>
        </p:txBody>
      </p:sp>
      <p:sp>
        <p:nvSpPr>
          <p:cNvPr id="3" name="Picture Placeholder 2">
            <a:extLst>
              <a:ext uri="{FF2B5EF4-FFF2-40B4-BE49-F238E27FC236}">
                <a16:creationId xmlns:a16="http://schemas.microsoft.com/office/drawing/2014/main" id="{6C863014-64BE-A894-E3EE-C513164AA2A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Text Placeholder 3">
            <a:extLst>
              <a:ext uri="{FF2B5EF4-FFF2-40B4-BE49-F238E27FC236}">
                <a16:creationId xmlns:a16="http://schemas.microsoft.com/office/drawing/2014/main" id="{8A7756CF-2273-2D96-5EAD-7BAB05F99C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74C91E-8385-6C66-B7D7-DFD9C205C141}"/>
              </a:ext>
            </a:extLst>
          </p:cNvPr>
          <p:cNvSpPr>
            <a:spLocks noGrp="1"/>
          </p:cNvSpPr>
          <p:nvPr>
            <p:ph type="dt" sz="half" idx="10"/>
          </p:nvPr>
        </p:nvSpPr>
        <p:spPr/>
        <p:txBody>
          <a:bodyPr/>
          <a:lstStyle/>
          <a:p>
            <a:fld id="{A5B6FEE3-DAD8-4BA5-B809-F799D12C7437}" type="datetimeFigureOut">
              <a:rPr lang="sv-SE" smtClean="0"/>
              <a:t>2026-10-20</a:t>
            </a:fld>
            <a:endParaRPr lang="sv-SE"/>
          </a:p>
        </p:txBody>
      </p:sp>
      <p:sp>
        <p:nvSpPr>
          <p:cNvPr id="6" name="Footer Placeholder 5">
            <a:extLst>
              <a:ext uri="{FF2B5EF4-FFF2-40B4-BE49-F238E27FC236}">
                <a16:creationId xmlns:a16="http://schemas.microsoft.com/office/drawing/2014/main" id="{37168689-45E6-F921-60C5-4F8E113FFB44}"/>
              </a:ext>
            </a:extLst>
          </p:cNvPr>
          <p:cNvSpPr>
            <a:spLocks noGrp="1"/>
          </p:cNvSpPr>
          <p:nvPr>
            <p:ph type="ftr" sz="quarter" idx="11"/>
          </p:nvPr>
        </p:nvSpPr>
        <p:spPr/>
        <p:txBody>
          <a:bodyPr/>
          <a:lstStyle/>
          <a:p>
            <a:endParaRPr lang="sv-SE"/>
          </a:p>
        </p:txBody>
      </p:sp>
      <p:sp>
        <p:nvSpPr>
          <p:cNvPr id="7" name="Slide Number Placeholder 6">
            <a:extLst>
              <a:ext uri="{FF2B5EF4-FFF2-40B4-BE49-F238E27FC236}">
                <a16:creationId xmlns:a16="http://schemas.microsoft.com/office/drawing/2014/main" id="{B28B5127-4BC8-A398-9441-BD38739F263C}"/>
              </a:ext>
            </a:extLst>
          </p:cNvPr>
          <p:cNvSpPr>
            <a:spLocks noGrp="1"/>
          </p:cNvSpPr>
          <p:nvPr>
            <p:ph type="sldNum" sz="quarter" idx="12"/>
          </p:nvPr>
        </p:nvSpPr>
        <p:spPr/>
        <p:txBody>
          <a:bodyPr/>
          <a:lstStyle/>
          <a:p>
            <a:fld id="{FAF349CA-3F17-49F4-BFB7-69C6C637325C}" type="slidenum">
              <a:rPr lang="sv-SE" smtClean="0"/>
              <a:t>‹#›</a:t>
            </a:fld>
            <a:endParaRPr lang="sv-SE"/>
          </a:p>
        </p:txBody>
      </p:sp>
    </p:spTree>
    <p:extLst>
      <p:ext uri="{BB962C8B-B14F-4D97-AF65-F5344CB8AC3E}">
        <p14:creationId xmlns:p14="http://schemas.microsoft.com/office/powerpoint/2010/main" val="688223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82DBB-9F80-C882-F648-C36A44FA6F68}"/>
              </a:ext>
            </a:extLst>
          </p:cNvPr>
          <p:cNvSpPr>
            <a:spLocks noGrp="1"/>
          </p:cNvSpPr>
          <p:nvPr>
            <p:ph type="title"/>
          </p:nvPr>
        </p:nvSpPr>
        <p:spPr/>
        <p:txBody>
          <a:bodyPr/>
          <a:lstStyle/>
          <a:p>
            <a:r>
              <a:rPr lang="en-US"/>
              <a:t>Click to edit Master title style</a:t>
            </a:r>
            <a:endParaRPr lang="sv-SE"/>
          </a:p>
        </p:txBody>
      </p:sp>
      <p:sp>
        <p:nvSpPr>
          <p:cNvPr id="3" name="Vertical Text Placeholder 2">
            <a:extLst>
              <a:ext uri="{FF2B5EF4-FFF2-40B4-BE49-F238E27FC236}">
                <a16:creationId xmlns:a16="http://schemas.microsoft.com/office/drawing/2014/main" id="{158021D9-5A5A-EE8D-11EB-56F5206A77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C526C6FA-2C1E-3A35-70E7-F54AFDDC90E2}"/>
              </a:ext>
            </a:extLst>
          </p:cNvPr>
          <p:cNvSpPr>
            <a:spLocks noGrp="1"/>
          </p:cNvSpPr>
          <p:nvPr>
            <p:ph type="dt" sz="half" idx="10"/>
          </p:nvPr>
        </p:nvSpPr>
        <p:spPr/>
        <p:txBody>
          <a:bodyPr/>
          <a:lstStyle/>
          <a:p>
            <a:fld id="{A5B6FEE3-DAD8-4BA5-B809-F799D12C7437}" type="datetimeFigureOut">
              <a:rPr lang="sv-SE" smtClean="0"/>
              <a:t>2026-10-20</a:t>
            </a:fld>
            <a:endParaRPr lang="sv-SE"/>
          </a:p>
        </p:txBody>
      </p:sp>
      <p:sp>
        <p:nvSpPr>
          <p:cNvPr id="5" name="Footer Placeholder 4">
            <a:extLst>
              <a:ext uri="{FF2B5EF4-FFF2-40B4-BE49-F238E27FC236}">
                <a16:creationId xmlns:a16="http://schemas.microsoft.com/office/drawing/2014/main" id="{BEA11A71-4C49-E4D5-38B5-D7618AF7245D}"/>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EF556274-33CA-4C22-1340-40F79FCC0721}"/>
              </a:ext>
            </a:extLst>
          </p:cNvPr>
          <p:cNvSpPr>
            <a:spLocks noGrp="1"/>
          </p:cNvSpPr>
          <p:nvPr>
            <p:ph type="sldNum" sz="quarter" idx="12"/>
          </p:nvPr>
        </p:nvSpPr>
        <p:spPr/>
        <p:txBody>
          <a:bodyPr/>
          <a:lstStyle/>
          <a:p>
            <a:fld id="{FAF349CA-3F17-49F4-BFB7-69C6C637325C}" type="slidenum">
              <a:rPr lang="sv-SE" smtClean="0"/>
              <a:t>‹#›</a:t>
            </a:fld>
            <a:endParaRPr lang="sv-SE"/>
          </a:p>
        </p:txBody>
      </p:sp>
    </p:spTree>
    <p:extLst>
      <p:ext uri="{BB962C8B-B14F-4D97-AF65-F5344CB8AC3E}">
        <p14:creationId xmlns:p14="http://schemas.microsoft.com/office/powerpoint/2010/main" val="16040053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748038-B5D5-E25E-1B7F-98B76D0266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sv-SE"/>
          </a:p>
        </p:txBody>
      </p:sp>
      <p:sp>
        <p:nvSpPr>
          <p:cNvPr id="3" name="Vertical Text Placeholder 2">
            <a:extLst>
              <a:ext uri="{FF2B5EF4-FFF2-40B4-BE49-F238E27FC236}">
                <a16:creationId xmlns:a16="http://schemas.microsoft.com/office/drawing/2014/main" id="{7422D5D3-F063-F37D-8F8F-FC4BF81358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FA12FD80-6AF5-DB0B-6CA6-FCDB985CA57E}"/>
              </a:ext>
            </a:extLst>
          </p:cNvPr>
          <p:cNvSpPr>
            <a:spLocks noGrp="1"/>
          </p:cNvSpPr>
          <p:nvPr>
            <p:ph type="dt" sz="half" idx="10"/>
          </p:nvPr>
        </p:nvSpPr>
        <p:spPr/>
        <p:txBody>
          <a:bodyPr/>
          <a:lstStyle/>
          <a:p>
            <a:fld id="{A5B6FEE3-DAD8-4BA5-B809-F799D12C7437}" type="datetimeFigureOut">
              <a:rPr lang="sv-SE" smtClean="0"/>
              <a:t>2026-10-20</a:t>
            </a:fld>
            <a:endParaRPr lang="sv-SE"/>
          </a:p>
        </p:txBody>
      </p:sp>
      <p:sp>
        <p:nvSpPr>
          <p:cNvPr id="5" name="Footer Placeholder 4">
            <a:extLst>
              <a:ext uri="{FF2B5EF4-FFF2-40B4-BE49-F238E27FC236}">
                <a16:creationId xmlns:a16="http://schemas.microsoft.com/office/drawing/2014/main" id="{23FDD200-1296-90F6-D1BA-E4EA8B89AB50}"/>
              </a:ext>
            </a:extLst>
          </p:cNvPr>
          <p:cNvSpPr>
            <a:spLocks noGrp="1"/>
          </p:cNvSpPr>
          <p:nvPr>
            <p:ph type="ftr" sz="quarter" idx="11"/>
          </p:nvPr>
        </p:nvSpPr>
        <p:spPr/>
        <p:txBody>
          <a:bodyPr/>
          <a:lstStyle/>
          <a:p>
            <a:endParaRPr lang="sv-SE"/>
          </a:p>
        </p:txBody>
      </p:sp>
      <p:sp>
        <p:nvSpPr>
          <p:cNvPr id="6" name="Slide Number Placeholder 5">
            <a:extLst>
              <a:ext uri="{FF2B5EF4-FFF2-40B4-BE49-F238E27FC236}">
                <a16:creationId xmlns:a16="http://schemas.microsoft.com/office/drawing/2014/main" id="{8F9AB079-0D26-E5D2-DFFE-ACF62955941D}"/>
              </a:ext>
            </a:extLst>
          </p:cNvPr>
          <p:cNvSpPr>
            <a:spLocks noGrp="1"/>
          </p:cNvSpPr>
          <p:nvPr>
            <p:ph type="sldNum" sz="quarter" idx="12"/>
          </p:nvPr>
        </p:nvSpPr>
        <p:spPr/>
        <p:txBody>
          <a:bodyPr/>
          <a:lstStyle/>
          <a:p>
            <a:fld id="{FAF349CA-3F17-49F4-BFB7-69C6C637325C}" type="slidenum">
              <a:rPr lang="sv-SE" smtClean="0"/>
              <a:t>‹#›</a:t>
            </a:fld>
            <a:endParaRPr lang="sv-SE"/>
          </a:p>
        </p:txBody>
      </p:sp>
    </p:spTree>
    <p:extLst>
      <p:ext uri="{BB962C8B-B14F-4D97-AF65-F5344CB8AC3E}">
        <p14:creationId xmlns:p14="http://schemas.microsoft.com/office/powerpoint/2010/main" val="1012939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5050BD-C2E8-9ABC-794D-26CB2CC732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sv-SE"/>
          </a:p>
        </p:txBody>
      </p:sp>
      <p:sp>
        <p:nvSpPr>
          <p:cNvPr id="3" name="Text Placeholder 2">
            <a:extLst>
              <a:ext uri="{FF2B5EF4-FFF2-40B4-BE49-F238E27FC236}">
                <a16:creationId xmlns:a16="http://schemas.microsoft.com/office/drawing/2014/main" id="{14B168E9-32A2-75D4-CD01-EC37533EBF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a:extLst>
              <a:ext uri="{FF2B5EF4-FFF2-40B4-BE49-F238E27FC236}">
                <a16:creationId xmlns:a16="http://schemas.microsoft.com/office/drawing/2014/main" id="{E1197C35-B9AF-3AE2-C0C9-B54494E756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B6FEE3-DAD8-4BA5-B809-F799D12C7437}" type="datetimeFigureOut">
              <a:rPr lang="sv-SE" smtClean="0"/>
              <a:t>2026-10-20</a:t>
            </a:fld>
            <a:endParaRPr lang="sv-SE"/>
          </a:p>
        </p:txBody>
      </p:sp>
      <p:sp>
        <p:nvSpPr>
          <p:cNvPr id="5" name="Footer Placeholder 4">
            <a:extLst>
              <a:ext uri="{FF2B5EF4-FFF2-40B4-BE49-F238E27FC236}">
                <a16:creationId xmlns:a16="http://schemas.microsoft.com/office/drawing/2014/main" id="{2EB4AAC4-F582-1EA6-D5C3-B87674FAE0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Slide Number Placeholder 5">
            <a:extLst>
              <a:ext uri="{FF2B5EF4-FFF2-40B4-BE49-F238E27FC236}">
                <a16:creationId xmlns:a16="http://schemas.microsoft.com/office/drawing/2014/main" id="{138D461C-14A7-3614-5D4D-38824A259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F349CA-3F17-49F4-BFB7-69C6C637325C}" type="slidenum">
              <a:rPr lang="sv-SE" smtClean="0"/>
              <a:t>‹#›</a:t>
            </a:fld>
            <a:endParaRPr lang="sv-SE"/>
          </a:p>
        </p:txBody>
      </p:sp>
    </p:spTree>
    <p:extLst>
      <p:ext uri="{BB962C8B-B14F-4D97-AF65-F5344CB8AC3E}">
        <p14:creationId xmlns:p14="http://schemas.microsoft.com/office/powerpoint/2010/main" val="1670129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D3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FFFE25-4F6B-79B5-CA19-D0DB6AD0BBF6}"/>
              </a:ext>
            </a:extLst>
          </p:cNvPr>
          <p:cNvSpPr/>
          <p:nvPr/>
        </p:nvSpPr>
        <p:spPr>
          <a:xfrm>
            <a:off x="660400" y="368300"/>
            <a:ext cx="177800" cy="177800"/>
          </a:xfrm>
          <a:prstGeom prst="rect">
            <a:avLst/>
          </a:prstGeom>
          <a:solidFill>
            <a:srgbClr val="FFB3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1-text-2">
            <a:extLst>
              <a:ext uri="{FF2B5EF4-FFF2-40B4-BE49-F238E27FC236}">
                <a16:creationId xmlns:a16="http://schemas.microsoft.com/office/drawing/2014/main" id="{BC542E6C-FC7C-E845-AE2F-4871702960D5}"/>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C6D4D7"/>
                </a:solidFill>
                <a:latin typeface="Aptos" panose="020B0004020202020204" pitchFamily="34" charset="0"/>
              </a:rPr>
              <a:t>EDGE STUDIO / STAKEHOLDER DISCUSSION</a:t>
            </a:r>
          </a:p>
        </p:txBody>
      </p:sp>
      <p:sp>
        <p:nvSpPr>
          <p:cNvPr id="4" name="Slide-1-text-3">
            <a:extLst>
              <a:ext uri="{FF2B5EF4-FFF2-40B4-BE49-F238E27FC236}">
                <a16:creationId xmlns:a16="http://schemas.microsoft.com/office/drawing/2014/main" id="{4CA16A8E-0FFA-3738-2DF3-737CF07EC2CA}"/>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C6D4D7"/>
                </a:solidFill>
                <a:latin typeface="Aptos" panose="020B0004020202020204" pitchFamily="34" charset="0"/>
              </a:rPr>
              <a:t>EDGE STUDIO</a:t>
            </a:r>
          </a:p>
        </p:txBody>
      </p:sp>
      <p:sp>
        <p:nvSpPr>
          <p:cNvPr id="5" name="Rectangle 4">
            <a:extLst>
              <a:ext uri="{FF2B5EF4-FFF2-40B4-BE49-F238E27FC236}">
                <a16:creationId xmlns:a16="http://schemas.microsoft.com/office/drawing/2014/main" id="{D9A19986-B47C-EB29-BB0C-89F1A3C6D08E}"/>
              </a:ext>
            </a:extLst>
          </p:cNvPr>
          <p:cNvSpPr/>
          <p:nvPr/>
        </p:nvSpPr>
        <p:spPr>
          <a:xfrm>
            <a:off x="660400" y="6057900"/>
            <a:ext cx="10871200" cy="12700"/>
          </a:xfrm>
          <a:prstGeom prst="rect">
            <a:avLst/>
          </a:prstGeom>
          <a:solidFill>
            <a:srgbClr val="42606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1-text-5">
            <a:extLst>
              <a:ext uri="{FF2B5EF4-FFF2-40B4-BE49-F238E27FC236}">
                <a16:creationId xmlns:a16="http://schemas.microsoft.com/office/drawing/2014/main" id="{D16C9C18-D10C-C238-49A8-C6461640CB9B}"/>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CDEBDC"/>
                </a:solidFill>
                <a:latin typeface="Aptos" panose="020B0004020202020204" pitchFamily="34" charset="0"/>
              </a:rPr>
              <a:t>Build locally. Add capabilities. Share optionally.</a:t>
            </a:r>
            <a:endParaRPr lang="sv-SE" sz="1500" b="1">
              <a:solidFill>
                <a:srgbClr val="CDEBDC"/>
              </a:solidFill>
              <a:latin typeface="Aptos" panose="020B0004020202020204" pitchFamily="34" charset="0"/>
            </a:endParaRPr>
          </a:p>
        </p:txBody>
      </p:sp>
      <p:sp>
        <p:nvSpPr>
          <p:cNvPr id="7" name="Slide-1-text-6">
            <a:extLst>
              <a:ext uri="{FF2B5EF4-FFF2-40B4-BE49-F238E27FC236}">
                <a16:creationId xmlns:a16="http://schemas.microsoft.com/office/drawing/2014/main" id="{5587B662-9A73-A6F8-C2B4-B6037DFAB10A}"/>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C6D4D7"/>
                </a:solidFill>
                <a:latin typeface="Aptos" panose="020B0004020202020204" pitchFamily="34" charset="0"/>
              </a:rPr>
              <a:t>01 / 22</a:t>
            </a:r>
          </a:p>
        </p:txBody>
      </p:sp>
      <p:sp>
        <p:nvSpPr>
          <p:cNvPr id="8" name="Slide-1-text-7">
            <a:extLst>
              <a:ext uri="{FF2B5EF4-FFF2-40B4-BE49-F238E27FC236}">
                <a16:creationId xmlns:a16="http://schemas.microsoft.com/office/drawing/2014/main" id="{157235EC-F36F-2787-5E1E-72A8D9161999}"/>
              </a:ext>
            </a:extLst>
          </p:cNvPr>
          <p:cNvSpPr txBox="1">
            <a:spLocks/>
          </p:cNvSpPr>
          <p:nvPr/>
        </p:nvSpPr>
        <p:spPr>
          <a:xfrm>
            <a:off x="660400" y="1320799"/>
            <a:ext cx="10871200" cy="965200"/>
          </a:xfrm>
          <a:prstGeom prst="rect">
            <a:avLst/>
          </a:prstGeom>
          <a:noFill/>
        </p:spPr>
        <p:txBody>
          <a:bodyPr vert="horz" wrap="square" lIns="0" tIns="0" rIns="0" bIns="0" rtlCol="0">
            <a:noAutofit/>
          </a:bodyPr>
          <a:lstStyle/>
          <a:p>
            <a:r>
              <a:rPr lang="sv-SE" sz="5800" b="1">
                <a:solidFill>
                  <a:srgbClr val="FFFFFF"/>
                </a:solidFill>
                <a:latin typeface="Aptos" panose="020B0004020202020204" pitchFamily="34" charset="0"/>
              </a:rPr>
              <a:t>Module Builder</a:t>
            </a:r>
          </a:p>
        </p:txBody>
      </p:sp>
      <p:sp>
        <p:nvSpPr>
          <p:cNvPr id="9" name="Slide-1-text-8">
            <a:extLst>
              <a:ext uri="{FF2B5EF4-FFF2-40B4-BE49-F238E27FC236}">
                <a16:creationId xmlns:a16="http://schemas.microsoft.com/office/drawing/2014/main" id="{F6BA43FC-6E0B-F08F-88DC-FE3103B01923}"/>
              </a:ext>
            </a:extLst>
          </p:cNvPr>
          <p:cNvSpPr txBox="1">
            <a:spLocks/>
          </p:cNvSpPr>
          <p:nvPr/>
        </p:nvSpPr>
        <p:spPr>
          <a:xfrm>
            <a:off x="685800" y="2438399"/>
            <a:ext cx="10287000" cy="939800"/>
          </a:xfrm>
          <a:prstGeom prst="rect">
            <a:avLst/>
          </a:prstGeom>
          <a:noFill/>
        </p:spPr>
        <p:txBody>
          <a:bodyPr vert="horz" wrap="square" lIns="0" tIns="0" rIns="0" bIns="0" rtlCol="0">
            <a:noAutofit/>
          </a:bodyPr>
          <a:lstStyle/>
          <a:p>
            <a:pPr>
              <a:spcAft>
                <a:spcPts val="500"/>
              </a:spcAft>
            </a:pPr>
            <a:r>
              <a:rPr lang="en-GB" sz="2800">
                <a:solidFill>
                  <a:srgbClr val="C6D4D7"/>
                </a:solidFill>
                <a:latin typeface="Aptos" panose="020B0004020202020204" pitchFamily="34" charset="0"/>
              </a:rPr>
              <a:t>From fixed capabilities to an open extension platform</a:t>
            </a:r>
            <a:endParaRPr lang="sv-SE" sz="2800">
              <a:solidFill>
                <a:srgbClr val="C6D4D7"/>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8ED1B81F-D74D-DA42-CDB5-D610608C5E62}"/>
              </a:ext>
            </a:extLst>
          </p:cNvPr>
          <p:cNvSpPr/>
          <p:nvPr/>
        </p:nvSpPr>
        <p:spPr>
          <a:xfrm>
            <a:off x="660400" y="3810000"/>
            <a:ext cx="5308600" cy="1993900"/>
          </a:xfrm>
          <a:prstGeom prst="roundRect">
            <a:avLst>
              <a:gd name="adj" fmla="val 8000"/>
            </a:avLst>
          </a:prstGeom>
          <a:solidFill>
            <a:srgbClr val="203D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96222B26-FD4D-0319-B43F-942A237A4A2C}"/>
              </a:ext>
            </a:extLst>
          </p:cNvPr>
          <p:cNvSpPr/>
          <p:nvPr/>
        </p:nvSpPr>
        <p:spPr>
          <a:xfrm>
            <a:off x="889000" y="4038600"/>
            <a:ext cx="330200" cy="50800"/>
          </a:xfrm>
          <a:prstGeom prst="rect">
            <a:avLst/>
          </a:prstGeom>
          <a:solidFill>
            <a:srgbClr val="FFB3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1-text-11">
            <a:extLst>
              <a:ext uri="{FF2B5EF4-FFF2-40B4-BE49-F238E27FC236}">
                <a16:creationId xmlns:a16="http://schemas.microsoft.com/office/drawing/2014/main" id="{05C2E7CD-37C0-C732-0AF0-DBC0B7D6B39C}"/>
              </a:ext>
            </a:extLst>
          </p:cNvPr>
          <p:cNvSpPr txBox="1">
            <a:spLocks/>
          </p:cNvSpPr>
          <p:nvPr/>
        </p:nvSpPr>
        <p:spPr>
          <a:xfrm>
            <a:off x="889000" y="4254499"/>
            <a:ext cx="4851400" cy="609600"/>
          </a:xfrm>
          <a:prstGeom prst="rect">
            <a:avLst/>
          </a:prstGeom>
          <a:noFill/>
        </p:spPr>
        <p:txBody>
          <a:bodyPr vert="horz" wrap="square" lIns="0" tIns="0" rIns="0" bIns="0" rtlCol="0">
            <a:noAutofit/>
          </a:bodyPr>
          <a:lstStyle/>
          <a:p>
            <a:r>
              <a:rPr lang="sv-SE" sz="2200" b="1">
                <a:solidFill>
                  <a:srgbClr val="FFFFFF"/>
                </a:solidFill>
                <a:latin typeface="Aptos" panose="020B0004020202020204" pitchFamily="34" charset="0"/>
              </a:rPr>
              <a:t>The direction</a:t>
            </a:r>
          </a:p>
        </p:txBody>
      </p:sp>
      <p:sp>
        <p:nvSpPr>
          <p:cNvPr id="13" name="Slide-1-text-12">
            <a:extLst>
              <a:ext uri="{FF2B5EF4-FFF2-40B4-BE49-F238E27FC236}">
                <a16:creationId xmlns:a16="http://schemas.microsoft.com/office/drawing/2014/main" id="{75B55226-666B-09DE-D6EE-D2202DD069B1}"/>
              </a:ext>
            </a:extLst>
          </p:cNvPr>
          <p:cNvSpPr txBox="1">
            <a:spLocks/>
          </p:cNvSpPr>
          <p:nvPr/>
        </p:nvSpPr>
        <p:spPr>
          <a:xfrm>
            <a:off x="889000" y="4978399"/>
            <a:ext cx="4851400" cy="609600"/>
          </a:xfrm>
          <a:prstGeom prst="rect">
            <a:avLst/>
          </a:prstGeom>
          <a:noFill/>
        </p:spPr>
        <p:txBody>
          <a:bodyPr vert="horz" wrap="square" lIns="0" tIns="0" rIns="0" bIns="0" rtlCol="0">
            <a:noAutofit/>
          </a:bodyPr>
          <a:lstStyle/>
          <a:p>
            <a:pPr>
              <a:spcAft>
                <a:spcPts val="500"/>
              </a:spcAft>
            </a:pPr>
            <a:r>
              <a:rPr lang="en-GB" sz="1650">
                <a:solidFill>
                  <a:srgbClr val="C6D4D7"/>
                </a:solidFill>
                <a:latin typeface="Aptos" panose="020B0004020202020204" pitchFamily="34" charset="0"/>
              </a:rPr>
              <a:t>Hardware agent + device setup + workflow blocks</a:t>
            </a:r>
            <a:endParaRPr lang="sv-SE" sz="1650">
              <a:solidFill>
                <a:srgbClr val="C6D4D7"/>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8910C9F1-703E-4948-B8C0-2F203BD9E82F}"/>
              </a:ext>
            </a:extLst>
          </p:cNvPr>
          <p:cNvSpPr/>
          <p:nvPr/>
        </p:nvSpPr>
        <p:spPr>
          <a:xfrm>
            <a:off x="6223000" y="3810000"/>
            <a:ext cx="5308600" cy="1993900"/>
          </a:xfrm>
          <a:prstGeom prst="roundRect">
            <a:avLst>
              <a:gd name="adj" fmla="val 8000"/>
            </a:avLst>
          </a:prstGeom>
          <a:solidFill>
            <a:srgbClr val="203D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158578EC-4B39-F16D-A9CF-372017638D4F}"/>
              </a:ext>
            </a:extLst>
          </p:cNvPr>
          <p:cNvSpPr/>
          <p:nvPr/>
        </p:nvSpPr>
        <p:spPr>
          <a:xfrm>
            <a:off x="6451600" y="4038600"/>
            <a:ext cx="330200" cy="50800"/>
          </a:xfrm>
          <a:prstGeom prst="rect">
            <a:avLst/>
          </a:prstGeom>
          <a:solidFill>
            <a:srgbClr val="FFB3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1-text-15">
            <a:extLst>
              <a:ext uri="{FF2B5EF4-FFF2-40B4-BE49-F238E27FC236}">
                <a16:creationId xmlns:a16="http://schemas.microsoft.com/office/drawing/2014/main" id="{79605EF5-894E-1439-BF00-C50A1BC58EDA}"/>
              </a:ext>
            </a:extLst>
          </p:cNvPr>
          <p:cNvSpPr txBox="1">
            <a:spLocks/>
          </p:cNvSpPr>
          <p:nvPr/>
        </p:nvSpPr>
        <p:spPr>
          <a:xfrm>
            <a:off x="6451600" y="4254499"/>
            <a:ext cx="4851400" cy="609600"/>
          </a:xfrm>
          <a:prstGeom prst="rect">
            <a:avLst/>
          </a:prstGeom>
          <a:noFill/>
        </p:spPr>
        <p:txBody>
          <a:bodyPr vert="horz" wrap="square" lIns="0" tIns="0" rIns="0" bIns="0" rtlCol="0">
            <a:noAutofit/>
          </a:bodyPr>
          <a:lstStyle/>
          <a:p>
            <a:r>
              <a:rPr lang="sv-SE" sz="2200" b="1">
                <a:solidFill>
                  <a:srgbClr val="FFFFFF"/>
                </a:solidFill>
                <a:latin typeface="Aptos" panose="020B0004020202020204" pitchFamily="34" charset="0"/>
              </a:rPr>
              <a:t>The first proof</a:t>
            </a:r>
          </a:p>
        </p:txBody>
      </p:sp>
      <p:sp>
        <p:nvSpPr>
          <p:cNvPr id="17" name="Slide-1-text-16">
            <a:extLst>
              <a:ext uri="{FF2B5EF4-FFF2-40B4-BE49-F238E27FC236}">
                <a16:creationId xmlns:a16="http://schemas.microsoft.com/office/drawing/2014/main" id="{5DA3BDEE-A149-56DA-B8C4-8CE56847F300}"/>
              </a:ext>
            </a:extLst>
          </p:cNvPr>
          <p:cNvSpPr txBox="1">
            <a:spLocks/>
          </p:cNvSpPr>
          <p:nvPr/>
        </p:nvSpPr>
        <p:spPr>
          <a:xfrm>
            <a:off x="6451600" y="4978399"/>
            <a:ext cx="4851400" cy="609600"/>
          </a:xfrm>
          <a:prstGeom prst="rect">
            <a:avLst/>
          </a:prstGeom>
          <a:noFill/>
        </p:spPr>
        <p:txBody>
          <a:bodyPr vert="horz" wrap="square" lIns="0" tIns="0" rIns="0" bIns="0" rtlCol="0">
            <a:noAutofit/>
          </a:bodyPr>
          <a:lstStyle/>
          <a:p>
            <a:pPr>
              <a:spcAft>
                <a:spcPts val="500"/>
              </a:spcAft>
            </a:pPr>
            <a:r>
              <a:rPr lang="en-GB" sz="1650">
                <a:solidFill>
                  <a:srgbClr val="C6D4D7"/>
                </a:solidFill>
                <a:latin typeface="Aptos" panose="020B0004020202020204" pitchFamily="34" charset="0"/>
              </a:rPr>
              <a:t>Remove an existing capability. Download it. Restore it.</a:t>
            </a:r>
            <a:endParaRPr lang="sv-SE" sz="1650">
              <a:solidFill>
                <a:srgbClr val="C6D4D7"/>
              </a:solidFill>
              <a:latin typeface="Aptos" panose="020B0004020202020204" pitchFamily="34" charset="0"/>
            </a:endParaRPr>
          </a:p>
        </p:txBody>
      </p:sp>
    </p:spTree>
    <p:extLst>
      <p:ext uri="{BB962C8B-B14F-4D97-AF65-F5344CB8AC3E}">
        <p14:creationId xmlns:p14="http://schemas.microsoft.com/office/powerpoint/2010/main" val="4212207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4A7C15-5726-70BC-6BE6-27B74B80613D}"/>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2-text-2">
            <a:extLst>
              <a:ext uri="{FF2B5EF4-FFF2-40B4-BE49-F238E27FC236}">
                <a16:creationId xmlns:a16="http://schemas.microsoft.com/office/drawing/2014/main" id="{B9B1336C-E92F-64FB-95F3-265D12C25B53}"/>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THE PROBLEM</a:t>
            </a:r>
          </a:p>
        </p:txBody>
      </p:sp>
      <p:sp>
        <p:nvSpPr>
          <p:cNvPr id="4" name="Slide-2-text-3">
            <a:extLst>
              <a:ext uri="{FF2B5EF4-FFF2-40B4-BE49-F238E27FC236}">
                <a16:creationId xmlns:a16="http://schemas.microsoft.com/office/drawing/2014/main" id="{1D1D35AE-6606-7EBC-D107-2EE2C5DA7852}"/>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6E8F8FB1-637A-6240-225D-DFE35FC3FBF1}"/>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2-text-5">
            <a:extLst>
              <a:ext uri="{FF2B5EF4-FFF2-40B4-BE49-F238E27FC236}">
                <a16:creationId xmlns:a16="http://schemas.microsoft.com/office/drawing/2014/main" id="{2BFD2938-F80A-724B-C6E9-D033375E83D8}"/>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Every new choice should arrive as an installable package.</a:t>
            </a:r>
            <a:endParaRPr lang="sv-SE" sz="1500" b="1">
              <a:solidFill>
                <a:srgbClr val="087F75"/>
              </a:solidFill>
              <a:latin typeface="Aptos" panose="020B0004020202020204" pitchFamily="34" charset="0"/>
            </a:endParaRPr>
          </a:p>
        </p:txBody>
      </p:sp>
      <p:sp>
        <p:nvSpPr>
          <p:cNvPr id="7" name="Slide-2-text-6">
            <a:extLst>
              <a:ext uri="{FF2B5EF4-FFF2-40B4-BE49-F238E27FC236}">
                <a16:creationId xmlns:a16="http://schemas.microsoft.com/office/drawing/2014/main" id="{F92FDAB6-1138-A2B0-444A-7F1C26752139}"/>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02 / 22</a:t>
            </a:r>
          </a:p>
        </p:txBody>
      </p:sp>
      <p:sp>
        <p:nvSpPr>
          <p:cNvPr id="8" name="Slide-2-text-7">
            <a:extLst>
              <a:ext uri="{FF2B5EF4-FFF2-40B4-BE49-F238E27FC236}">
                <a16:creationId xmlns:a16="http://schemas.microsoft.com/office/drawing/2014/main" id="{4A4AE20C-E543-B5CA-4EEF-8D30B207CF8A}"/>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Adding capabilities currently means changing the app</a:t>
            </a:r>
            <a:endParaRPr lang="sv-SE" sz="3400" b="1">
              <a:solidFill>
                <a:srgbClr val="142D3A"/>
              </a:solidFill>
              <a:latin typeface="Aptos" panose="020B0004020202020204" pitchFamily="34" charset="0"/>
            </a:endParaRPr>
          </a:p>
        </p:txBody>
      </p:sp>
      <p:sp>
        <p:nvSpPr>
          <p:cNvPr id="9" name="Slide-2-text-8">
            <a:extLst>
              <a:ext uri="{FF2B5EF4-FFF2-40B4-BE49-F238E27FC236}">
                <a16:creationId xmlns:a16="http://schemas.microsoft.com/office/drawing/2014/main" id="{0ED1698F-A65E-DED6-2BDD-05C3A8C59D2A}"/>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Hardware, device setup, and workflows are defined across compiled frontend and backend code.</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F43B44CD-5DCA-55AD-DFC0-16FE55B0C53C}"/>
              </a:ext>
            </a:extLst>
          </p:cNvPr>
          <p:cNvSpPr/>
          <p:nvPr/>
        </p:nvSpPr>
        <p:spPr>
          <a:xfrm>
            <a:off x="6604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24353CAC-9865-9FEA-538A-39229F683A28}"/>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2-text-11">
            <a:extLst>
              <a:ext uri="{FF2B5EF4-FFF2-40B4-BE49-F238E27FC236}">
                <a16:creationId xmlns:a16="http://schemas.microsoft.com/office/drawing/2014/main" id="{46F122B3-A741-8553-C1EB-E98F949302CE}"/>
              </a:ext>
            </a:extLst>
          </p:cNvPr>
          <p:cNvSpPr txBox="1">
            <a:spLocks/>
          </p:cNvSpPr>
          <p:nvPr/>
        </p:nvSpPr>
        <p:spPr>
          <a:xfrm>
            <a:off x="8890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Hardware support</a:t>
            </a:r>
          </a:p>
        </p:txBody>
      </p:sp>
      <p:sp>
        <p:nvSpPr>
          <p:cNvPr id="13" name="Slide-2-text-12">
            <a:extLst>
              <a:ext uri="{FF2B5EF4-FFF2-40B4-BE49-F238E27FC236}">
                <a16:creationId xmlns:a16="http://schemas.microsoft.com/office/drawing/2014/main" id="{F503CD88-94DE-9F0B-6AA2-F07C092573CC}"/>
              </a:ext>
            </a:extLst>
          </p:cNvPr>
          <p:cNvSpPr txBox="1">
            <a:spLocks/>
          </p:cNvSpPr>
          <p:nvPr/>
        </p:nvSpPr>
        <p:spPr>
          <a:xfrm>
            <a:off x="8890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Fixed capability branches for Camera, GPIO, Sensors, and MQTT.</a:t>
            </a:r>
            <a:endParaRPr lang="sv-SE">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058B3297-41AB-2204-CA70-DDBF2B09CEF0}"/>
              </a:ext>
            </a:extLst>
          </p:cNvPr>
          <p:cNvSpPr/>
          <p:nvPr/>
        </p:nvSpPr>
        <p:spPr>
          <a:xfrm>
            <a:off x="43688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82160425-7902-201E-70EC-1B901B6B1961}"/>
              </a:ext>
            </a:extLst>
          </p:cNvPr>
          <p:cNvSpPr/>
          <p:nvPr/>
        </p:nvSpPr>
        <p:spPr>
          <a:xfrm>
            <a:off x="45974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2-text-15">
            <a:extLst>
              <a:ext uri="{FF2B5EF4-FFF2-40B4-BE49-F238E27FC236}">
                <a16:creationId xmlns:a16="http://schemas.microsoft.com/office/drawing/2014/main" id="{88D296D6-CD5E-E71F-ACDD-75EB2D83689D}"/>
              </a:ext>
            </a:extLst>
          </p:cNvPr>
          <p:cNvSpPr txBox="1">
            <a:spLocks/>
          </p:cNvSpPr>
          <p:nvPr/>
        </p:nvSpPr>
        <p:spPr>
          <a:xfrm>
            <a:off x="45974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Device setup</a:t>
            </a:r>
          </a:p>
        </p:txBody>
      </p:sp>
      <p:sp>
        <p:nvSpPr>
          <p:cNvPr id="17" name="Slide-2-text-16">
            <a:extLst>
              <a:ext uri="{FF2B5EF4-FFF2-40B4-BE49-F238E27FC236}">
                <a16:creationId xmlns:a16="http://schemas.microsoft.com/office/drawing/2014/main" id="{A3FE0668-5B04-73EA-86C2-143EDE7D5B6B}"/>
              </a:ext>
            </a:extLst>
          </p:cNvPr>
          <p:cNvSpPr txBox="1">
            <a:spLocks/>
          </p:cNvSpPr>
          <p:nvPr/>
        </p:nvSpPr>
        <p:spPr>
          <a:xfrm>
            <a:off x="45974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Templates, forms, wizard choices, and guides are compiled into the app.</a:t>
            </a:r>
            <a:endParaRPr lang="sv-SE">
              <a:solidFill>
                <a:srgbClr val="536873"/>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8E73D759-DF4B-5CC1-E3AC-4D718731F585}"/>
              </a:ext>
            </a:extLst>
          </p:cNvPr>
          <p:cNvSpPr/>
          <p:nvPr/>
        </p:nvSpPr>
        <p:spPr>
          <a:xfrm>
            <a:off x="80772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a:extLst>
              <a:ext uri="{FF2B5EF4-FFF2-40B4-BE49-F238E27FC236}">
                <a16:creationId xmlns:a16="http://schemas.microsoft.com/office/drawing/2014/main" id="{D6F06E84-225D-6EEB-5DD6-C860B07E64DC}"/>
              </a:ext>
            </a:extLst>
          </p:cNvPr>
          <p:cNvSpPr/>
          <p:nvPr/>
        </p:nvSpPr>
        <p:spPr>
          <a:xfrm>
            <a:off x="83058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Slide-2-text-19">
            <a:extLst>
              <a:ext uri="{FF2B5EF4-FFF2-40B4-BE49-F238E27FC236}">
                <a16:creationId xmlns:a16="http://schemas.microsoft.com/office/drawing/2014/main" id="{20D606DB-0A98-0CF5-3539-2C23B3B445AA}"/>
              </a:ext>
            </a:extLst>
          </p:cNvPr>
          <p:cNvSpPr txBox="1">
            <a:spLocks/>
          </p:cNvSpPr>
          <p:nvPr/>
        </p:nvSpPr>
        <p:spPr>
          <a:xfrm>
            <a:off x="83058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Workflow blocks</a:t>
            </a:r>
          </a:p>
        </p:txBody>
      </p:sp>
      <p:sp>
        <p:nvSpPr>
          <p:cNvPr id="21" name="Slide-2-text-20">
            <a:extLst>
              <a:ext uri="{FF2B5EF4-FFF2-40B4-BE49-F238E27FC236}">
                <a16:creationId xmlns:a16="http://schemas.microsoft.com/office/drawing/2014/main" id="{88AFA523-A719-CB05-C64D-6F3CE2FFFE60}"/>
              </a:ext>
            </a:extLst>
          </p:cNvPr>
          <p:cNvSpPr txBox="1">
            <a:spLocks/>
          </p:cNvSpPr>
          <p:nvPr/>
        </p:nvSpPr>
        <p:spPr>
          <a:xfrm>
            <a:off x="83058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Types, configuration, validation, presentation, and execution use fixed mappings.</a:t>
            </a:r>
            <a:endParaRPr lang="sv-SE">
              <a:solidFill>
                <a:srgbClr val="536873"/>
              </a:solidFill>
              <a:latin typeface="Aptos" panose="020B0004020202020204" pitchFamily="34" charset="0"/>
            </a:endParaRPr>
          </a:p>
        </p:txBody>
      </p:sp>
    </p:spTree>
    <p:extLst>
      <p:ext uri="{BB962C8B-B14F-4D97-AF65-F5344CB8AC3E}">
        <p14:creationId xmlns:p14="http://schemas.microsoft.com/office/powerpoint/2010/main" val="3577790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1DBF36-F50B-26C1-16D9-357C8EC5A4BA}"/>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3-text-2">
            <a:extLst>
              <a:ext uri="{FF2B5EF4-FFF2-40B4-BE49-F238E27FC236}">
                <a16:creationId xmlns:a16="http://schemas.microsoft.com/office/drawing/2014/main" id="{0BF1C9AC-13A8-C2F7-62E9-4EF54FFD3B7C}"/>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THE PRODUCT MODEL</a:t>
            </a:r>
          </a:p>
        </p:txBody>
      </p:sp>
      <p:sp>
        <p:nvSpPr>
          <p:cNvPr id="4" name="Slide-3-text-3">
            <a:extLst>
              <a:ext uri="{FF2B5EF4-FFF2-40B4-BE49-F238E27FC236}">
                <a16:creationId xmlns:a16="http://schemas.microsoft.com/office/drawing/2014/main" id="{182A84F0-79A2-8BC6-3016-EF325131C5F5}"/>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C4575546-2D33-3522-5847-5781E47A6FDA}"/>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3-text-5">
            <a:extLst>
              <a:ext uri="{FF2B5EF4-FFF2-40B4-BE49-F238E27FC236}">
                <a16:creationId xmlns:a16="http://schemas.microsoft.com/office/drawing/2014/main" id="{87A0DA4E-D319-3686-0839-8F5313B44486}"/>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Definitions, executable behavior, guides, and examples travel together.</a:t>
            </a:r>
            <a:endParaRPr lang="sv-SE" sz="1500" b="1">
              <a:solidFill>
                <a:srgbClr val="087F75"/>
              </a:solidFill>
              <a:latin typeface="Aptos" panose="020B0004020202020204" pitchFamily="34" charset="0"/>
            </a:endParaRPr>
          </a:p>
        </p:txBody>
      </p:sp>
      <p:sp>
        <p:nvSpPr>
          <p:cNvPr id="7" name="Slide-3-text-6">
            <a:extLst>
              <a:ext uri="{FF2B5EF4-FFF2-40B4-BE49-F238E27FC236}">
                <a16:creationId xmlns:a16="http://schemas.microsoft.com/office/drawing/2014/main" id="{32B1AC16-2DCE-C1D8-C869-E9394359D432}"/>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03 / 22</a:t>
            </a:r>
          </a:p>
        </p:txBody>
      </p:sp>
      <p:sp>
        <p:nvSpPr>
          <p:cNvPr id="8" name="Slide-3-text-7">
            <a:extLst>
              <a:ext uri="{FF2B5EF4-FFF2-40B4-BE49-F238E27FC236}">
                <a16:creationId xmlns:a16="http://schemas.microsoft.com/office/drawing/2014/main" id="{A160B0CA-3A25-23F9-7943-A17D89FCC0EF}"/>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One module can connect the whole experience</a:t>
            </a:r>
            <a:endParaRPr lang="sv-SE" sz="3400" b="1">
              <a:solidFill>
                <a:srgbClr val="142D3A"/>
              </a:solidFill>
              <a:latin typeface="Aptos" panose="020B0004020202020204" pitchFamily="34" charset="0"/>
            </a:endParaRPr>
          </a:p>
        </p:txBody>
      </p:sp>
      <p:sp>
        <p:nvSpPr>
          <p:cNvPr id="9" name="Slide-3-text-8">
            <a:extLst>
              <a:ext uri="{FF2B5EF4-FFF2-40B4-BE49-F238E27FC236}">
                <a16:creationId xmlns:a16="http://schemas.microsoft.com/office/drawing/2014/main" id="{42855A50-5835-D8C5-9878-50AFBC98FF27}"/>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A package may contribute one feature or a complete device-to-workflow experience.</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80A49F76-34DA-0A4C-5E11-971F398A491C}"/>
              </a:ext>
            </a:extLst>
          </p:cNvPr>
          <p:cNvSpPr/>
          <p:nvPr/>
        </p:nvSpPr>
        <p:spPr>
          <a:xfrm>
            <a:off x="6604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A003DCB8-BAA8-9542-B010-ECF52D228EF1}"/>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3-text-11">
            <a:extLst>
              <a:ext uri="{FF2B5EF4-FFF2-40B4-BE49-F238E27FC236}">
                <a16:creationId xmlns:a16="http://schemas.microsoft.com/office/drawing/2014/main" id="{12DFC1DF-E146-9E11-211F-7F8F7D98238B}"/>
              </a:ext>
            </a:extLst>
          </p:cNvPr>
          <p:cNvSpPr txBox="1">
            <a:spLocks/>
          </p:cNvSpPr>
          <p:nvPr/>
        </p:nvSpPr>
        <p:spPr>
          <a:xfrm>
            <a:off x="8890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Hardware adapter</a:t>
            </a:r>
          </a:p>
        </p:txBody>
      </p:sp>
      <p:sp>
        <p:nvSpPr>
          <p:cNvPr id="13" name="Slide-3-text-12">
            <a:extLst>
              <a:ext uri="{FF2B5EF4-FFF2-40B4-BE49-F238E27FC236}">
                <a16:creationId xmlns:a16="http://schemas.microsoft.com/office/drawing/2014/main" id="{09AF3D51-7F7C-AB76-0A80-26B23EDC924D}"/>
              </a:ext>
            </a:extLst>
          </p:cNvPr>
          <p:cNvSpPr txBox="1">
            <a:spLocks/>
          </p:cNvSpPr>
          <p:nvPr/>
        </p:nvSpPr>
        <p:spPr>
          <a:xfrm>
            <a:off x="8890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Read a sensor, operate a device, or expose events.</a:t>
            </a:r>
            <a:endParaRPr lang="sv-SE">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4296C667-4C6E-401C-F4E4-96D7610314FB}"/>
              </a:ext>
            </a:extLst>
          </p:cNvPr>
          <p:cNvSpPr/>
          <p:nvPr/>
        </p:nvSpPr>
        <p:spPr>
          <a:xfrm>
            <a:off x="4368800" y="3048000"/>
            <a:ext cx="3454400" cy="2794000"/>
          </a:xfrm>
          <a:prstGeom prst="roundRect">
            <a:avLst>
              <a:gd name="adj" fmla="val 8000"/>
            </a:avLst>
          </a:prstGeom>
          <a:solidFill>
            <a:srgbClr val="CDEBDC"/>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254B03D4-C52D-A268-3B10-87B10CC728CD}"/>
              </a:ext>
            </a:extLst>
          </p:cNvPr>
          <p:cNvSpPr/>
          <p:nvPr/>
        </p:nvSpPr>
        <p:spPr>
          <a:xfrm>
            <a:off x="45974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3-text-15">
            <a:extLst>
              <a:ext uri="{FF2B5EF4-FFF2-40B4-BE49-F238E27FC236}">
                <a16:creationId xmlns:a16="http://schemas.microsoft.com/office/drawing/2014/main" id="{78CEE979-71C5-0F08-29C6-0B62F1D90148}"/>
              </a:ext>
            </a:extLst>
          </p:cNvPr>
          <p:cNvSpPr txBox="1">
            <a:spLocks/>
          </p:cNvSpPr>
          <p:nvPr/>
        </p:nvSpPr>
        <p:spPr>
          <a:xfrm>
            <a:off x="45974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Device setup</a:t>
            </a:r>
          </a:p>
        </p:txBody>
      </p:sp>
      <p:sp>
        <p:nvSpPr>
          <p:cNvPr id="17" name="Slide-3-text-16">
            <a:extLst>
              <a:ext uri="{FF2B5EF4-FFF2-40B4-BE49-F238E27FC236}">
                <a16:creationId xmlns:a16="http://schemas.microsoft.com/office/drawing/2014/main" id="{FCE96A45-F7DD-29A2-F956-EAD11BE965AB}"/>
              </a:ext>
            </a:extLst>
          </p:cNvPr>
          <p:cNvSpPr txBox="1">
            <a:spLocks/>
          </p:cNvSpPr>
          <p:nvPr/>
        </p:nvSpPr>
        <p:spPr>
          <a:xfrm>
            <a:off x="45974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Add a card, configuration fields, connection test, and guide.</a:t>
            </a:r>
            <a:endParaRPr lang="sv-SE">
              <a:solidFill>
                <a:srgbClr val="536873"/>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FA8A8D92-41A5-9C52-E73B-C3030E6B86A3}"/>
              </a:ext>
            </a:extLst>
          </p:cNvPr>
          <p:cNvSpPr/>
          <p:nvPr/>
        </p:nvSpPr>
        <p:spPr>
          <a:xfrm>
            <a:off x="80772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a:extLst>
              <a:ext uri="{FF2B5EF4-FFF2-40B4-BE49-F238E27FC236}">
                <a16:creationId xmlns:a16="http://schemas.microsoft.com/office/drawing/2014/main" id="{40EE5966-CF8C-FC23-9F45-29386EE80A36}"/>
              </a:ext>
            </a:extLst>
          </p:cNvPr>
          <p:cNvSpPr/>
          <p:nvPr/>
        </p:nvSpPr>
        <p:spPr>
          <a:xfrm>
            <a:off x="83058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Slide-3-text-19">
            <a:extLst>
              <a:ext uri="{FF2B5EF4-FFF2-40B4-BE49-F238E27FC236}">
                <a16:creationId xmlns:a16="http://schemas.microsoft.com/office/drawing/2014/main" id="{11B8A5A5-5256-BC8A-C9F9-72A8A2DABE1E}"/>
              </a:ext>
            </a:extLst>
          </p:cNvPr>
          <p:cNvSpPr txBox="1">
            <a:spLocks/>
          </p:cNvSpPr>
          <p:nvPr/>
        </p:nvSpPr>
        <p:spPr>
          <a:xfrm>
            <a:off x="83058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Workflow blocks</a:t>
            </a:r>
          </a:p>
        </p:txBody>
      </p:sp>
      <p:sp>
        <p:nvSpPr>
          <p:cNvPr id="21" name="Slide-3-text-20">
            <a:extLst>
              <a:ext uri="{FF2B5EF4-FFF2-40B4-BE49-F238E27FC236}">
                <a16:creationId xmlns:a16="http://schemas.microsoft.com/office/drawing/2014/main" id="{BCA1F84F-8543-2311-F55E-9C6769D80443}"/>
              </a:ext>
            </a:extLst>
          </p:cNvPr>
          <p:cNvSpPr txBox="1">
            <a:spLocks/>
          </p:cNvSpPr>
          <p:nvPr/>
        </p:nvSpPr>
        <p:spPr>
          <a:xfrm>
            <a:off x="83058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Add actions, data operations, triggers, and starter workflows.</a:t>
            </a:r>
            <a:endParaRPr lang="sv-SE">
              <a:solidFill>
                <a:srgbClr val="536873"/>
              </a:solidFill>
              <a:latin typeface="Aptos" panose="020B0004020202020204" pitchFamily="34" charset="0"/>
            </a:endParaRPr>
          </a:p>
        </p:txBody>
      </p:sp>
    </p:spTree>
    <p:extLst>
      <p:ext uri="{BB962C8B-B14F-4D97-AF65-F5344CB8AC3E}">
        <p14:creationId xmlns:p14="http://schemas.microsoft.com/office/powerpoint/2010/main" val="4173345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4B1713-5270-8A7B-7D51-C4E3B2E48F05}"/>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4-text-2">
            <a:extLst>
              <a:ext uri="{FF2B5EF4-FFF2-40B4-BE49-F238E27FC236}">
                <a16:creationId xmlns:a16="http://schemas.microsoft.com/office/drawing/2014/main" id="{84A3876C-5132-F4EE-59F9-EDBDEEEB0DEC}"/>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DECISION STATUS</a:t>
            </a:r>
          </a:p>
        </p:txBody>
      </p:sp>
      <p:sp>
        <p:nvSpPr>
          <p:cNvPr id="4" name="Slide-4-text-3">
            <a:extLst>
              <a:ext uri="{FF2B5EF4-FFF2-40B4-BE49-F238E27FC236}">
                <a16:creationId xmlns:a16="http://schemas.microsoft.com/office/drawing/2014/main" id="{EB600116-1E65-61D9-9091-B93B754DA45C}"/>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8EE0BDFE-4B12-1CB3-1C41-23C8BA557992}"/>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4-text-5">
            <a:extLst>
              <a:ext uri="{FF2B5EF4-FFF2-40B4-BE49-F238E27FC236}">
                <a16:creationId xmlns:a16="http://schemas.microsoft.com/office/drawing/2014/main" id="{3926EF65-ABE2-7A3A-0CCD-032906D811B8}"/>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Local freedom is agreed. Public-library policy still needs design.</a:t>
            </a:r>
            <a:endParaRPr lang="sv-SE" sz="1500" b="1">
              <a:solidFill>
                <a:srgbClr val="087F75"/>
              </a:solidFill>
              <a:latin typeface="Aptos" panose="020B0004020202020204" pitchFamily="34" charset="0"/>
            </a:endParaRPr>
          </a:p>
        </p:txBody>
      </p:sp>
      <p:sp>
        <p:nvSpPr>
          <p:cNvPr id="7" name="Slide-4-text-6">
            <a:extLst>
              <a:ext uri="{FF2B5EF4-FFF2-40B4-BE49-F238E27FC236}">
                <a16:creationId xmlns:a16="http://schemas.microsoft.com/office/drawing/2014/main" id="{AF396722-626D-9993-F07B-5573E5119987}"/>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04 / 22</a:t>
            </a:r>
          </a:p>
        </p:txBody>
      </p:sp>
      <p:sp>
        <p:nvSpPr>
          <p:cNvPr id="8" name="Slide-4-text-7">
            <a:extLst>
              <a:ext uri="{FF2B5EF4-FFF2-40B4-BE49-F238E27FC236}">
                <a16:creationId xmlns:a16="http://schemas.microsoft.com/office/drawing/2014/main" id="{92DDF2CA-6EAD-CAC3-FABE-603EB95B93C8}"/>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The direction is agreed; delivery details remain open</a:t>
            </a:r>
            <a:endParaRPr lang="sv-SE" sz="3400" b="1">
              <a:solidFill>
                <a:srgbClr val="142D3A"/>
              </a:solidFill>
              <a:latin typeface="Aptos" panose="020B0004020202020204" pitchFamily="34" charset="0"/>
            </a:endParaRPr>
          </a:p>
        </p:txBody>
      </p:sp>
      <p:sp>
        <p:nvSpPr>
          <p:cNvPr id="9" name="Slide-4-text-8">
            <a:extLst>
              <a:ext uri="{FF2B5EF4-FFF2-40B4-BE49-F238E27FC236}">
                <a16:creationId xmlns:a16="http://schemas.microsoft.com/office/drawing/2014/main" id="{01F16F04-4D59-B800-9525-C0233B533659}"/>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Keep the product ambition separate from unresolved operating choices.</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604264BF-CC92-ED08-30B5-51B4445ACF81}"/>
              </a:ext>
            </a:extLst>
          </p:cNvPr>
          <p:cNvSpPr/>
          <p:nvPr/>
        </p:nvSpPr>
        <p:spPr>
          <a:xfrm>
            <a:off x="660400" y="3048000"/>
            <a:ext cx="53086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0DE9C9DB-2800-D3E4-A7A3-CA8E3F9CCF39}"/>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4-text-11">
            <a:extLst>
              <a:ext uri="{FF2B5EF4-FFF2-40B4-BE49-F238E27FC236}">
                <a16:creationId xmlns:a16="http://schemas.microsoft.com/office/drawing/2014/main" id="{DB1B838B-35BE-ED08-2502-FBAF5E255C42}"/>
              </a:ext>
            </a:extLst>
          </p:cNvPr>
          <p:cNvSpPr txBox="1">
            <a:spLocks/>
          </p:cNvSpPr>
          <p:nvPr/>
        </p:nvSpPr>
        <p:spPr>
          <a:xfrm>
            <a:off x="889000" y="3492499"/>
            <a:ext cx="4851400" cy="609600"/>
          </a:xfrm>
          <a:prstGeom prst="rect">
            <a:avLst/>
          </a:prstGeom>
          <a:noFill/>
        </p:spPr>
        <p:txBody>
          <a:bodyPr vert="horz" wrap="square" lIns="0" tIns="0" rIns="0" bIns="0" rtlCol="0">
            <a:noAutofit/>
          </a:bodyPr>
          <a:lstStyle/>
          <a:p>
            <a:r>
              <a:rPr lang="sv-SE" sz="2200" b="1">
                <a:solidFill>
                  <a:srgbClr val="142D3A"/>
                </a:solidFill>
                <a:latin typeface="Aptos" panose="020B0004020202020204" pitchFamily="34" charset="0"/>
              </a:rPr>
              <a:t>Agreed direction</a:t>
            </a:r>
          </a:p>
        </p:txBody>
      </p:sp>
      <p:sp>
        <p:nvSpPr>
          <p:cNvPr id="13" name="Slide-4-text-12">
            <a:extLst>
              <a:ext uri="{FF2B5EF4-FFF2-40B4-BE49-F238E27FC236}">
                <a16:creationId xmlns:a16="http://schemas.microsoft.com/office/drawing/2014/main" id="{E6C5EE49-DE20-3C7F-7D04-E61EC138553B}"/>
              </a:ext>
            </a:extLst>
          </p:cNvPr>
          <p:cNvSpPr txBox="1">
            <a:spLocks/>
          </p:cNvSpPr>
          <p:nvPr/>
        </p:nvSpPr>
        <p:spPr>
          <a:xfrm>
            <a:off x="889000" y="4216399"/>
            <a:ext cx="4851400" cy="1409700"/>
          </a:xfrm>
          <a:prstGeom prst="rect">
            <a:avLst/>
          </a:prstGeom>
          <a:noFill/>
        </p:spPr>
        <p:txBody>
          <a:bodyPr vert="horz" wrap="square" lIns="0" tIns="0" rIns="0" bIns="0" rtlCol="0">
            <a:noAutofit/>
          </a:bodyPr>
          <a:lstStyle/>
          <a:p>
            <a:pPr>
              <a:spcAft>
                <a:spcPts val="500"/>
              </a:spcAft>
            </a:pPr>
            <a:r>
              <a:rPr lang="en-GB" sz="1550">
                <a:solidFill>
                  <a:srgbClr val="536873"/>
                </a:solidFill>
                <a:latin typeface="Aptos" panose="020B0004020202020204" pitchFamily="34" charset="0"/>
              </a:rPr>
              <a:t>Full host access, including the hardware agent.
Dynamic hardware, Devices, and workflow contributions.
Removable default packages and a real local demo library.
Local authoring; optional central publication.</a:t>
            </a:r>
            <a:endParaRPr lang="sv-SE" sz="1550">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5938E199-0201-F3F8-A5FF-DBBA85831165}"/>
              </a:ext>
            </a:extLst>
          </p:cNvPr>
          <p:cNvSpPr/>
          <p:nvPr/>
        </p:nvSpPr>
        <p:spPr>
          <a:xfrm>
            <a:off x="6223000" y="3048000"/>
            <a:ext cx="53086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1DF94098-7662-593E-9BA8-8D9471DAE89F}"/>
              </a:ext>
            </a:extLst>
          </p:cNvPr>
          <p:cNvSpPr/>
          <p:nvPr/>
        </p:nvSpPr>
        <p:spPr>
          <a:xfrm>
            <a:off x="64516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4-text-15">
            <a:extLst>
              <a:ext uri="{FF2B5EF4-FFF2-40B4-BE49-F238E27FC236}">
                <a16:creationId xmlns:a16="http://schemas.microsoft.com/office/drawing/2014/main" id="{C41CC997-FFDA-A093-F3E4-7F6E83535835}"/>
              </a:ext>
            </a:extLst>
          </p:cNvPr>
          <p:cNvSpPr txBox="1">
            <a:spLocks/>
          </p:cNvSpPr>
          <p:nvPr/>
        </p:nvSpPr>
        <p:spPr>
          <a:xfrm>
            <a:off x="6451600" y="3492499"/>
            <a:ext cx="4851400" cy="609600"/>
          </a:xfrm>
          <a:prstGeom prst="rect">
            <a:avLst/>
          </a:prstGeom>
          <a:noFill/>
        </p:spPr>
        <p:txBody>
          <a:bodyPr vert="horz" wrap="square" lIns="0" tIns="0" rIns="0" bIns="0" rtlCol="0">
            <a:noAutofit/>
          </a:bodyPr>
          <a:lstStyle/>
          <a:p>
            <a:r>
              <a:rPr lang="sv-SE" sz="2200" b="1">
                <a:solidFill>
                  <a:srgbClr val="142D3A"/>
                </a:solidFill>
                <a:latin typeface="Aptos" panose="020B0004020202020204" pitchFamily="34" charset="0"/>
              </a:rPr>
              <a:t>Still to define</a:t>
            </a:r>
          </a:p>
        </p:txBody>
      </p:sp>
      <p:sp>
        <p:nvSpPr>
          <p:cNvPr id="17" name="Slide-4-text-16">
            <a:extLst>
              <a:ext uri="{FF2B5EF4-FFF2-40B4-BE49-F238E27FC236}">
                <a16:creationId xmlns:a16="http://schemas.microsoft.com/office/drawing/2014/main" id="{84717A1D-D63A-90C5-7D3B-EA78CA083F66}"/>
              </a:ext>
            </a:extLst>
          </p:cNvPr>
          <p:cNvSpPr txBox="1">
            <a:spLocks/>
          </p:cNvSpPr>
          <p:nvPr/>
        </p:nvSpPr>
        <p:spPr>
          <a:xfrm>
            <a:off x="6451600" y="4216399"/>
            <a:ext cx="4851400" cy="1409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Runtime tooling and package boundaries.
Supported OS and architecture matrix.
Public publishing, review, and update policies.
Owners, cost, staffing, and delivery estimates.</a:t>
            </a:r>
            <a:endParaRPr lang="sv-SE" sz="1650">
              <a:solidFill>
                <a:srgbClr val="536873"/>
              </a:solidFill>
              <a:latin typeface="Aptos" panose="020B0004020202020204" pitchFamily="34" charset="0"/>
            </a:endParaRPr>
          </a:p>
        </p:txBody>
      </p:sp>
    </p:spTree>
    <p:extLst>
      <p:ext uri="{BB962C8B-B14F-4D97-AF65-F5344CB8AC3E}">
        <p14:creationId xmlns:p14="http://schemas.microsoft.com/office/powerpoint/2010/main" val="2698218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16234E-C30C-7ACC-28BF-567509405029}"/>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5-text-2">
            <a:extLst>
              <a:ext uri="{FF2B5EF4-FFF2-40B4-BE49-F238E27FC236}">
                <a16:creationId xmlns:a16="http://schemas.microsoft.com/office/drawing/2014/main" id="{D4927A67-5E1C-9DE8-7CDF-B29E6E0467A4}"/>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EXTERNAL PRECEDENTS</a:t>
            </a:r>
          </a:p>
        </p:txBody>
      </p:sp>
      <p:sp>
        <p:nvSpPr>
          <p:cNvPr id="4" name="Slide-5-text-3">
            <a:extLst>
              <a:ext uri="{FF2B5EF4-FFF2-40B4-BE49-F238E27FC236}">
                <a16:creationId xmlns:a16="http://schemas.microsoft.com/office/drawing/2014/main" id="{9BD62792-1A7D-2945-6B18-B14ABE76E83E}"/>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392C8684-137A-EC21-255E-42AD0A009EB2}"/>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5-text-5">
            <a:extLst>
              <a:ext uri="{FF2B5EF4-FFF2-40B4-BE49-F238E27FC236}">
                <a16:creationId xmlns:a16="http://schemas.microsoft.com/office/drawing/2014/main" id="{91E5FA8D-787A-001E-83AB-F67A9184DE35}"/>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Borrow contracts and lifecycle ideas; preserve our workflow semantics.</a:t>
            </a:r>
            <a:endParaRPr lang="sv-SE" sz="1500" b="1">
              <a:solidFill>
                <a:srgbClr val="087F75"/>
              </a:solidFill>
              <a:latin typeface="Aptos" panose="020B0004020202020204" pitchFamily="34" charset="0"/>
            </a:endParaRPr>
          </a:p>
        </p:txBody>
      </p:sp>
      <p:sp>
        <p:nvSpPr>
          <p:cNvPr id="7" name="Slide-5-text-6">
            <a:extLst>
              <a:ext uri="{FF2B5EF4-FFF2-40B4-BE49-F238E27FC236}">
                <a16:creationId xmlns:a16="http://schemas.microsoft.com/office/drawing/2014/main" id="{2F7055F2-37A4-CD78-72E2-456D29C286E9}"/>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05 / 22</a:t>
            </a:r>
          </a:p>
        </p:txBody>
      </p:sp>
      <p:sp>
        <p:nvSpPr>
          <p:cNvPr id="8" name="Slide-5-text-7">
            <a:extLst>
              <a:ext uri="{FF2B5EF4-FFF2-40B4-BE49-F238E27FC236}">
                <a16:creationId xmlns:a16="http://schemas.microsoft.com/office/drawing/2014/main" id="{27227302-D031-C005-607C-567163DC7AE6}"/>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Established platforms offer useful patterns</a:t>
            </a:r>
            <a:endParaRPr lang="sv-SE" sz="3400" b="1">
              <a:solidFill>
                <a:srgbClr val="142D3A"/>
              </a:solidFill>
              <a:latin typeface="Aptos" panose="020B0004020202020204" pitchFamily="34" charset="0"/>
            </a:endParaRPr>
          </a:p>
        </p:txBody>
      </p:sp>
      <p:sp>
        <p:nvSpPr>
          <p:cNvPr id="9" name="Slide-5-text-8">
            <a:extLst>
              <a:ext uri="{FF2B5EF4-FFF2-40B4-BE49-F238E27FC236}">
                <a16:creationId xmlns:a16="http://schemas.microsoft.com/office/drawing/2014/main" id="{1EB2CB84-C325-3E69-462F-13F07F33B447}"/>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Use proven extension patterns while keeping Edge Studio's local and hardware focus.</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5B7F6D1D-462F-3620-2B3B-E06702D13B60}"/>
              </a:ext>
            </a:extLst>
          </p:cNvPr>
          <p:cNvSpPr/>
          <p:nvPr/>
        </p:nvSpPr>
        <p:spPr>
          <a:xfrm>
            <a:off x="6604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54C1E02D-F414-DBAB-1335-0B27FBF245B4}"/>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5-text-11">
            <a:extLst>
              <a:ext uri="{FF2B5EF4-FFF2-40B4-BE49-F238E27FC236}">
                <a16:creationId xmlns:a16="http://schemas.microsoft.com/office/drawing/2014/main" id="{7C0BF6AA-DA82-7681-FFE5-96F7E4E27458}"/>
              </a:ext>
            </a:extLst>
          </p:cNvPr>
          <p:cNvSpPr txBox="1">
            <a:spLocks/>
          </p:cNvSpPr>
          <p:nvPr/>
        </p:nvSpPr>
        <p:spPr>
          <a:xfrm>
            <a:off x="8890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Node-RED</a:t>
            </a:r>
          </a:p>
        </p:txBody>
      </p:sp>
      <p:sp>
        <p:nvSpPr>
          <p:cNvPr id="13" name="Slide-5-text-12">
            <a:extLst>
              <a:ext uri="{FF2B5EF4-FFF2-40B4-BE49-F238E27FC236}">
                <a16:creationId xmlns:a16="http://schemas.microsoft.com/office/drawing/2014/main" id="{3B8C62DD-E6D2-E462-1461-7F9E40216A18}"/>
              </a:ext>
            </a:extLst>
          </p:cNvPr>
          <p:cNvSpPr txBox="1">
            <a:spLocks/>
          </p:cNvSpPr>
          <p:nvPr/>
        </p:nvSpPr>
        <p:spPr>
          <a:xfrm>
            <a:off x="889000" y="4330699"/>
            <a:ext cx="2997200" cy="1295400"/>
          </a:xfrm>
          <a:prstGeom prst="rect">
            <a:avLst/>
          </a:prstGeom>
          <a:noFill/>
        </p:spPr>
        <p:txBody>
          <a:bodyPr vert="horz" wrap="square" lIns="0" tIns="0" rIns="0" bIns="0" rtlCol="0">
            <a:noAutofit/>
          </a:bodyPr>
          <a:lstStyle/>
          <a:p>
            <a:pPr>
              <a:spcAft>
                <a:spcPts val="500"/>
              </a:spcAft>
            </a:pPr>
            <a:r>
              <a:rPr lang="en-GB" sz="1600">
                <a:solidFill>
                  <a:srgbClr val="536873"/>
                </a:solidFill>
                <a:latin typeface="Aptos" panose="020B0004020202020204" pitchFamily="34" charset="0"/>
              </a:rPr>
              <a:t>Packages extend the node palette with behavior, editor resources, and examples.
Lesson: package the complete capability.</a:t>
            </a:r>
            <a:endParaRPr lang="sv-SE" sz="1600">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37C4A2FA-3E55-FFEF-3CFF-5A734DECE50F}"/>
              </a:ext>
            </a:extLst>
          </p:cNvPr>
          <p:cNvSpPr/>
          <p:nvPr/>
        </p:nvSpPr>
        <p:spPr>
          <a:xfrm>
            <a:off x="43688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F7F9D739-6786-5A0F-0C57-44815535E30F}"/>
              </a:ext>
            </a:extLst>
          </p:cNvPr>
          <p:cNvSpPr/>
          <p:nvPr/>
        </p:nvSpPr>
        <p:spPr>
          <a:xfrm>
            <a:off x="45974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5-text-15">
            <a:extLst>
              <a:ext uri="{FF2B5EF4-FFF2-40B4-BE49-F238E27FC236}">
                <a16:creationId xmlns:a16="http://schemas.microsoft.com/office/drawing/2014/main" id="{41A8AB08-0D38-B76A-C8D0-C6D20BBF8A59}"/>
              </a:ext>
            </a:extLst>
          </p:cNvPr>
          <p:cNvSpPr txBox="1">
            <a:spLocks/>
          </p:cNvSpPr>
          <p:nvPr/>
        </p:nvSpPr>
        <p:spPr>
          <a:xfrm>
            <a:off x="45974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Home Assistant</a:t>
            </a:r>
          </a:p>
        </p:txBody>
      </p:sp>
      <p:sp>
        <p:nvSpPr>
          <p:cNvPr id="17" name="Slide-5-text-16">
            <a:extLst>
              <a:ext uri="{FF2B5EF4-FFF2-40B4-BE49-F238E27FC236}">
                <a16:creationId xmlns:a16="http://schemas.microsoft.com/office/drawing/2014/main" id="{D6C99804-EDC4-BA2A-9B28-E767B45ABE38}"/>
              </a:ext>
            </a:extLst>
          </p:cNvPr>
          <p:cNvSpPr txBox="1">
            <a:spLocks/>
          </p:cNvSpPr>
          <p:nvPr/>
        </p:nvSpPr>
        <p:spPr>
          <a:xfrm>
            <a:off x="4597400" y="4330699"/>
            <a:ext cx="2997200" cy="1295400"/>
          </a:xfrm>
          <a:prstGeom prst="rect">
            <a:avLst/>
          </a:prstGeom>
          <a:noFill/>
        </p:spPr>
        <p:txBody>
          <a:bodyPr vert="horz" wrap="square" lIns="0" tIns="0" rIns="0" bIns="0" rtlCol="0">
            <a:noAutofit/>
          </a:bodyPr>
          <a:lstStyle/>
          <a:p>
            <a:pPr>
              <a:spcAft>
                <a:spcPts val="500"/>
              </a:spcAft>
            </a:pPr>
            <a:r>
              <a:rPr lang="en-GB" sz="1600">
                <a:solidFill>
                  <a:srgbClr val="536873"/>
                </a:solidFill>
                <a:latin typeface="Aptos" panose="020B0004020202020204" pitchFamily="34" charset="0"/>
              </a:rPr>
              <a:t>Integration manifests describe devices; separate apps declare runtime and host needs.
Lesson: distinguish device semantics from host operations.</a:t>
            </a:r>
            <a:endParaRPr lang="sv-SE" sz="1600">
              <a:solidFill>
                <a:srgbClr val="536873"/>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FF3E6952-9749-4270-8310-5520335D6699}"/>
              </a:ext>
            </a:extLst>
          </p:cNvPr>
          <p:cNvSpPr/>
          <p:nvPr/>
        </p:nvSpPr>
        <p:spPr>
          <a:xfrm>
            <a:off x="80772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a:extLst>
              <a:ext uri="{FF2B5EF4-FFF2-40B4-BE49-F238E27FC236}">
                <a16:creationId xmlns:a16="http://schemas.microsoft.com/office/drawing/2014/main" id="{8C8802EA-8A46-30C5-15E3-A6EA33E7C938}"/>
              </a:ext>
            </a:extLst>
          </p:cNvPr>
          <p:cNvSpPr/>
          <p:nvPr/>
        </p:nvSpPr>
        <p:spPr>
          <a:xfrm>
            <a:off x="83058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Slide-5-text-19">
            <a:extLst>
              <a:ext uri="{FF2B5EF4-FFF2-40B4-BE49-F238E27FC236}">
                <a16:creationId xmlns:a16="http://schemas.microsoft.com/office/drawing/2014/main" id="{FF85766E-F791-297A-0C18-88846458130A}"/>
              </a:ext>
            </a:extLst>
          </p:cNvPr>
          <p:cNvSpPr txBox="1">
            <a:spLocks/>
          </p:cNvSpPr>
          <p:nvPr/>
        </p:nvSpPr>
        <p:spPr>
          <a:xfrm>
            <a:off x="83058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VS Code</a:t>
            </a:r>
          </a:p>
        </p:txBody>
      </p:sp>
      <p:sp>
        <p:nvSpPr>
          <p:cNvPr id="21" name="Slide-5-text-20">
            <a:extLst>
              <a:ext uri="{FF2B5EF4-FFF2-40B4-BE49-F238E27FC236}">
                <a16:creationId xmlns:a16="http://schemas.microsoft.com/office/drawing/2014/main" id="{E4DFB2BF-175C-9033-70C7-AB4CC9828838}"/>
              </a:ext>
            </a:extLst>
          </p:cNvPr>
          <p:cNvSpPr txBox="1">
            <a:spLocks/>
          </p:cNvSpPr>
          <p:nvPr/>
        </p:nvSpPr>
        <p:spPr>
          <a:xfrm>
            <a:off x="8305800" y="4330699"/>
            <a:ext cx="2997200" cy="1295400"/>
          </a:xfrm>
          <a:prstGeom prst="rect">
            <a:avLst/>
          </a:prstGeom>
          <a:noFill/>
        </p:spPr>
        <p:txBody>
          <a:bodyPr vert="horz" wrap="square" lIns="0" tIns="0" rIns="0" bIns="0" rtlCol="0">
            <a:noAutofit/>
          </a:bodyPr>
          <a:lstStyle/>
          <a:p>
            <a:pPr>
              <a:spcAft>
                <a:spcPts val="500"/>
              </a:spcAft>
            </a:pPr>
            <a:r>
              <a:rPr lang="sv-SE" sz="1650">
                <a:solidFill>
                  <a:srgbClr val="536873"/>
                </a:solidFill>
                <a:latin typeface="Aptos" panose="020B0004020202020204" pitchFamily="34" charset="0"/>
              </a:rPr>
              <a:t>Manifests declare contributions; extension hosts execute code.
Lesson: stable contracts plus clear publisher trust.</a:t>
            </a:r>
          </a:p>
        </p:txBody>
      </p:sp>
    </p:spTree>
    <p:extLst>
      <p:ext uri="{BB962C8B-B14F-4D97-AF65-F5344CB8AC3E}">
        <p14:creationId xmlns:p14="http://schemas.microsoft.com/office/powerpoint/2010/main" val="3553218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2D3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869E-030B-D6E0-50B2-949690B9F5A3}"/>
              </a:ext>
            </a:extLst>
          </p:cNvPr>
          <p:cNvSpPr/>
          <p:nvPr/>
        </p:nvSpPr>
        <p:spPr>
          <a:xfrm>
            <a:off x="660400" y="368300"/>
            <a:ext cx="177800" cy="177800"/>
          </a:xfrm>
          <a:prstGeom prst="rect">
            <a:avLst/>
          </a:prstGeom>
          <a:solidFill>
            <a:srgbClr val="FFB3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6-text-2">
            <a:extLst>
              <a:ext uri="{FF2B5EF4-FFF2-40B4-BE49-F238E27FC236}">
                <a16:creationId xmlns:a16="http://schemas.microsoft.com/office/drawing/2014/main" id="{C74132FD-E5FC-BF43-9500-63AB4B3F7C8B}"/>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C6D4D7"/>
                </a:solidFill>
                <a:latin typeface="Aptos" panose="020B0004020202020204" pitchFamily="34" charset="0"/>
              </a:rPr>
              <a:t>AN INTENTIONAL PRODUCT CHOICE</a:t>
            </a:r>
          </a:p>
        </p:txBody>
      </p:sp>
      <p:sp>
        <p:nvSpPr>
          <p:cNvPr id="4" name="Slide-6-text-3">
            <a:extLst>
              <a:ext uri="{FF2B5EF4-FFF2-40B4-BE49-F238E27FC236}">
                <a16:creationId xmlns:a16="http://schemas.microsoft.com/office/drawing/2014/main" id="{5AFE31BA-E622-5A9B-C21C-3ABE8D889956}"/>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C6D4D7"/>
                </a:solidFill>
                <a:latin typeface="Aptos" panose="020B0004020202020204" pitchFamily="34" charset="0"/>
              </a:rPr>
              <a:t>EDGE STUDIO</a:t>
            </a:r>
          </a:p>
        </p:txBody>
      </p:sp>
      <p:sp>
        <p:nvSpPr>
          <p:cNvPr id="5" name="Rectangle 4">
            <a:extLst>
              <a:ext uri="{FF2B5EF4-FFF2-40B4-BE49-F238E27FC236}">
                <a16:creationId xmlns:a16="http://schemas.microsoft.com/office/drawing/2014/main" id="{9CB437D1-9C80-C2C3-3D85-89B9218546BF}"/>
              </a:ext>
            </a:extLst>
          </p:cNvPr>
          <p:cNvSpPr/>
          <p:nvPr/>
        </p:nvSpPr>
        <p:spPr>
          <a:xfrm>
            <a:off x="660400" y="6057900"/>
            <a:ext cx="10871200" cy="12700"/>
          </a:xfrm>
          <a:prstGeom prst="rect">
            <a:avLst/>
          </a:prstGeom>
          <a:solidFill>
            <a:srgbClr val="42606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6-text-5">
            <a:extLst>
              <a:ext uri="{FF2B5EF4-FFF2-40B4-BE49-F238E27FC236}">
                <a16:creationId xmlns:a16="http://schemas.microsoft.com/office/drawing/2014/main" id="{BA8901E9-8EE1-52CD-4B2E-ABEC1A416FC1}"/>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CDEBDC"/>
                </a:solidFill>
                <a:latin typeface="Aptos" panose="020B0004020202020204" pitchFamily="34" charset="0"/>
              </a:rPr>
              <a:t>Process separation improves operations; it does not constrain root-capable code.</a:t>
            </a:r>
            <a:endParaRPr lang="sv-SE" sz="1500" b="1">
              <a:solidFill>
                <a:srgbClr val="CDEBDC"/>
              </a:solidFill>
              <a:latin typeface="Aptos" panose="020B0004020202020204" pitchFamily="34" charset="0"/>
            </a:endParaRPr>
          </a:p>
        </p:txBody>
      </p:sp>
      <p:sp>
        <p:nvSpPr>
          <p:cNvPr id="7" name="Slide-6-text-6">
            <a:extLst>
              <a:ext uri="{FF2B5EF4-FFF2-40B4-BE49-F238E27FC236}">
                <a16:creationId xmlns:a16="http://schemas.microsoft.com/office/drawing/2014/main" id="{F678DA18-FACC-EF98-E56B-BEF4D9BC0F8B}"/>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C6D4D7"/>
                </a:solidFill>
                <a:latin typeface="Aptos" panose="020B0004020202020204" pitchFamily="34" charset="0"/>
              </a:rPr>
              <a:t>06 / 22</a:t>
            </a:r>
          </a:p>
        </p:txBody>
      </p:sp>
      <p:sp>
        <p:nvSpPr>
          <p:cNvPr id="8" name="Slide-6-text-7">
            <a:extLst>
              <a:ext uri="{FF2B5EF4-FFF2-40B4-BE49-F238E27FC236}">
                <a16:creationId xmlns:a16="http://schemas.microsoft.com/office/drawing/2014/main" id="{466C6BEB-E994-154F-5C48-830CA56EAD86}"/>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FFFFFF"/>
                </a:solidFill>
                <a:latin typeface="Aptos" panose="020B0004020202020204" pitchFamily="34" charset="0"/>
              </a:rPr>
              <a:t>Full host access means trusting host software</a:t>
            </a:r>
            <a:endParaRPr lang="sv-SE" sz="3400" b="1">
              <a:solidFill>
                <a:srgbClr val="FFFFFF"/>
              </a:solidFill>
              <a:latin typeface="Aptos" panose="020B0004020202020204" pitchFamily="34" charset="0"/>
            </a:endParaRPr>
          </a:p>
        </p:txBody>
      </p:sp>
      <p:sp>
        <p:nvSpPr>
          <p:cNvPr id="9" name="Slide-6-text-8">
            <a:extLst>
              <a:ext uri="{FF2B5EF4-FFF2-40B4-BE49-F238E27FC236}">
                <a16:creationId xmlns:a16="http://schemas.microsoft.com/office/drawing/2014/main" id="{19D82554-8123-5984-2731-E47DC7E682E3}"/>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C6D4D7"/>
                </a:solidFill>
                <a:latin typeface="Aptos" panose="020B0004020202020204" pitchFamily="34" charset="0"/>
              </a:rPr>
              <a:t>A module may run privileged code, install dependencies, and extend the hardware agent.</a:t>
            </a:r>
            <a:endParaRPr lang="sv-SE" sz="1850">
              <a:solidFill>
                <a:srgbClr val="C6D4D7"/>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EECB454F-A098-6DD9-8D77-977CCE1B5803}"/>
              </a:ext>
            </a:extLst>
          </p:cNvPr>
          <p:cNvSpPr/>
          <p:nvPr/>
        </p:nvSpPr>
        <p:spPr>
          <a:xfrm>
            <a:off x="660400" y="3048000"/>
            <a:ext cx="3454400" cy="2794000"/>
          </a:xfrm>
          <a:prstGeom prst="roundRect">
            <a:avLst>
              <a:gd name="adj" fmla="val 8000"/>
            </a:avLst>
          </a:prstGeom>
          <a:solidFill>
            <a:srgbClr val="203D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281E8999-285C-1CCA-FC93-0E2EDCCEC0ED}"/>
              </a:ext>
            </a:extLst>
          </p:cNvPr>
          <p:cNvSpPr/>
          <p:nvPr/>
        </p:nvSpPr>
        <p:spPr>
          <a:xfrm>
            <a:off x="889000" y="3276600"/>
            <a:ext cx="330200" cy="50800"/>
          </a:xfrm>
          <a:prstGeom prst="rect">
            <a:avLst/>
          </a:prstGeom>
          <a:solidFill>
            <a:srgbClr val="FFB3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6-text-11">
            <a:extLst>
              <a:ext uri="{FF2B5EF4-FFF2-40B4-BE49-F238E27FC236}">
                <a16:creationId xmlns:a16="http://schemas.microsoft.com/office/drawing/2014/main" id="{5C7C72D4-B4D5-A9F2-19B0-B61F55CF8B9A}"/>
              </a:ext>
            </a:extLst>
          </p:cNvPr>
          <p:cNvSpPr txBox="1">
            <a:spLocks/>
          </p:cNvSpPr>
          <p:nvPr/>
        </p:nvSpPr>
        <p:spPr>
          <a:xfrm>
            <a:off x="889000" y="3492499"/>
            <a:ext cx="2997200" cy="723900"/>
          </a:xfrm>
          <a:prstGeom prst="rect">
            <a:avLst/>
          </a:prstGeom>
          <a:noFill/>
        </p:spPr>
        <p:txBody>
          <a:bodyPr vert="horz" wrap="square" lIns="0" tIns="0" rIns="0" bIns="0" rtlCol="0">
            <a:noAutofit/>
          </a:bodyPr>
          <a:lstStyle/>
          <a:p>
            <a:r>
              <a:rPr lang="sv-SE" sz="2000" b="1">
                <a:solidFill>
                  <a:srgbClr val="FFFFFF"/>
                </a:solidFill>
                <a:latin typeface="Aptos" panose="020B0004020202020204" pitchFamily="34" charset="0"/>
              </a:rPr>
              <a:t>Freedom</a:t>
            </a:r>
          </a:p>
        </p:txBody>
      </p:sp>
      <p:sp>
        <p:nvSpPr>
          <p:cNvPr id="13" name="Slide-6-text-12">
            <a:extLst>
              <a:ext uri="{FF2B5EF4-FFF2-40B4-BE49-F238E27FC236}">
                <a16:creationId xmlns:a16="http://schemas.microsoft.com/office/drawing/2014/main" id="{C91D002C-7310-F5AF-DC21-11899F65B184}"/>
              </a:ext>
            </a:extLst>
          </p:cNvPr>
          <p:cNvSpPr txBox="1">
            <a:spLocks/>
          </p:cNvSpPr>
          <p:nvPr/>
        </p:nvSpPr>
        <p:spPr>
          <a:xfrm>
            <a:off x="889000" y="4330699"/>
            <a:ext cx="2997200" cy="1295400"/>
          </a:xfrm>
          <a:prstGeom prst="rect">
            <a:avLst/>
          </a:prstGeom>
          <a:noFill/>
        </p:spPr>
        <p:txBody>
          <a:bodyPr vert="horz" wrap="square" lIns="0" tIns="0" rIns="0" bIns="0" rtlCol="0">
            <a:noAutofit/>
          </a:bodyPr>
          <a:lstStyle/>
          <a:p>
            <a:pPr>
              <a:spcAft>
                <a:spcPts val="500"/>
              </a:spcAft>
            </a:pPr>
            <a:r>
              <a:rPr lang="en-GB">
                <a:solidFill>
                  <a:srgbClr val="C6D4D7"/>
                </a:solidFill>
                <a:latin typeface="Aptos" panose="020B0004020202020204" pitchFamily="34" charset="0"/>
              </a:rPr>
              <a:t>Custom drivers, languages, setup logic, services, and hardware operations.</a:t>
            </a:r>
            <a:endParaRPr lang="sv-SE">
              <a:solidFill>
                <a:srgbClr val="C6D4D7"/>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41E13880-7227-A709-545A-CEEEC27104C1}"/>
              </a:ext>
            </a:extLst>
          </p:cNvPr>
          <p:cNvSpPr/>
          <p:nvPr/>
        </p:nvSpPr>
        <p:spPr>
          <a:xfrm>
            <a:off x="4368800" y="3048000"/>
            <a:ext cx="3454400" cy="2794000"/>
          </a:xfrm>
          <a:prstGeom prst="roundRect">
            <a:avLst>
              <a:gd name="adj" fmla="val 8000"/>
            </a:avLst>
          </a:prstGeom>
          <a:solidFill>
            <a:srgbClr val="203D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957F6A4F-1400-AD1C-8D51-12EB9F32CE71}"/>
              </a:ext>
            </a:extLst>
          </p:cNvPr>
          <p:cNvSpPr/>
          <p:nvPr/>
        </p:nvSpPr>
        <p:spPr>
          <a:xfrm>
            <a:off x="4597400" y="3276600"/>
            <a:ext cx="330200" cy="50800"/>
          </a:xfrm>
          <a:prstGeom prst="rect">
            <a:avLst/>
          </a:prstGeom>
          <a:solidFill>
            <a:srgbClr val="FFB3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6-text-15">
            <a:extLst>
              <a:ext uri="{FF2B5EF4-FFF2-40B4-BE49-F238E27FC236}">
                <a16:creationId xmlns:a16="http://schemas.microsoft.com/office/drawing/2014/main" id="{E63C9168-AA70-4A9F-E327-C0C6ACB76087}"/>
              </a:ext>
            </a:extLst>
          </p:cNvPr>
          <p:cNvSpPr txBox="1">
            <a:spLocks/>
          </p:cNvSpPr>
          <p:nvPr/>
        </p:nvSpPr>
        <p:spPr>
          <a:xfrm>
            <a:off x="4597400" y="3492499"/>
            <a:ext cx="2997200" cy="723900"/>
          </a:xfrm>
          <a:prstGeom prst="rect">
            <a:avLst/>
          </a:prstGeom>
          <a:noFill/>
        </p:spPr>
        <p:txBody>
          <a:bodyPr vert="horz" wrap="square" lIns="0" tIns="0" rIns="0" bIns="0" rtlCol="0">
            <a:noAutofit/>
          </a:bodyPr>
          <a:lstStyle/>
          <a:p>
            <a:r>
              <a:rPr lang="sv-SE" sz="2000" b="1">
                <a:solidFill>
                  <a:srgbClr val="FFFFFF"/>
                </a:solidFill>
                <a:latin typeface="Aptos" panose="020B0004020202020204" pitchFamily="34" charset="0"/>
              </a:rPr>
              <a:t>Responsibility</a:t>
            </a:r>
          </a:p>
        </p:txBody>
      </p:sp>
      <p:sp>
        <p:nvSpPr>
          <p:cNvPr id="17" name="Slide-6-text-16">
            <a:extLst>
              <a:ext uri="{FF2B5EF4-FFF2-40B4-BE49-F238E27FC236}">
                <a16:creationId xmlns:a16="http://schemas.microsoft.com/office/drawing/2014/main" id="{D5CEA61D-C67E-FC39-BB65-5575E5364A88}"/>
              </a:ext>
            </a:extLst>
          </p:cNvPr>
          <p:cNvSpPr txBox="1">
            <a:spLocks/>
          </p:cNvSpPr>
          <p:nvPr/>
        </p:nvSpPr>
        <p:spPr>
          <a:xfrm>
            <a:off x="4597400" y="4330699"/>
            <a:ext cx="2997200" cy="1295400"/>
          </a:xfrm>
          <a:prstGeom prst="rect">
            <a:avLst/>
          </a:prstGeom>
          <a:noFill/>
        </p:spPr>
        <p:txBody>
          <a:bodyPr vert="horz" wrap="square" lIns="0" tIns="0" rIns="0" bIns="0" rtlCol="0">
            <a:noAutofit/>
          </a:bodyPr>
          <a:lstStyle/>
          <a:p>
            <a:pPr>
              <a:spcAft>
                <a:spcPts val="500"/>
              </a:spcAft>
            </a:pPr>
            <a:r>
              <a:rPr lang="en-GB">
                <a:solidFill>
                  <a:srgbClr val="C6D4D7"/>
                </a:solidFill>
                <a:latin typeface="Aptos" panose="020B0004020202020204" pitchFamily="34" charset="0"/>
              </a:rPr>
              <a:t>The operator trusts the module and its dependencies with the host and its data.</a:t>
            </a:r>
            <a:endParaRPr lang="sv-SE">
              <a:solidFill>
                <a:srgbClr val="C6D4D7"/>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1DB57068-AC36-B3D9-D1FA-E3B1AA2371E5}"/>
              </a:ext>
            </a:extLst>
          </p:cNvPr>
          <p:cNvSpPr/>
          <p:nvPr/>
        </p:nvSpPr>
        <p:spPr>
          <a:xfrm>
            <a:off x="8077200" y="3048000"/>
            <a:ext cx="3454400" cy="2794000"/>
          </a:xfrm>
          <a:prstGeom prst="roundRect">
            <a:avLst>
              <a:gd name="adj" fmla="val 8000"/>
            </a:avLst>
          </a:prstGeom>
          <a:solidFill>
            <a:srgbClr val="203D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a:extLst>
              <a:ext uri="{FF2B5EF4-FFF2-40B4-BE49-F238E27FC236}">
                <a16:creationId xmlns:a16="http://schemas.microsoft.com/office/drawing/2014/main" id="{5A5EC52C-EF75-5D06-4CCE-D18CBE19AA13}"/>
              </a:ext>
            </a:extLst>
          </p:cNvPr>
          <p:cNvSpPr/>
          <p:nvPr/>
        </p:nvSpPr>
        <p:spPr>
          <a:xfrm>
            <a:off x="8305800" y="3276600"/>
            <a:ext cx="330200" cy="50800"/>
          </a:xfrm>
          <a:prstGeom prst="rect">
            <a:avLst/>
          </a:prstGeom>
          <a:solidFill>
            <a:srgbClr val="FFB3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Slide-6-text-19">
            <a:extLst>
              <a:ext uri="{FF2B5EF4-FFF2-40B4-BE49-F238E27FC236}">
                <a16:creationId xmlns:a16="http://schemas.microsoft.com/office/drawing/2014/main" id="{2F6F7016-A50C-BF45-A09E-EA8ADBEA0125}"/>
              </a:ext>
            </a:extLst>
          </p:cNvPr>
          <p:cNvSpPr txBox="1">
            <a:spLocks/>
          </p:cNvSpPr>
          <p:nvPr/>
        </p:nvSpPr>
        <p:spPr>
          <a:xfrm>
            <a:off x="8305800" y="3492499"/>
            <a:ext cx="2997200" cy="723900"/>
          </a:xfrm>
          <a:prstGeom prst="rect">
            <a:avLst/>
          </a:prstGeom>
          <a:noFill/>
        </p:spPr>
        <p:txBody>
          <a:bodyPr vert="horz" wrap="square" lIns="0" tIns="0" rIns="0" bIns="0" rtlCol="0">
            <a:noAutofit/>
          </a:bodyPr>
          <a:lstStyle/>
          <a:p>
            <a:r>
              <a:rPr lang="sv-SE" sz="2000" b="1">
                <a:solidFill>
                  <a:srgbClr val="FFFFFF"/>
                </a:solidFill>
                <a:latin typeface="Aptos" panose="020B0004020202020204" pitchFamily="34" charset="0"/>
              </a:rPr>
              <a:t>Honest controls</a:t>
            </a:r>
          </a:p>
        </p:txBody>
      </p:sp>
      <p:sp>
        <p:nvSpPr>
          <p:cNvPr id="21" name="Slide-6-text-20">
            <a:extLst>
              <a:ext uri="{FF2B5EF4-FFF2-40B4-BE49-F238E27FC236}">
                <a16:creationId xmlns:a16="http://schemas.microsoft.com/office/drawing/2014/main" id="{E3A2EAED-2243-0F4A-DC29-5A066BDCD279}"/>
              </a:ext>
            </a:extLst>
          </p:cNvPr>
          <p:cNvSpPr txBox="1">
            <a:spLocks/>
          </p:cNvSpPr>
          <p:nvPr/>
        </p:nvSpPr>
        <p:spPr>
          <a:xfrm>
            <a:off x="8305800" y="4330699"/>
            <a:ext cx="2997200" cy="1295400"/>
          </a:xfrm>
          <a:prstGeom prst="rect">
            <a:avLst/>
          </a:prstGeom>
          <a:noFill/>
        </p:spPr>
        <p:txBody>
          <a:bodyPr vert="horz" wrap="square" lIns="0" tIns="0" rIns="0" bIns="0" rtlCol="0">
            <a:noAutofit/>
          </a:bodyPr>
          <a:lstStyle/>
          <a:p>
            <a:pPr>
              <a:spcAft>
                <a:spcPts val="500"/>
              </a:spcAft>
            </a:pPr>
            <a:r>
              <a:rPr lang="en-GB">
                <a:solidFill>
                  <a:srgbClr val="C6D4D7"/>
                </a:solidFill>
                <a:latin typeface="Aptos" panose="020B0004020202020204" pitchFamily="34" charset="0"/>
              </a:rPr>
              <a:t>Show identity and access; manage activation, logs, backups, and recovery.</a:t>
            </a:r>
            <a:endParaRPr lang="sv-SE">
              <a:solidFill>
                <a:srgbClr val="C6D4D7"/>
              </a:solidFill>
              <a:latin typeface="Aptos" panose="020B0004020202020204" pitchFamily="34" charset="0"/>
            </a:endParaRPr>
          </a:p>
        </p:txBody>
      </p:sp>
    </p:spTree>
    <p:extLst>
      <p:ext uri="{BB962C8B-B14F-4D97-AF65-F5344CB8AC3E}">
        <p14:creationId xmlns:p14="http://schemas.microsoft.com/office/powerpoint/2010/main" val="794204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343C3B-3E12-881A-41F1-03BDC058424B}"/>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7-text-2">
            <a:extLst>
              <a:ext uri="{FF2B5EF4-FFF2-40B4-BE49-F238E27FC236}">
                <a16:creationId xmlns:a16="http://schemas.microsoft.com/office/drawing/2014/main" id="{D2ADB708-301B-D6BB-2457-A3333961B890}"/>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TARGET ARCHITECTURE</a:t>
            </a:r>
          </a:p>
        </p:txBody>
      </p:sp>
      <p:sp>
        <p:nvSpPr>
          <p:cNvPr id="4" name="Slide-7-text-3">
            <a:extLst>
              <a:ext uri="{FF2B5EF4-FFF2-40B4-BE49-F238E27FC236}">
                <a16:creationId xmlns:a16="http://schemas.microsoft.com/office/drawing/2014/main" id="{F65D8C12-51AA-93FF-3929-1746663059FC}"/>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BCC28F19-9759-5A43-5BE8-92C3059F293A}"/>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7-text-5">
            <a:extLst>
              <a:ext uri="{FF2B5EF4-FFF2-40B4-BE49-F238E27FC236}">
                <a16:creationId xmlns:a16="http://schemas.microsoft.com/office/drawing/2014/main" id="{7846170D-5817-28B6-8E99-F0A62B8CCA0A}"/>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The app must remain recoverable with zero extensions installed.</a:t>
            </a:r>
            <a:endParaRPr lang="sv-SE" sz="1500" b="1">
              <a:solidFill>
                <a:srgbClr val="087F75"/>
              </a:solidFill>
              <a:latin typeface="Aptos" panose="020B0004020202020204" pitchFamily="34" charset="0"/>
            </a:endParaRPr>
          </a:p>
        </p:txBody>
      </p:sp>
      <p:sp>
        <p:nvSpPr>
          <p:cNvPr id="7" name="Slide-7-text-6">
            <a:extLst>
              <a:ext uri="{FF2B5EF4-FFF2-40B4-BE49-F238E27FC236}">
                <a16:creationId xmlns:a16="http://schemas.microsoft.com/office/drawing/2014/main" id="{B1581357-6D77-D95D-1507-5666C6F5AA56}"/>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07 / 22</a:t>
            </a:r>
          </a:p>
        </p:txBody>
      </p:sp>
      <p:sp>
        <p:nvSpPr>
          <p:cNvPr id="8" name="Slide-7-text-7">
            <a:extLst>
              <a:ext uri="{FF2B5EF4-FFF2-40B4-BE49-F238E27FC236}">
                <a16:creationId xmlns:a16="http://schemas.microsoft.com/office/drawing/2014/main" id="{BCD2925B-8DC0-0599-55A3-5BA3E94DAD90}"/>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Keep a small core that can restore every extension</a:t>
            </a:r>
            <a:endParaRPr lang="sv-SE" sz="3400" b="1">
              <a:solidFill>
                <a:srgbClr val="142D3A"/>
              </a:solidFill>
              <a:latin typeface="Aptos" panose="020B0004020202020204" pitchFamily="34" charset="0"/>
            </a:endParaRPr>
          </a:p>
        </p:txBody>
      </p:sp>
      <p:sp>
        <p:nvSpPr>
          <p:cNvPr id="9" name="Slide-7-text-8">
            <a:extLst>
              <a:ext uri="{FF2B5EF4-FFF2-40B4-BE49-F238E27FC236}">
                <a16:creationId xmlns:a16="http://schemas.microsoft.com/office/drawing/2014/main" id="{2252BE31-AD67-E201-A940-68421AB93AB8}"/>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Dynamic contributions enter through versioned contracts and an extension manager.</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9CEFD2A2-3531-48B6-30FC-A019180F2492}"/>
              </a:ext>
            </a:extLst>
          </p:cNvPr>
          <p:cNvSpPr/>
          <p:nvPr/>
        </p:nvSpPr>
        <p:spPr>
          <a:xfrm>
            <a:off x="660400" y="3009900"/>
            <a:ext cx="10871200" cy="863600"/>
          </a:xfrm>
          <a:prstGeom prst="roundRect">
            <a:avLst>
              <a:gd name="adj" fmla="val 8000"/>
            </a:avLst>
          </a:prstGeom>
          <a:solidFill>
            <a:srgbClr val="142D3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Slide-7-text-10">
            <a:extLst>
              <a:ext uri="{FF2B5EF4-FFF2-40B4-BE49-F238E27FC236}">
                <a16:creationId xmlns:a16="http://schemas.microsoft.com/office/drawing/2014/main" id="{97EA5261-DFC9-B865-4C18-E1242F2F12FF}"/>
              </a:ext>
            </a:extLst>
          </p:cNvPr>
          <p:cNvSpPr txBox="1">
            <a:spLocks/>
          </p:cNvSpPr>
          <p:nvPr/>
        </p:nvSpPr>
        <p:spPr>
          <a:xfrm>
            <a:off x="889000" y="3136899"/>
            <a:ext cx="10414000" cy="342900"/>
          </a:xfrm>
          <a:prstGeom prst="rect">
            <a:avLst/>
          </a:prstGeom>
          <a:noFill/>
        </p:spPr>
        <p:txBody>
          <a:bodyPr vert="horz" wrap="square" lIns="0" tIns="0" rIns="0" bIns="0" rtlCol="0">
            <a:noAutofit/>
          </a:bodyPr>
          <a:lstStyle/>
          <a:p>
            <a:r>
              <a:rPr lang="sv-SE" sz="2100" b="1">
                <a:solidFill>
                  <a:srgbClr val="FFFFFF"/>
                </a:solidFill>
                <a:latin typeface="Aptos" panose="020B0004020202020204" pitchFamily="34" charset="0"/>
              </a:rPr>
              <a:t>Permanent application core</a:t>
            </a:r>
          </a:p>
        </p:txBody>
      </p:sp>
      <p:sp>
        <p:nvSpPr>
          <p:cNvPr id="12" name="Slide-7-text-11">
            <a:extLst>
              <a:ext uri="{FF2B5EF4-FFF2-40B4-BE49-F238E27FC236}">
                <a16:creationId xmlns:a16="http://schemas.microsoft.com/office/drawing/2014/main" id="{AD5A1D15-1DEE-B518-22BB-F885C69CDB00}"/>
              </a:ext>
            </a:extLst>
          </p:cNvPr>
          <p:cNvSpPr txBox="1">
            <a:spLocks/>
          </p:cNvSpPr>
          <p:nvPr/>
        </p:nvSpPr>
        <p:spPr>
          <a:xfrm>
            <a:off x="889000" y="3530599"/>
            <a:ext cx="10414000" cy="292100"/>
          </a:xfrm>
          <a:prstGeom prst="rect">
            <a:avLst/>
          </a:prstGeom>
          <a:noFill/>
        </p:spPr>
        <p:txBody>
          <a:bodyPr vert="horz" wrap="square" lIns="0" tIns="0" rIns="0" bIns="0" rtlCol="0">
            <a:noAutofit/>
          </a:bodyPr>
          <a:lstStyle/>
          <a:p>
            <a:r>
              <a:rPr lang="en-GB" sz="1350">
                <a:solidFill>
                  <a:srgbClr val="C6D4D7"/>
                </a:solidFill>
                <a:latin typeface="Aptos" panose="020B0004020202020204" pitchFamily="34" charset="0"/>
              </a:rPr>
              <a:t>Authentication, package management, generic UI/canvas, persistence, execution history, recovery.</a:t>
            </a:r>
            <a:endParaRPr lang="sv-SE" sz="1350">
              <a:solidFill>
                <a:srgbClr val="C6D4D7"/>
              </a:solidFill>
              <a:latin typeface="Aptos" panose="020B0004020202020204" pitchFamily="34" charset="0"/>
            </a:endParaRPr>
          </a:p>
        </p:txBody>
      </p:sp>
      <p:cxnSp>
        <p:nvCxnSpPr>
          <p:cNvPr id="13" name="Straight Arrow Connector 12">
            <a:extLst>
              <a:ext uri="{FF2B5EF4-FFF2-40B4-BE49-F238E27FC236}">
                <a16:creationId xmlns:a16="http://schemas.microsoft.com/office/drawing/2014/main" id="{E44EB3C8-C232-85BD-FA6D-8F332D0EBF1F}"/>
              </a:ext>
            </a:extLst>
          </p:cNvPr>
          <p:cNvCxnSpPr/>
          <p:nvPr/>
        </p:nvCxnSpPr>
        <p:spPr>
          <a:xfrm>
            <a:off x="2387600" y="3924300"/>
            <a:ext cx="0" cy="304800"/>
          </a:xfrm>
          <a:prstGeom prst="straightConnector1">
            <a:avLst/>
          </a:prstGeom>
          <a:ln w="20320">
            <a:solidFill>
              <a:srgbClr val="087F75"/>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3F7FC876-B19D-0DDB-0455-137C3208A7D8}"/>
              </a:ext>
            </a:extLst>
          </p:cNvPr>
          <p:cNvSpPr/>
          <p:nvPr/>
        </p:nvSpPr>
        <p:spPr>
          <a:xfrm>
            <a:off x="660400" y="4343400"/>
            <a:ext cx="3454400" cy="1511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Slide-7-text-14">
            <a:extLst>
              <a:ext uri="{FF2B5EF4-FFF2-40B4-BE49-F238E27FC236}">
                <a16:creationId xmlns:a16="http://schemas.microsoft.com/office/drawing/2014/main" id="{060BA1FB-A963-17E9-06BE-AC0D1C678DDA}"/>
              </a:ext>
            </a:extLst>
          </p:cNvPr>
          <p:cNvSpPr txBox="1">
            <a:spLocks/>
          </p:cNvSpPr>
          <p:nvPr/>
        </p:nvSpPr>
        <p:spPr>
          <a:xfrm>
            <a:off x="889000" y="4483099"/>
            <a:ext cx="2997200" cy="584200"/>
          </a:xfrm>
          <a:prstGeom prst="rect">
            <a:avLst/>
          </a:prstGeom>
          <a:noFill/>
        </p:spPr>
        <p:txBody>
          <a:bodyPr vert="horz" wrap="square" lIns="0" tIns="0" rIns="0" bIns="0" rtlCol="0">
            <a:noAutofit/>
          </a:bodyPr>
          <a:lstStyle/>
          <a:p>
            <a:r>
              <a:rPr lang="sv-SE" b="1">
                <a:solidFill>
                  <a:srgbClr val="142D3A"/>
                </a:solidFill>
                <a:latin typeface="Aptos" panose="020B0004020202020204" pitchFamily="34" charset="0"/>
              </a:rPr>
              <a:t>Installed contribution registry</a:t>
            </a:r>
          </a:p>
        </p:txBody>
      </p:sp>
      <p:sp>
        <p:nvSpPr>
          <p:cNvPr id="16" name="Slide-7-text-15">
            <a:extLst>
              <a:ext uri="{FF2B5EF4-FFF2-40B4-BE49-F238E27FC236}">
                <a16:creationId xmlns:a16="http://schemas.microsoft.com/office/drawing/2014/main" id="{EFB6BA0C-0432-21F9-AA15-EAC1D5107527}"/>
              </a:ext>
            </a:extLst>
          </p:cNvPr>
          <p:cNvSpPr txBox="1">
            <a:spLocks/>
          </p:cNvSpPr>
          <p:nvPr/>
        </p:nvSpPr>
        <p:spPr>
          <a:xfrm>
            <a:off x="889000" y="5118099"/>
            <a:ext cx="2997200" cy="635000"/>
          </a:xfrm>
          <a:prstGeom prst="rect">
            <a:avLst/>
          </a:prstGeom>
          <a:noFill/>
        </p:spPr>
        <p:txBody>
          <a:bodyPr vert="horz" wrap="square" lIns="0" tIns="0" rIns="0" bIns="0" rtlCol="0">
            <a:noAutofit/>
          </a:bodyPr>
          <a:lstStyle/>
          <a:p>
            <a:r>
              <a:rPr lang="en-GB" sz="1350">
                <a:solidFill>
                  <a:srgbClr val="536873"/>
                </a:solidFill>
                <a:latin typeface="Aptos" panose="020B0004020202020204" pitchFamily="34" charset="0"/>
              </a:rPr>
              <a:t>Hardware capabilities, device definitions, wizard steps, blocks, guides, and templates.</a:t>
            </a:r>
            <a:endParaRPr lang="sv-SE" sz="1350">
              <a:solidFill>
                <a:srgbClr val="536873"/>
              </a:solidFill>
              <a:latin typeface="Aptos" panose="020B0004020202020204" pitchFamily="34" charset="0"/>
            </a:endParaRPr>
          </a:p>
        </p:txBody>
      </p:sp>
      <p:cxnSp>
        <p:nvCxnSpPr>
          <p:cNvPr id="17" name="Straight Arrow Connector 16">
            <a:extLst>
              <a:ext uri="{FF2B5EF4-FFF2-40B4-BE49-F238E27FC236}">
                <a16:creationId xmlns:a16="http://schemas.microsoft.com/office/drawing/2014/main" id="{764EC6FB-88F2-0BC7-3863-7B863B6B69C6}"/>
              </a:ext>
            </a:extLst>
          </p:cNvPr>
          <p:cNvCxnSpPr/>
          <p:nvPr/>
        </p:nvCxnSpPr>
        <p:spPr>
          <a:xfrm>
            <a:off x="6096000" y="3924300"/>
            <a:ext cx="0" cy="304800"/>
          </a:xfrm>
          <a:prstGeom prst="straightConnector1">
            <a:avLst/>
          </a:prstGeom>
          <a:ln w="20320">
            <a:solidFill>
              <a:srgbClr val="087F75"/>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D3169F52-6DF8-5890-3425-126ED72999DD}"/>
              </a:ext>
            </a:extLst>
          </p:cNvPr>
          <p:cNvSpPr/>
          <p:nvPr/>
        </p:nvSpPr>
        <p:spPr>
          <a:xfrm>
            <a:off x="4368800" y="4343400"/>
            <a:ext cx="3454400" cy="1511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Slide-7-text-18">
            <a:extLst>
              <a:ext uri="{FF2B5EF4-FFF2-40B4-BE49-F238E27FC236}">
                <a16:creationId xmlns:a16="http://schemas.microsoft.com/office/drawing/2014/main" id="{2520B551-B426-7AF8-7C93-1E2DF20CBECD}"/>
              </a:ext>
            </a:extLst>
          </p:cNvPr>
          <p:cNvSpPr txBox="1">
            <a:spLocks/>
          </p:cNvSpPr>
          <p:nvPr/>
        </p:nvSpPr>
        <p:spPr>
          <a:xfrm>
            <a:off x="4597400" y="4483099"/>
            <a:ext cx="2997200" cy="584200"/>
          </a:xfrm>
          <a:prstGeom prst="rect">
            <a:avLst/>
          </a:prstGeom>
          <a:noFill/>
        </p:spPr>
        <p:txBody>
          <a:bodyPr vert="horz" wrap="square" lIns="0" tIns="0" rIns="0" bIns="0" rtlCol="0">
            <a:noAutofit/>
          </a:bodyPr>
          <a:lstStyle/>
          <a:p>
            <a:r>
              <a:rPr lang="sv-SE" b="1">
                <a:solidFill>
                  <a:srgbClr val="142D3A"/>
                </a:solidFill>
                <a:latin typeface="Aptos" panose="020B0004020202020204" pitchFamily="34" charset="0"/>
              </a:rPr>
              <a:t>Supervised runtimes</a:t>
            </a:r>
          </a:p>
        </p:txBody>
      </p:sp>
      <p:sp>
        <p:nvSpPr>
          <p:cNvPr id="20" name="Slide-7-text-19">
            <a:extLst>
              <a:ext uri="{FF2B5EF4-FFF2-40B4-BE49-F238E27FC236}">
                <a16:creationId xmlns:a16="http://schemas.microsoft.com/office/drawing/2014/main" id="{62FDAEA8-9AAA-0FEF-CE1D-B3F5B6BFB128}"/>
              </a:ext>
            </a:extLst>
          </p:cNvPr>
          <p:cNvSpPr txBox="1">
            <a:spLocks/>
          </p:cNvSpPr>
          <p:nvPr/>
        </p:nvSpPr>
        <p:spPr>
          <a:xfrm>
            <a:off x="4597400" y="5118099"/>
            <a:ext cx="2997200" cy="635000"/>
          </a:xfrm>
          <a:prstGeom prst="rect">
            <a:avLst/>
          </a:prstGeom>
          <a:noFill/>
        </p:spPr>
        <p:txBody>
          <a:bodyPr vert="horz" wrap="square" lIns="0" tIns="0" rIns="0" bIns="0" rtlCol="0">
            <a:noAutofit/>
          </a:bodyPr>
          <a:lstStyle/>
          <a:p>
            <a:r>
              <a:rPr lang="en-GB" sz="1350">
                <a:solidFill>
                  <a:srgbClr val="536873"/>
                </a:solidFill>
                <a:latin typeface="Aptos" panose="020B0004020202020204" pitchFamily="34" charset="0"/>
              </a:rPr>
              <a:t>Package entry points and services; full host access available for trusted extensions.</a:t>
            </a:r>
            <a:endParaRPr lang="sv-SE" sz="1350">
              <a:solidFill>
                <a:srgbClr val="536873"/>
              </a:solidFill>
              <a:latin typeface="Aptos" panose="020B0004020202020204" pitchFamily="34" charset="0"/>
            </a:endParaRPr>
          </a:p>
        </p:txBody>
      </p:sp>
      <p:cxnSp>
        <p:nvCxnSpPr>
          <p:cNvPr id="21" name="Straight Arrow Connector 20">
            <a:extLst>
              <a:ext uri="{FF2B5EF4-FFF2-40B4-BE49-F238E27FC236}">
                <a16:creationId xmlns:a16="http://schemas.microsoft.com/office/drawing/2014/main" id="{F8353CC9-666D-94B6-C967-7D656B80CA71}"/>
              </a:ext>
            </a:extLst>
          </p:cNvPr>
          <p:cNvCxnSpPr/>
          <p:nvPr/>
        </p:nvCxnSpPr>
        <p:spPr>
          <a:xfrm>
            <a:off x="9804400" y="3924300"/>
            <a:ext cx="0" cy="304800"/>
          </a:xfrm>
          <a:prstGeom prst="straightConnector1">
            <a:avLst/>
          </a:prstGeom>
          <a:ln w="20320">
            <a:solidFill>
              <a:srgbClr val="087F75"/>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176E08F3-1AE7-2EC6-4819-25E6381AB768}"/>
              </a:ext>
            </a:extLst>
          </p:cNvPr>
          <p:cNvSpPr/>
          <p:nvPr/>
        </p:nvSpPr>
        <p:spPr>
          <a:xfrm>
            <a:off x="8077200" y="4343400"/>
            <a:ext cx="3454400" cy="1511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3" name="Slide-7-text-22">
            <a:extLst>
              <a:ext uri="{FF2B5EF4-FFF2-40B4-BE49-F238E27FC236}">
                <a16:creationId xmlns:a16="http://schemas.microsoft.com/office/drawing/2014/main" id="{BB228425-1164-D3F7-BC05-020E49C74588}"/>
              </a:ext>
            </a:extLst>
          </p:cNvPr>
          <p:cNvSpPr txBox="1">
            <a:spLocks/>
          </p:cNvSpPr>
          <p:nvPr/>
        </p:nvSpPr>
        <p:spPr>
          <a:xfrm>
            <a:off x="8305800" y="4483099"/>
            <a:ext cx="2997200" cy="584200"/>
          </a:xfrm>
          <a:prstGeom prst="rect">
            <a:avLst/>
          </a:prstGeom>
          <a:noFill/>
        </p:spPr>
        <p:txBody>
          <a:bodyPr vert="horz" wrap="square" lIns="0" tIns="0" rIns="0" bIns="0" rtlCol="0">
            <a:noAutofit/>
          </a:bodyPr>
          <a:lstStyle/>
          <a:p>
            <a:r>
              <a:rPr lang="sv-SE" b="1">
                <a:solidFill>
                  <a:srgbClr val="142D3A"/>
                </a:solidFill>
                <a:latin typeface="Aptos" panose="020B0004020202020204" pitchFamily="34" charset="0"/>
              </a:rPr>
              <a:t>Local demo library</a:t>
            </a:r>
          </a:p>
        </p:txBody>
      </p:sp>
      <p:sp>
        <p:nvSpPr>
          <p:cNvPr id="24" name="Slide-7-text-23">
            <a:extLst>
              <a:ext uri="{FF2B5EF4-FFF2-40B4-BE49-F238E27FC236}">
                <a16:creationId xmlns:a16="http://schemas.microsoft.com/office/drawing/2014/main" id="{601F257A-9C98-0801-C203-D93E20CC4243}"/>
              </a:ext>
            </a:extLst>
          </p:cNvPr>
          <p:cNvSpPr txBox="1">
            <a:spLocks/>
          </p:cNvSpPr>
          <p:nvPr/>
        </p:nvSpPr>
        <p:spPr>
          <a:xfrm>
            <a:off x="8305800" y="5118099"/>
            <a:ext cx="2997200" cy="635000"/>
          </a:xfrm>
          <a:prstGeom prst="rect">
            <a:avLst/>
          </a:prstGeom>
          <a:noFill/>
        </p:spPr>
        <p:txBody>
          <a:bodyPr vert="horz" wrap="square" lIns="0" tIns="0" rIns="0" bIns="0" rtlCol="0">
            <a:noAutofit/>
          </a:bodyPr>
          <a:lstStyle/>
          <a:p>
            <a:r>
              <a:rPr lang="en-GB" sz="1350">
                <a:solidFill>
                  <a:srgbClr val="536873"/>
                </a:solidFill>
                <a:latin typeface="Aptos" panose="020B0004020202020204" pitchFamily="34" charset="0"/>
              </a:rPr>
              <a:t>Real catalog and immutable downloads. Later: the same distribution model hosted centrally.</a:t>
            </a:r>
            <a:endParaRPr lang="sv-SE" sz="1350">
              <a:solidFill>
                <a:srgbClr val="536873"/>
              </a:solidFill>
              <a:latin typeface="Aptos" panose="020B0004020202020204" pitchFamily="34" charset="0"/>
            </a:endParaRPr>
          </a:p>
        </p:txBody>
      </p:sp>
    </p:spTree>
    <p:extLst>
      <p:ext uri="{BB962C8B-B14F-4D97-AF65-F5344CB8AC3E}">
        <p14:creationId xmlns:p14="http://schemas.microsoft.com/office/powerpoint/2010/main" val="334885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103952-4998-3293-5417-648A3880A068}"/>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8-text-2">
            <a:extLst>
              <a:ext uri="{FF2B5EF4-FFF2-40B4-BE49-F238E27FC236}">
                <a16:creationId xmlns:a16="http://schemas.microsoft.com/office/drawing/2014/main" id="{3B88C01E-2548-1082-A080-25B1951D052D}"/>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en-GB" sz="1050" b="1">
                <a:solidFill>
                  <a:srgbClr val="536873"/>
                </a:solidFill>
                <a:latin typeface="Aptos" panose="020B0004020202020204" pitchFamily="34" charset="0"/>
              </a:rPr>
              <a:t>USE THE PRODUCT TO PROVE THE PLATFORM</a:t>
            </a:r>
            <a:endParaRPr lang="sv-SE" sz="1050" b="1">
              <a:solidFill>
                <a:srgbClr val="536873"/>
              </a:solidFill>
              <a:latin typeface="Aptos" panose="020B0004020202020204" pitchFamily="34" charset="0"/>
            </a:endParaRPr>
          </a:p>
        </p:txBody>
      </p:sp>
      <p:sp>
        <p:nvSpPr>
          <p:cNvPr id="4" name="Slide-8-text-3">
            <a:extLst>
              <a:ext uri="{FF2B5EF4-FFF2-40B4-BE49-F238E27FC236}">
                <a16:creationId xmlns:a16="http://schemas.microsoft.com/office/drawing/2014/main" id="{D95017D0-C729-765C-D8C1-AF0FFD7A304C}"/>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47298ED1-0FBD-8BA3-ADFF-DFF9A792F05F}"/>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8-text-5">
            <a:extLst>
              <a:ext uri="{FF2B5EF4-FFF2-40B4-BE49-F238E27FC236}">
                <a16:creationId xmlns:a16="http://schemas.microsoft.com/office/drawing/2014/main" id="{C1317EB5-66F7-600E-A206-BC2509DA7356}"/>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No hidden built-in fallback after a capability is uninstalled.</a:t>
            </a:r>
            <a:endParaRPr lang="sv-SE" sz="1500" b="1">
              <a:solidFill>
                <a:srgbClr val="087F75"/>
              </a:solidFill>
              <a:latin typeface="Aptos" panose="020B0004020202020204" pitchFamily="34" charset="0"/>
            </a:endParaRPr>
          </a:p>
        </p:txBody>
      </p:sp>
      <p:sp>
        <p:nvSpPr>
          <p:cNvPr id="7" name="Slide-8-text-6">
            <a:extLst>
              <a:ext uri="{FF2B5EF4-FFF2-40B4-BE49-F238E27FC236}">
                <a16:creationId xmlns:a16="http://schemas.microsoft.com/office/drawing/2014/main" id="{DD75B813-85E8-C1AA-40F6-EDDE8EEB4CAF}"/>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08 / 22</a:t>
            </a:r>
          </a:p>
        </p:txBody>
      </p:sp>
      <p:sp>
        <p:nvSpPr>
          <p:cNvPr id="8" name="Slide-8-text-7">
            <a:extLst>
              <a:ext uri="{FF2B5EF4-FFF2-40B4-BE49-F238E27FC236}">
                <a16:creationId xmlns:a16="http://schemas.microsoft.com/office/drawing/2014/main" id="{41CA83FB-9666-BD38-C7A2-32E29672599B}"/>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Default capabilities become ordinary packages</a:t>
            </a:r>
            <a:endParaRPr lang="sv-SE" sz="3400" b="1">
              <a:solidFill>
                <a:srgbClr val="142D3A"/>
              </a:solidFill>
              <a:latin typeface="Aptos" panose="020B0004020202020204" pitchFamily="34" charset="0"/>
            </a:endParaRPr>
          </a:p>
        </p:txBody>
      </p:sp>
      <p:sp>
        <p:nvSpPr>
          <p:cNvPr id="9" name="Slide-8-text-8">
            <a:extLst>
              <a:ext uri="{FF2B5EF4-FFF2-40B4-BE49-F238E27FC236}">
                <a16:creationId xmlns:a16="http://schemas.microsoft.com/office/drawing/2014/main" id="{BB106EC7-C868-B3DE-676A-0EEA3CF0AAF8}"/>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Existing implementations become the first extension library and reference examples.</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84E98840-961A-5178-E859-DA6C8938BF02}"/>
              </a:ext>
            </a:extLst>
          </p:cNvPr>
          <p:cNvSpPr/>
          <p:nvPr/>
        </p:nvSpPr>
        <p:spPr>
          <a:xfrm>
            <a:off x="6604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A922F6BF-88C2-C802-DDFB-959996EA0D92}"/>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8-text-11">
            <a:extLst>
              <a:ext uri="{FF2B5EF4-FFF2-40B4-BE49-F238E27FC236}">
                <a16:creationId xmlns:a16="http://schemas.microsoft.com/office/drawing/2014/main" id="{158B556D-09BC-C2D0-E991-331FEAB5CDF0}"/>
              </a:ext>
            </a:extLst>
          </p:cNvPr>
          <p:cNvSpPr txBox="1">
            <a:spLocks/>
          </p:cNvSpPr>
          <p:nvPr/>
        </p:nvSpPr>
        <p:spPr>
          <a:xfrm>
            <a:off x="8890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Today</a:t>
            </a:r>
          </a:p>
        </p:txBody>
      </p:sp>
      <p:sp>
        <p:nvSpPr>
          <p:cNvPr id="13" name="Slide-8-text-12">
            <a:extLst>
              <a:ext uri="{FF2B5EF4-FFF2-40B4-BE49-F238E27FC236}">
                <a16:creationId xmlns:a16="http://schemas.microsoft.com/office/drawing/2014/main" id="{D90F4097-42F9-EEB3-D7FF-D6A3D0E623E4}"/>
              </a:ext>
            </a:extLst>
          </p:cNvPr>
          <p:cNvSpPr txBox="1">
            <a:spLocks/>
          </p:cNvSpPr>
          <p:nvPr/>
        </p:nvSpPr>
        <p:spPr>
          <a:xfrm>
            <a:off x="889000" y="4330699"/>
            <a:ext cx="2997200" cy="12954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Hard-coded choices inside hardware, device, and automation features.</a:t>
            </a:r>
            <a:endParaRPr lang="sv-SE" sz="1650">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91C231CC-C3BB-D2D9-1A2C-131E950DA5A4}"/>
              </a:ext>
            </a:extLst>
          </p:cNvPr>
          <p:cNvSpPr/>
          <p:nvPr/>
        </p:nvSpPr>
        <p:spPr>
          <a:xfrm>
            <a:off x="43688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C2146D45-781B-EFCA-0ECF-24D843391FF3}"/>
              </a:ext>
            </a:extLst>
          </p:cNvPr>
          <p:cNvSpPr/>
          <p:nvPr/>
        </p:nvSpPr>
        <p:spPr>
          <a:xfrm>
            <a:off x="45974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8-text-15">
            <a:extLst>
              <a:ext uri="{FF2B5EF4-FFF2-40B4-BE49-F238E27FC236}">
                <a16:creationId xmlns:a16="http://schemas.microsoft.com/office/drawing/2014/main" id="{0547C21B-150E-8923-9360-C7435E1DBF14}"/>
              </a:ext>
            </a:extLst>
          </p:cNvPr>
          <p:cNvSpPr txBox="1">
            <a:spLocks/>
          </p:cNvSpPr>
          <p:nvPr/>
        </p:nvSpPr>
        <p:spPr>
          <a:xfrm>
            <a:off x="45974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Extract</a:t>
            </a:r>
          </a:p>
        </p:txBody>
      </p:sp>
      <p:sp>
        <p:nvSpPr>
          <p:cNvPr id="17" name="Slide-8-text-16">
            <a:extLst>
              <a:ext uri="{FF2B5EF4-FFF2-40B4-BE49-F238E27FC236}">
                <a16:creationId xmlns:a16="http://schemas.microsoft.com/office/drawing/2014/main" id="{3A1CBCB8-E7E3-3181-738F-620C41B31BBE}"/>
              </a:ext>
            </a:extLst>
          </p:cNvPr>
          <p:cNvSpPr txBox="1">
            <a:spLocks/>
          </p:cNvSpPr>
          <p:nvPr/>
        </p:nvSpPr>
        <p:spPr>
          <a:xfrm>
            <a:off x="4597400" y="4330699"/>
            <a:ext cx="2997200" cy="12954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Give each capability an owner, contract, version, configuration, and lifecycle.</a:t>
            </a:r>
            <a:endParaRPr lang="sv-SE" sz="1650">
              <a:solidFill>
                <a:srgbClr val="536873"/>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D1344089-607C-090F-7128-97AC019A8CEC}"/>
              </a:ext>
            </a:extLst>
          </p:cNvPr>
          <p:cNvSpPr/>
          <p:nvPr/>
        </p:nvSpPr>
        <p:spPr>
          <a:xfrm>
            <a:off x="80772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a:extLst>
              <a:ext uri="{FF2B5EF4-FFF2-40B4-BE49-F238E27FC236}">
                <a16:creationId xmlns:a16="http://schemas.microsoft.com/office/drawing/2014/main" id="{51568AC1-A64B-07A5-EB8E-5CD5BAAFC56A}"/>
              </a:ext>
            </a:extLst>
          </p:cNvPr>
          <p:cNvSpPr/>
          <p:nvPr/>
        </p:nvSpPr>
        <p:spPr>
          <a:xfrm>
            <a:off x="83058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Slide-8-text-19">
            <a:extLst>
              <a:ext uri="{FF2B5EF4-FFF2-40B4-BE49-F238E27FC236}">
                <a16:creationId xmlns:a16="http://schemas.microsoft.com/office/drawing/2014/main" id="{14548FC2-695E-46D9-E4A5-9D46F6D2163E}"/>
              </a:ext>
            </a:extLst>
          </p:cNvPr>
          <p:cNvSpPr txBox="1">
            <a:spLocks/>
          </p:cNvSpPr>
          <p:nvPr/>
        </p:nvSpPr>
        <p:spPr>
          <a:xfrm>
            <a:off x="83058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Default extensions</a:t>
            </a:r>
          </a:p>
        </p:txBody>
      </p:sp>
      <p:sp>
        <p:nvSpPr>
          <p:cNvPr id="21" name="Slide-8-text-20">
            <a:extLst>
              <a:ext uri="{FF2B5EF4-FFF2-40B4-BE49-F238E27FC236}">
                <a16:creationId xmlns:a16="http://schemas.microsoft.com/office/drawing/2014/main" id="{0A7EF2F0-D0A9-5133-B273-D2B014061960}"/>
              </a:ext>
            </a:extLst>
          </p:cNvPr>
          <p:cNvSpPr txBox="1">
            <a:spLocks/>
          </p:cNvSpPr>
          <p:nvPr/>
        </p:nvSpPr>
        <p:spPr>
          <a:xfrm>
            <a:off x="8305800" y="4330699"/>
            <a:ext cx="2997200" cy="12954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Camera, GPIO, Sensors, MQTT, HTTP, webhook, system data, and workflow contributions.</a:t>
            </a:r>
            <a:endParaRPr lang="sv-SE" sz="1650">
              <a:solidFill>
                <a:srgbClr val="536873"/>
              </a:solidFill>
              <a:latin typeface="Aptos" panose="020B0004020202020204" pitchFamily="34" charset="0"/>
            </a:endParaRPr>
          </a:p>
        </p:txBody>
      </p:sp>
    </p:spTree>
    <p:extLst>
      <p:ext uri="{BB962C8B-B14F-4D97-AF65-F5344CB8AC3E}">
        <p14:creationId xmlns:p14="http://schemas.microsoft.com/office/powerpoint/2010/main" val="1011378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EE2B31-C329-DCDB-C9D6-0EEEF15AC4CA}"/>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9-text-2">
            <a:extLst>
              <a:ext uri="{FF2B5EF4-FFF2-40B4-BE49-F238E27FC236}">
                <a16:creationId xmlns:a16="http://schemas.microsoft.com/office/drawing/2014/main" id="{CA91C310-26CD-F7EB-DE87-D43329B6D136}"/>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en-GB" sz="1050" b="1">
                <a:solidFill>
                  <a:srgbClr val="536873"/>
                </a:solidFill>
                <a:latin typeface="Aptos" panose="020B0004020202020204" pitchFamily="34" charset="0"/>
              </a:rPr>
              <a:t>FIRST DELIVERY GATE / PLAN STEPS 1-2</a:t>
            </a:r>
            <a:endParaRPr lang="sv-SE" sz="1050" b="1">
              <a:solidFill>
                <a:srgbClr val="536873"/>
              </a:solidFill>
              <a:latin typeface="Aptos" panose="020B0004020202020204" pitchFamily="34" charset="0"/>
            </a:endParaRPr>
          </a:p>
        </p:txBody>
      </p:sp>
      <p:sp>
        <p:nvSpPr>
          <p:cNvPr id="4" name="Slide-9-text-3">
            <a:extLst>
              <a:ext uri="{FF2B5EF4-FFF2-40B4-BE49-F238E27FC236}">
                <a16:creationId xmlns:a16="http://schemas.microsoft.com/office/drawing/2014/main" id="{270A92DD-CCC4-29D0-496E-278F928047EB}"/>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78505F45-7F54-DDED-1C6E-07CF60CA7F50}"/>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9-text-5">
            <a:extLst>
              <a:ext uri="{FF2B5EF4-FFF2-40B4-BE49-F238E27FC236}">
                <a16:creationId xmlns:a16="http://schemas.microsoft.com/office/drawing/2014/main" id="{85478380-35B2-CCC1-70FE-4D7BEB9C1456}"/>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Expand only after the original configuration and behavior are restored.</a:t>
            </a:r>
            <a:endParaRPr lang="sv-SE" sz="1500" b="1">
              <a:solidFill>
                <a:srgbClr val="087F75"/>
              </a:solidFill>
              <a:latin typeface="Aptos" panose="020B0004020202020204" pitchFamily="34" charset="0"/>
            </a:endParaRPr>
          </a:p>
        </p:txBody>
      </p:sp>
      <p:sp>
        <p:nvSpPr>
          <p:cNvPr id="7" name="Slide-9-text-6">
            <a:extLst>
              <a:ext uri="{FF2B5EF4-FFF2-40B4-BE49-F238E27FC236}">
                <a16:creationId xmlns:a16="http://schemas.microsoft.com/office/drawing/2014/main" id="{CA39D929-8B28-CC56-509E-0CD6B24EBEC2}"/>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09 / 22</a:t>
            </a:r>
          </a:p>
        </p:txBody>
      </p:sp>
      <p:sp>
        <p:nvSpPr>
          <p:cNvPr id="8" name="Slide-9-text-7">
            <a:extLst>
              <a:ext uri="{FF2B5EF4-FFF2-40B4-BE49-F238E27FC236}">
                <a16:creationId xmlns:a16="http://schemas.microsoft.com/office/drawing/2014/main" id="{03323C91-40DF-79EF-B555-C5C83E771BEC}"/>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M1: prove one complete lifecycle before scaling</a:t>
            </a:r>
            <a:endParaRPr lang="sv-SE" sz="3400" b="1">
              <a:solidFill>
                <a:srgbClr val="142D3A"/>
              </a:solidFill>
              <a:latin typeface="Aptos" panose="020B0004020202020204" pitchFamily="34" charset="0"/>
            </a:endParaRPr>
          </a:p>
        </p:txBody>
      </p:sp>
      <p:sp>
        <p:nvSpPr>
          <p:cNvPr id="9" name="Slide-9-text-8">
            <a:extLst>
              <a:ext uri="{FF2B5EF4-FFF2-40B4-BE49-F238E27FC236}">
                <a16:creationId xmlns:a16="http://schemas.microsoft.com/office/drawing/2014/main" id="{E066D7A3-8FCA-EC96-9A19-9A380185737A}"/>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Start with HTTP JSON Source device setup and its Fetch block contribution.</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97DBCA14-058D-6B16-7863-F9C90395684C}"/>
              </a:ext>
            </a:extLst>
          </p:cNvPr>
          <p:cNvSpPr/>
          <p:nvPr/>
        </p:nvSpPr>
        <p:spPr>
          <a:xfrm>
            <a:off x="660400" y="3073400"/>
            <a:ext cx="2032000" cy="27686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Slide-9-text-10">
            <a:extLst>
              <a:ext uri="{FF2B5EF4-FFF2-40B4-BE49-F238E27FC236}">
                <a16:creationId xmlns:a16="http://schemas.microsoft.com/office/drawing/2014/main" id="{48E4C2A8-98EF-E88B-C728-99F9739034ED}"/>
              </a:ext>
            </a:extLst>
          </p:cNvPr>
          <p:cNvSpPr txBox="1">
            <a:spLocks/>
          </p:cNvSpPr>
          <p:nvPr/>
        </p:nvSpPr>
        <p:spPr>
          <a:xfrm>
            <a:off x="850900" y="3301999"/>
            <a:ext cx="1651000" cy="533400"/>
          </a:xfrm>
          <a:prstGeom prst="rect">
            <a:avLst/>
          </a:prstGeom>
          <a:noFill/>
        </p:spPr>
        <p:txBody>
          <a:bodyPr vert="horz" wrap="square" lIns="0" tIns="0" rIns="0" bIns="0" rtlCol="0">
            <a:noAutofit/>
          </a:bodyPr>
          <a:lstStyle/>
          <a:p>
            <a:r>
              <a:rPr lang="sv-SE" sz="2900" b="1">
                <a:solidFill>
                  <a:srgbClr val="087F75"/>
                </a:solidFill>
                <a:latin typeface="Aptos" panose="020B0004020202020204" pitchFamily="34" charset="0"/>
              </a:rPr>
              <a:t>01</a:t>
            </a:r>
          </a:p>
        </p:txBody>
      </p:sp>
      <p:sp>
        <p:nvSpPr>
          <p:cNvPr id="12" name="Slide-9-text-11">
            <a:extLst>
              <a:ext uri="{FF2B5EF4-FFF2-40B4-BE49-F238E27FC236}">
                <a16:creationId xmlns:a16="http://schemas.microsoft.com/office/drawing/2014/main" id="{4EF81DDE-7B44-0006-0B96-8ED6D0F17318}"/>
              </a:ext>
            </a:extLst>
          </p:cNvPr>
          <p:cNvSpPr txBox="1">
            <a:spLocks/>
          </p:cNvSpPr>
          <p:nvPr/>
        </p:nvSpPr>
        <p:spPr>
          <a:xfrm>
            <a:off x="850900" y="4000499"/>
            <a:ext cx="1651000" cy="4445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Baseline</a:t>
            </a:r>
          </a:p>
        </p:txBody>
      </p:sp>
      <p:sp>
        <p:nvSpPr>
          <p:cNvPr id="13" name="Slide-9-text-12">
            <a:extLst>
              <a:ext uri="{FF2B5EF4-FFF2-40B4-BE49-F238E27FC236}">
                <a16:creationId xmlns:a16="http://schemas.microsoft.com/office/drawing/2014/main" id="{65E1D968-CE4D-9D6A-1059-8506504A9B3F}"/>
              </a:ext>
            </a:extLst>
          </p:cNvPr>
          <p:cNvSpPr txBox="1">
            <a:spLocks/>
          </p:cNvSpPr>
          <p:nvPr/>
        </p:nvSpPr>
        <p:spPr>
          <a:xfrm>
            <a:off x="850900" y="4559299"/>
            <a:ext cx="1651000" cy="1092200"/>
          </a:xfrm>
          <a:prstGeom prst="rect">
            <a:avLst/>
          </a:prstGeom>
          <a:noFill/>
        </p:spPr>
        <p:txBody>
          <a:bodyPr vert="horz" wrap="square" lIns="0" tIns="0" rIns="0" bIns="0" rtlCol="0">
            <a:noAutofit/>
          </a:bodyPr>
          <a:lstStyle/>
          <a:p>
            <a:pPr>
              <a:spcAft>
                <a:spcPts val="500"/>
              </a:spcAft>
            </a:pPr>
            <a:r>
              <a:rPr lang="en-GB" sz="1600">
                <a:solidFill>
                  <a:srgbClr val="536873"/>
                </a:solidFill>
                <a:latin typeface="Aptos" panose="020B0004020202020204" pitchFamily="34" charset="0"/>
              </a:rPr>
              <a:t>Configure the device and run a workflow.</a:t>
            </a:r>
            <a:endParaRPr lang="sv-SE" sz="1600">
              <a:solidFill>
                <a:srgbClr val="536873"/>
              </a:solidFill>
              <a:latin typeface="Aptos" panose="020B0004020202020204" pitchFamily="34" charset="0"/>
            </a:endParaRPr>
          </a:p>
        </p:txBody>
      </p:sp>
      <p:sp>
        <p:nvSpPr>
          <p:cNvPr id="14" name="Slide-9-text-13">
            <a:extLst>
              <a:ext uri="{FF2B5EF4-FFF2-40B4-BE49-F238E27FC236}">
                <a16:creationId xmlns:a16="http://schemas.microsoft.com/office/drawing/2014/main" id="{0C572C62-6BDF-61D5-3F2C-C18352602BCF}"/>
              </a:ext>
            </a:extLst>
          </p:cNvPr>
          <p:cNvSpPr txBox="1">
            <a:spLocks/>
          </p:cNvSpPr>
          <p:nvPr/>
        </p:nvSpPr>
        <p:spPr>
          <a:xfrm>
            <a:off x="2705100" y="4152899"/>
            <a:ext cx="165100" cy="406400"/>
          </a:xfrm>
          <a:prstGeom prst="rect">
            <a:avLst/>
          </a:prstGeom>
          <a:noFill/>
        </p:spPr>
        <p:txBody>
          <a:bodyPr vert="horz" wrap="square" lIns="0" tIns="0" rIns="0" bIns="0" rtlCol="0">
            <a:noAutofit/>
          </a:bodyPr>
          <a:lstStyle/>
          <a:p>
            <a:r>
              <a:rPr lang="sv-SE" sz="2200" b="1">
                <a:solidFill>
                  <a:srgbClr val="087F75"/>
                </a:solidFill>
                <a:latin typeface="Aptos" panose="020B0004020202020204" pitchFamily="34" charset="0"/>
              </a:rPr>
              <a:t>›</a:t>
            </a:r>
          </a:p>
        </p:txBody>
      </p:sp>
      <p:sp>
        <p:nvSpPr>
          <p:cNvPr id="15" name="Rectangle: Rounded Corners 14">
            <a:extLst>
              <a:ext uri="{FF2B5EF4-FFF2-40B4-BE49-F238E27FC236}">
                <a16:creationId xmlns:a16="http://schemas.microsoft.com/office/drawing/2014/main" id="{3ACB93DA-1F10-69BC-B67C-B0F5E7403BFC}"/>
              </a:ext>
            </a:extLst>
          </p:cNvPr>
          <p:cNvSpPr/>
          <p:nvPr/>
        </p:nvSpPr>
        <p:spPr>
          <a:xfrm>
            <a:off x="2870200" y="3073400"/>
            <a:ext cx="2032000" cy="27686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9-text-15">
            <a:extLst>
              <a:ext uri="{FF2B5EF4-FFF2-40B4-BE49-F238E27FC236}">
                <a16:creationId xmlns:a16="http://schemas.microsoft.com/office/drawing/2014/main" id="{BE813DCF-A423-17F1-F081-5EAC7F61439A}"/>
              </a:ext>
            </a:extLst>
          </p:cNvPr>
          <p:cNvSpPr txBox="1">
            <a:spLocks/>
          </p:cNvSpPr>
          <p:nvPr/>
        </p:nvSpPr>
        <p:spPr>
          <a:xfrm>
            <a:off x="3060700" y="3301999"/>
            <a:ext cx="1651000" cy="533400"/>
          </a:xfrm>
          <a:prstGeom prst="rect">
            <a:avLst/>
          </a:prstGeom>
          <a:noFill/>
        </p:spPr>
        <p:txBody>
          <a:bodyPr vert="horz" wrap="square" lIns="0" tIns="0" rIns="0" bIns="0" rtlCol="0">
            <a:noAutofit/>
          </a:bodyPr>
          <a:lstStyle/>
          <a:p>
            <a:r>
              <a:rPr lang="sv-SE" sz="2900" b="1">
                <a:solidFill>
                  <a:srgbClr val="087F75"/>
                </a:solidFill>
                <a:latin typeface="Aptos" panose="020B0004020202020204" pitchFamily="34" charset="0"/>
              </a:rPr>
              <a:t>02</a:t>
            </a:r>
          </a:p>
        </p:txBody>
      </p:sp>
      <p:sp>
        <p:nvSpPr>
          <p:cNvPr id="17" name="Slide-9-text-16">
            <a:extLst>
              <a:ext uri="{FF2B5EF4-FFF2-40B4-BE49-F238E27FC236}">
                <a16:creationId xmlns:a16="http://schemas.microsoft.com/office/drawing/2014/main" id="{DA1A0095-4075-F038-61EE-8741BAA13939}"/>
              </a:ext>
            </a:extLst>
          </p:cNvPr>
          <p:cNvSpPr txBox="1">
            <a:spLocks/>
          </p:cNvSpPr>
          <p:nvPr/>
        </p:nvSpPr>
        <p:spPr>
          <a:xfrm>
            <a:off x="3060700" y="4000499"/>
            <a:ext cx="1651000" cy="4445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Remove</a:t>
            </a:r>
          </a:p>
        </p:txBody>
      </p:sp>
      <p:sp>
        <p:nvSpPr>
          <p:cNvPr id="18" name="Slide-9-text-17">
            <a:extLst>
              <a:ext uri="{FF2B5EF4-FFF2-40B4-BE49-F238E27FC236}">
                <a16:creationId xmlns:a16="http://schemas.microsoft.com/office/drawing/2014/main" id="{A326D988-2F92-2922-5158-71981EB96F37}"/>
              </a:ext>
            </a:extLst>
          </p:cNvPr>
          <p:cNvSpPr txBox="1">
            <a:spLocks/>
          </p:cNvSpPr>
          <p:nvPr/>
        </p:nvSpPr>
        <p:spPr>
          <a:xfrm>
            <a:off x="3060700" y="4559299"/>
            <a:ext cx="1651000" cy="1092200"/>
          </a:xfrm>
          <a:prstGeom prst="rect">
            <a:avLst/>
          </a:prstGeom>
          <a:noFill/>
        </p:spPr>
        <p:txBody>
          <a:bodyPr vert="horz" wrap="square" lIns="0" tIns="0" rIns="0" bIns="0" rtlCol="0">
            <a:noAutofit/>
          </a:bodyPr>
          <a:lstStyle/>
          <a:p>
            <a:pPr>
              <a:spcAft>
                <a:spcPts val="500"/>
              </a:spcAft>
            </a:pPr>
            <a:r>
              <a:rPr lang="en-GB" sz="1600">
                <a:solidFill>
                  <a:srgbClr val="536873"/>
                </a:solidFill>
                <a:latin typeface="Aptos" panose="020B0004020202020204" pitchFamily="34" charset="0"/>
              </a:rPr>
              <a:t>Uninstall; show missing device and block states.</a:t>
            </a:r>
            <a:endParaRPr lang="sv-SE" sz="1600">
              <a:solidFill>
                <a:srgbClr val="536873"/>
              </a:solidFill>
              <a:latin typeface="Aptos" panose="020B0004020202020204" pitchFamily="34" charset="0"/>
            </a:endParaRPr>
          </a:p>
        </p:txBody>
      </p:sp>
      <p:sp>
        <p:nvSpPr>
          <p:cNvPr id="19" name="Slide-9-text-18">
            <a:extLst>
              <a:ext uri="{FF2B5EF4-FFF2-40B4-BE49-F238E27FC236}">
                <a16:creationId xmlns:a16="http://schemas.microsoft.com/office/drawing/2014/main" id="{5EC0BA74-25B0-272D-D120-D56B7EE6A4BE}"/>
              </a:ext>
            </a:extLst>
          </p:cNvPr>
          <p:cNvSpPr txBox="1">
            <a:spLocks/>
          </p:cNvSpPr>
          <p:nvPr/>
        </p:nvSpPr>
        <p:spPr>
          <a:xfrm>
            <a:off x="4914900" y="4152899"/>
            <a:ext cx="165100" cy="406400"/>
          </a:xfrm>
          <a:prstGeom prst="rect">
            <a:avLst/>
          </a:prstGeom>
          <a:noFill/>
        </p:spPr>
        <p:txBody>
          <a:bodyPr vert="horz" wrap="square" lIns="0" tIns="0" rIns="0" bIns="0" rtlCol="0">
            <a:noAutofit/>
          </a:bodyPr>
          <a:lstStyle/>
          <a:p>
            <a:r>
              <a:rPr lang="sv-SE" sz="2200" b="1">
                <a:solidFill>
                  <a:srgbClr val="087F75"/>
                </a:solidFill>
                <a:latin typeface="Aptos" panose="020B0004020202020204" pitchFamily="34" charset="0"/>
              </a:rPr>
              <a:t>›</a:t>
            </a:r>
          </a:p>
        </p:txBody>
      </p:sp>
      <p:sp>
        <p:nvSpPr>
          <p:cNvPr id="20" name="Rectangle: Rounded Corners 19">
            <a:extLst>
              <a:ext uri="{FF2B5EF4-FFF2-40B4-BE49-F238E27FC236}">
                <a16:creationId xmlns:a16="http://schemas.microsoft.com/office/drawing/2014/main" id="{F863B1CC-AF1A-32CE-A9EB-4C5A740B2C55}"/>
              </a:ext>
            </a:extLst>
          </p:cNvPr>
          <p:cNvSpPr/>
          <p:nvPr/>
        </p:nvSpPr>
        <p:spPr>
          <a:xfrm>
            <a:off x="5080000" y="3073400"/>
            <a:ext cx="2032000" cy="27686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1" name="Slide-9-text-20">
            <a:extLst>
              <a:ext uri="{FF2B5EF4-FFF2-40B4-BE49-F238E27FC236}">
                <a16:creationId xmlns:a16="http://schemas.microsoft.com/office/drawing/2014/main" id="{089D3B4D-0CAA-7DBA-F6E1-0AB809B6E834}"/>
              </a:ext>
            </a:extLst>
          </p:cNvPr>
          <p:cNvSpPr txBox="1">
            <a:spLocks/>
          </p:cNvSpPr>
          <p:nvPr/>
        </p:nvSpPr>
        <p:spPr>
          <a:xfrm>
            <a:off x="5270500" y="3301999"/>
            <a:ext cx="1651000" cy="533400"/>
          </a:xfrm>
          <a:prstGeom prst="rect">
            <a:avLst/>
          </a:prstGeom>
          <a:noFill/>
        </p:spPr>
        <p:txBody>
          <a:bodyPr vert="horz" wrap="square" lIns="0" tIns="0" rIns="0" bIns="0" rtlCol="0">
            <a:noAutofit/>
          </a:bodyPr>
          <a:lstStyle/>
          <a:p>
            <a:r>
              <a:rPr lang="sv-SE" sz="2900" b="1">
                <a:solidFill>
                  <a:srgbClr val="087F75"/>
                </a:solidFill>
                <a:latin typeface="Aptos" panose="020B0004020202020204" pitchFamily="34" charset="0"/>
              </a:rPr>
              <a:t>03</a:t>
            </a:r>
          </a:p>
        </p:txBody>
      </p:sp>
      <p:sp>
        <p:nvSpPr>
          <p:cNvPr id="22" name="Slide-9-text-21">
            <a:extLst>
              <a:ext uri="{FF2B5EF4-FFF2-40B4-BE49-F238E27FC236}">
                <a16:creationId xmlns:a16="http://schemas.microsoft.com/office/drawing/2014/main" id="{ADEF541C-AABB-AA7C-2C82-D20B5AEF45C9}"/>
              </a:ext>
            </a:extLst>
          </p:cNvPr>
          <p:cNvSpPr txBox="1">
            <a:spLocks/>
          </p:cNvSpPr>
          <p:nvPr/>
        </p:nvSpPr>
        <p:spPr>
          <a:xfrm>
            <a:off x="5270500" y="4000499"/>
            <a:ext cx="1651000" cy="4445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Download</a:t>
            </a:r>
          </a:p>
        </p:txBody>
      </p:sp>
      <p:sp>
        <p:nvSpPr>
          <p:cNvPr id="23" name="Slide-9-text-22">
            <a:extLst>
              <a:ext uri="{FF2B5EF4-FFF2-40B4-BE49-F238E27FC236}">
                <a16:creationId xmlns:a16="http://schemas.microsoft.com/office/drawing/2014/main" id="{E76BC1F5-8F3F-E6D1-3B42-A7F90DC657D4}"/>
              </a:ext>
            </a:extLst>
          </p:cNvPr>
          <p:cNvSpPr txBox="1">
            <a:spLocks/>
          </p:cNvSpPr>
          <p:nvPr/>
        </p:nvSpPr>
        <p:spPr>
          <a:xfrm>
            <a:off x="5270500" y="4559299"/>
            <a:ext cx="1651000" cy="1092200"/>
          </a:xfrm>
          <a:prstGeom prst="rect">
            <a:avLst/>
          </a:prstGeom>
          <a:noFill/>
        </p:spPr>
        <p:txBody>
          <a:bodyPr vert="horz" wrap="square" lIns="0" tIns="0" rIns="0" bIns="0" rtlCol="0">
            <a:noAutofit/>
          </a:bodyPr>
          <a:lstStyle/>
          <a:p>
            <a:pPr>
              <a:spcAft>
                <a:spcPts val="500"/>
              </a:spcAft>
            </a:pPr>
            <a:r>
              <a:rPr lang="en-GB" sz="1600">
                <a:solidFill>
                  <a:srgbClr val="536873"/>
                </a:solidFill>
                <a:latin typeface="Aptos" panose="020B0004020202020204" pitchFamily="34" charset="0"/>
              </a:rPr>
              <a:t>Retrieve real package bytes from the separate local library.</a:t>
            </a:r>
            <a:endParaRPr lang="sv-SE" sz="1600">
              <a:solidFill>
                <a:srgbClr val="536873"/>
              </a:solidFill>
              <a:latin typeface="Aptos" panose="020B0004020202020204" pitchFamily="34" charset="0"/>
            </a:endParaRPr>
          </a:p>
        </p:txBody>
      </p:sp>
      <p:sp>
        <p:nvSpPr>
          <p:cNvPr id="24" name="Slide-9-text-23">
            <a:extLst>
              <a:ext uri="{FF2B5EF4-FFF2-40B4-BE49-F238E27FC236}">
                <a16:creationId xmlns:a16="http://schemas.microsoft.com/office/drawing/2014/main" id="{4FB4BD28-F516-B767-A341-9EF2007FB9CF}"/>
              </a:ext>
            </a:extLst>
          </p:cNvPr>
          <p:cNvSpPr txBox="1">
            <a:spLocks/>
          </p:cNvSpPr>
          <p:nvPr/>
        </p:nvSpPr>
        <p:spPr>
          <a:xfrm>
            <a:off x="7124700" y="4152899"/>
            <a:ext cx="165100" cy="406400"/>
          </a:xfrm>
          <a:prstGeom prst="rect">
            <a:avLst/>
          </a:prstGeom>
          <a:noFill/>
        </p:spPr>
        <p:txBody>
          <a:bodyPr vert="horz" wrap="square" lIns="0" tIns="0" rIns="0" bIns="0" rtlCol="0">
            <a:noAutofit/>
          </a:bodyPr>
          <a:lstStyle/>
          <a:p>
            <a:r>
              <a:rPr lang="sv-SE" sz="2200" b="1">
                <a:solidFill>
                  <a:srgbClr val="087F75"/>
                </a:solidFill>
                <a:latin typeface="Aptos" panose="020B0004020202020204" pitchFamily="34" charset="0"/>
              </a:rPr>
              <a:t>›</a:t>
            </a:r>
          </a:p>
        </p:txBody>
      </p:sp>
      <p:sp>
        <p:nvSpPr>
          <p:cNvPr id="25" name="Rectangle: Rounded Corners 24">
            <a:extLst>
              <a:ext uri="{FF2B5EF4-FFF2-40B4-BE49-F238E27FC236}">
                <a16:creationId xmlns:a16="http://schemas.microsoft.com/office/drawing/2014/main" id="{65606F49-8E94-7B6F-D6B6-6DB2F5393469}"/>
              </a:ext>
            </a:extLst>
          </p:cNvPr>
          <p:cNvSpPr/>
          <p:nvPr/>
        </p:nvSpPr>
        <p:spPr>
          <a:xfrm>
            <a:off x="7289800" y="3073400"/>
            <a:ext cx="2032000" cy="27686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6" name="Slide-9-text-25">
            <a:extLst>
              <a:ext uri="{FF2B5EF4-FFF2-40B4-BE49-F238E27FC236}">
                <a16:creationId xmlns:a16="http://schemas.microsoft.com/office/drawing/2014/main" id="{8EEFFA08-2D5C-660A-FC04-1BD1D8A18BD1}"/>
              </a:ext>
            </a:extLst>
          </p:cNvPr>
          <p:cNvSpPr txBox="1">
            <a:spLocks/>
          </p:cNvSpPr>
          <p:nvPr/>
        </p:nvSpPr>
        <p:spPr>
          <a:xfrm>
            <a:off x="7480300" y="3301999"/>
            <a:ext cx="1651000" cy="533400"/>
          </a:xfrm>
          <a:prstGeom prst="rect">
            <a:avLst/>
          </a:prstGeom>
          <a:noFill/>
        </p:spPr>
        <p:txBody>
          <a:bodyPr vert="horz" wrap="square" lIns="0" tIns="0" rIns="0" bIns="0" rtlCol="0">
            <a:noAutofit/>
          </a:bodyPr>
          <a:lstStyle/>
          <a:p>
            <a:r>
              <a:rPr lang="sv-SE" sz="2900" b="1">
                <a:solidFill>
                  <a:srgbClr val="087F75"/>
                </a:solidFill>
                <a:latin typeface="Aptos" panose="020B0004020202020204" pitchFamily="34" charset="0"/>
              </a:rPr>
              <a:t>04</a:t>
            </a:r>
          </a:p>
        </p:txBody>
      </p:sp>
      <p:sp>
        <p:nvSpPr>
          <p:cNvPr id="27" name="Slide-9-text-26">
            <a:extLst>
              <a:ext uri="{FF2B5EF4-FFF2-40B4-BE49-F238E27FC236}">
                <a16:creationId xmlns:a16="http://schemas.microsoft.com/office/drawing/2014/main" id="{7BFDE461-693E-75B1-3DC8-2A8013CF8F0F}"/>
              </a:ext>
            </a:extLst>
          </p:cNvPr>
          <p:cNvSpPr txBox="1">
            <a:spLocks/>
          </p:cNvSpPr>
          <p:nvPr/>
        </p:nvSpPr>
        <p:spPr>
          <a:xfrm>
            <a:off x="7480300" y="4000499"/>
            <a:ext cx="1651000" cy="4445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Activate</a:t>
            </a:r>
          </a:p>
        </p:txBody>
      </p:sp>
      <p:sp>
        <p:nvSpPr>
          <p:cNvPr id="28" name="Slide-9-text-27">
            <a:extLst>
              <a:ext uri="{FF2B5EF4-FFF2-40B4-BE49-F238E27FC236}">
                <a16:creationId xmlns:a16="http://schemas.microsoft.com/office/drawing/2014/main" id="{ADB5F042-A97F-92E2-3BF6-EE934A3DD27F}"/>
              </a:ext>
            </a:extLst>
          </p:cNvPr>
          <p:cNvSpPr txBox="1">
            <a:spLocks/>
          </p:cNvSpPr>
          <p:nvPr/>
        </p:nvSpPr>
        <p:spPr>
          <a:xfrm>
            <a:off x="7480300" y="4559299"/>
            <a:ext cx="1651000" cy="1092200"/>
          </a:xfrm>
          <a:prstGeom prst="rect">
            <a:avLst/>
          </a:prstGeom>
          <a:noFill/>
        </p:spPr>
        <p:txBody>
          <a:bodyPr vert="horz" wrap="square" lIns="0" tIns="0" rIns="0" bIns="0" rtlCol="0">
            <a:noAutofit/>
          </a:bodyPr>
          <a:lstStyle/>
          <a:p>
            <a:pPr>
              <a:spcAft>
                <a:spcPts val="500"/>
              </a:spcAft>
            </a:pPr>
            <a:r>
              <a:rPr lang="en-GB" sz="1600">
                <a:solidFill>
                  <a:srgbClr val="536873"/>
                </a:solidFill>
                <a:latin typeface="Aptos" panose="020B0004020202020204" pitchFamily="34" charset="0"/>
              </a:rPr>
              <a:t>Install and activate the compatible release.</a:t>
            </a:r>
            <a:endParaRPr lang="sv-SE" sz="1600">
              <a:solidFill>
                <a:srgbClr val="536873"/>
              </a:solidFill>
              <a:latin typeface="Aptos" panose="020B0004020202020204" pitchFamily="34" charset="0"/>
            </a:endParaRPr>
          </a:p>
        </p:txBody>
      </p:sp>
      <p:sp>
        <p:nvSpPr>
          <p:cNvPr id="29" name="Slide-9-text-28">
            <a:extLst>
              <a:ext uri="{FF2B5EF4-FFF2-40B4-BE49-F238E27FC236}">
                <a16:creationId xmlns:a16="http://schemas.microsoft.com/office/drawing/2014/main" id="{334B1818-6F3B-B57D-C195-9DC80811D6D6}"/>
              </a:ext>
            </a:extLst>
          </p:cNvPr>
          <p:cNvSpPr txBox="1">
            <a:spLocks/>
          </p:cNvSpPr>
          <p:nvPr/>
        </p:nvSpPr>
        <p:spPr>
          <a:xfrm>
            <a:off x="9334500" y="4152899"/>
            <a:ext cx="165100" cy="406400"/>
          </a:xfrm>
          <a:prstGeom prst="rect">
            <a:avLst/>
          </a:prstGeom>
          <a:noFill/>
        </p:spPr>
        <p:txBody>
          <a:bodyPr vert="horz" wrap="square" lIns="0" tIns="0" rIns="0" bIns="0" rtlCol="0">
            <a:noAutofit/>
          </a:bodyPr>
          <a:lstStyle/>
          <a:p>
            <a:r>
              <a:rPr lang="sv-SE" sz="2200" b="1">
                <a:solidFill>
                  <a:srgbClr val="087F75"/>
                </a:solidFill>
                <a:latin typeface="Aptos" panose="020B0004020202020204" pitchFamily="34" charset="0"/>
              </a:rPr>
              <a:t>›</a:t>
            </a:r>
          </a:p>
        </p:txBody>
      </p:sp>
      <p:sp>
        <p:nvSpPr>
          <p:cNvPr id="30" name="Rectangle: Rounded Corners 29">
            <a:extLst>
              <a:ext uri="{FF2B5EF4-FFF2-40B4-BE49-F238E27FC236}">
                <a16:creationId xmlns:a16="http://schemas.microsoft.com/office/drawing/2014/main" id="{7D4DCD96-E268-9381-6329-95654FF8EA4A}"/>
              </a:ext>
            </a:extLst>
          </p:cNvPr>
          <p:cNvSpPr/>
          <p:nvPr/>
        </p:nvSpPr>
        <p:spPr>
          <a:xfrm>
            <a:off x="9499600" y="3073400"/>
            <a:ext cx="2032000" cy="2768600"/>
          </a:xfrm>
          <a:prstGeom prst="roundRect">
            <a:avLst>
              <a:gd name="adj" fmla="val 8000"/>
            </a:avLst>
          </a:prstGeom>
          <a:solidFill>
            <a:srgbClr val="CDEBDC"/>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1" name="Slide-9-text-30">
            <a:extLst>
              <a:ext uri="{FF2B5EF4-FFF2-40B4-BE49-F238E27FC236}">
                <a16:creationId xmlns:a16="http://schemas.microsoft.com/office/drawing/2014/main" id="{76C894E6-8A8C-1903-6CAC-1A6F80443445}"/>
              </a:ext>
            </a:extLst>
          </p:cNvPr>
          <p:cNvSpPr txBox="1">
            <a:spLocks/>
          </p:cNvSpPr>
          <p:nvPr/>
        </p:nvSpPr>
        <p:spPr>
          <a:xfrm>
            <a:off x="9690100" y="3301999"/>
            <a:ext cx="1651000" cy="533400"/>
          </a:xfrm>
          <a:prstGeom prst="rect">
            <a:avLst/>
          </a:prstGeom>
          <a:noFill/>
        </p:spPr>
        <p:txBody>
          <a:bodyPr vert="horz" wrap="square" lIns="0" tIns="0" rIns="0" bIns="0" rtlCol="0">
            <a:noAutofit/>
          </a:bodyPr>
          <a:lstStyle/>
          <a:p>
            <a:r>
              <a:rPr lang="sv-SE" sz="2900" b="1">
                <a:solidFill>
                  <a:srgbClr val="087F75"/>
                </a:solidFill>
                <a:latin typeface="Aptos" panose="020B0004020202020204" pitchFamily="34" charset="0"/>
              </a:rPr>
              <a:t>05</a:t>
            </a:r>
          </a:p>
        </p:txBody>
      </p:sp>
      <p:sp>
        <p:nvSpPr>
          <p:cNvPr id="32" name="Slide-9-text-31">
            <a:extLst>
              <a:ext uri="{FF2B5EF4-FFF2-40B4-BE49-F238E27FC236}">
                <a16:creationId xmlns:a16="http://schemas.microsoft.com/office/drawing/2014/main" id="{4ABA3048-EA5A-107E-84F1-77671724341F}"/>
              </a:ext>
            </a:extLst>
          </p:cNvPr>
          <p:cNvSpPr txBox="1">
            <a:spLocks/>
          </p:cNvSpPr>
          <p:nvPr/>
        </p:nvSpPr>
        <p:spPr>
          <a:xfrm>
            <a:off x="9690100" y="4000499"/>
            <a:ext cx="1651000" cy="4445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Verify</a:t>
            </a:r>
          </a:p>
        </p:txBody>
      </p:sp>
      <p:sp>
        <p:nvSpPr>
          <p:cNvPr id="33" name="Slide-9-text-32">
            <a:extLst>
              <a:ext uri="{FF2B5EF4-FFF2-40B4-BE49-F238E27FC236}">
                <a16:creationId xmlns:a16="http://schemas.microsoft.com/office/drawing/2014/main" id="{14B60E4B-F0D4-F433-B26F-9E1157D4F68B}"/>
              </a:ext>
            </a:extLst>
          </p:cNvPr>
          <p:cNvSpPr txBox="1">
            <a:spLocks/>
          </p:cNvSpPr>
          <p:nvPr/>
        </p:nvSpPr>
        <p:spPr>
          <a:xfrm>
            <a:off x="9690100" y="4559299"/>
            <a:ext cx="1651000" cy="1092200"/>
          </a:xfrm>
          <a:prstGeom prst="rect">
            <a:avLst/>
          </a:prstGeom>
          <a:noFill/>
        </p:spPr>
        <p:txBody>
          <a:bodyPr vert="horz" wrap="square" lIns="0" tIns="0" rIns="0" bIns="0" rtlCol="0">
            <a:noAutofit/>
          </a:bodyPr>
          <a:lstStyle/>
          <a:p>
            <a:pPr>
              <a:spcAft>
                <a:spcPts val="500"/>
              </a:spcAft>
            </a:pPr>
            <a:r>
              <a:rPr lang="en-GB" sz="1600">
                <a:solidFill>
                  <a:srgbClr val="536873"/>
                </a:solidFill>
                <a:latin typeface="Aptos" panose="020B0004020202020204" pitchFamily="34" charset="0"/>
              </a:rPr>
              <a:t>Restore behavior, preserve history, and survive app restart.</a:t>
            </a:r>
            <a:endParaRPr lang="sv-SE" sz="1600">
              <a:solidFill>
                <a:srgbClr val="536873"/>
              </a:solidFill>
              <a:latin typeface="Aptos" panose="020B0004020202020204" pitchFamily="34" charset="0"/>
            </a:endParaRPr>
          </a:p>
        </p:txBody>
      </p:sp>
    </p:spTree>
    <p:extLst>
      <p:ext uri="{BB962C8B-B14F-4D97-AF65-F5344CB8AC3E}">
        <p14:creationId xmlns:p14="http://schemas.microsoft.com/office/powerpoint/2010/main" val="2303053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448FF1-E37D-74CC-3B94-348A135C0762}"/>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10-text-2">
            <a:extLst>
              <a:ext uri="{FF2B5EF4-FFF2-40B4-BE49-F238E27FC236}">
                <a16:creationId xmlns:a16="http://schemas.microsoft.com/office/drawing/2014/main" id="{BA6C6DE2-801B-F1C2-6088-CA1EA7560BFA}"/>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en-GB" sz="1050" b="1">
                <a:solidFill>
                  <a:srgbClr val="536873"/>
                </a:solidFill>
                <a:latin typeface="Aptos" panose="020B0004020202020204" pitchFamily="34" charset="0"/>
              </a:rPr>
              <a:t>PLATFORM PARITY / PLAN STEPS 3-6</a:t>
            </a:r>
            <a:endParaRPr lang="sv-SE" sz="1050" b="1">
              <a:solidFill>
                <a:srgbClr val="536873"/>
              </a:solidFill>
              <a:latin typeface="Aptos" panose="020B0004020202020204" pitchFamily="34" charset="0"/>
            </a:endParaRPr>
          </a:p>
        </p:txBody>
      </p:sp>
      <p:sp>
        <p:nvSpPr>
          <p:cNvPr id="4" name="Slide-10-text-3">
            <a:extLst>
              <a:ext uri="{FF2B5EF4-FFF2-40B4-BE49-F238E27FC236}">
                <a16:creationId xmlns:a16="http://schemas.microsoft.com/office/drawing/2014/main" id="{96F4E32D-52D2-D7F2-6BD8-96DE84252DBA}"/>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B2C299FE-BB2D-4364-8D28-0E55E65CE697}"/>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10-text-5">
            <a:extLst>
              <a:ext uri="{FF2B5EF4-FFF2-40B4-BE49-F238E27FC236}">
                <a16:creationId xmlns:a16="http://schemas.microsoft.com/office/drawing/2014/main" id="{C13D6B1E-8648-F8D0-FA2A-C46221A19852}"/>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A working HTTP demo is the start; hardware parity is a separate gate.</a:t>
            </a:r>
            <a:endParaRPr lang="sv-SE" sz="1500" b="1">
              <a:solidFill>
                <a:srgbClr val="087F75"/>
              </a:solidFill>
              <a:latin typeface="Aptos" panose="020B0004020202020204" pitchFamily="34" charset="0"/>
            </a:endParaRPr>
          </a:p>
        </p:txBody>
      </p:sp>
      <p:sp>
        <p:nvSpPr>
          <p:cNvPr id="7" name="Slide-10-text-6">
            <a:extLst>
              <a:ext uri="{FF2B5EF4-FFF2-40B4-BE49-F238E27FC236}">
                <a16:creationId xmlns:a16="http://schemas.microsoft.com/office/drawing/2014/main" id="{AF1B4DF1-16B6-991E-9E05-E1557FE3E7E9}"/>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10 / 22</a:t>
            </a:r>
          </a:p>
        </p:txBody>
      </p:sp>
      <p:sp>
        <p:nvSpPr>
          <p:cNvPr id="8" name="Slide-10-text-7">
            <a:extLst>
              <a:ext uri="{FF2B5EF4-FFF2-40B4-BE49-F238E27FC236}">
                <a16:creationId xmlns:a16="http://schemas.microsoft.com/office/drawing/2014/main" id="{1538660D-EDA0-AEA5-B3B6-C84680F38760}"/>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M2: migrate all defaults and verify real hardware</a:t>
            </a:r>
            <a:endParaRPr lang="sv-SE" sz="3400" b="1">
              <a:solidFill>
                <a:srgbClr val="142D3A"/>
              </a:solidFill>
              <a:latin typeface="Aptos" panose="020B0004020202020204" pitchFamily="34" charset="0"/>
            </a:endParaRPr>
          </a:p>
        </p:txBody>
      </p:sp>
      <p:sp>
        <p:nvSpPr>
          <p:cNvPr id="9" name="Slide-10-text-8">
            <a:extLst>
              <a:ext uri="{FF2B5EF4-FFF2-40B4-BE49-F238E27FC236}">
                <a16:creationId xmlns:a16="http://schemas.microsoft.com/office/drawing/2014/main" id="{BF651594-4F07-C083-16DD-8EF346233987}"/>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Repeat the proven lifecycle across hardware, device setup, and workflow capabilities.</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DE34FD17-CAE9-DF3E-4FF5-02F083339582}"/>
              </a:ext>
            </a:extLst>
          </p:cNvPr>
          <p:cNvSpPr/>
          <p:nvPr/>
        </p:nvSpPr>
        <p:spPr>
          <a:xfrm>
            <a:off x="6604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F9AB1BE1-9667-4109-205A-2AD83F04DA99}"/>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10-text-11">
            <a:extLst>
              <a:ext uri="{FF2B5EF4-FFF2-40B4-BE49-F238E27FC236}">
                <a16:creationId xmlns:a16="http://schemas.microsoft.com/office/drawing/2014/main" id="{AB8BEADB-42BD-81B8-EC09-BDC7DF5E3B91}"/>
              </a:ext>
            </a:extLst>
          </p:cNvPr>
          <p:cNvSpPr txBox="1">
            <a:spLocks/>
          </p:cNvSpPr>
          <p:nvPr/>
        </p:nvSpPr>
        <p:spPr>
          <a:xfrm>
            <a:off x="8890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Dynamic hardware</a:t>
            </a:r>
          </a:p>
        </p:txBody>
      </p:sp>
      <p:sp>
        <p:nvSpPr>
          <p:cNvPr id="13" name="Slide-10-text-12">
            <a:extLst>
              <a:ext uri="{FF2B5EF4-FFF2-40B4-BE49-F238E27FC236}">
                <a16:creationId xmlns:a16="http://schemas.microsoft.com/office/drawing/2014/main" id="{7B9A717C-C6BF-F24F-D86D-ED34BD353378}"/>
              </a:ext>
            </a:extLst>
          </p:cNvPr>
          <p:cNvSpPr txBox="1">
            <a:spLocks/>
          </p:cNvSpPr>
          <p:nvPr/>
        </p:nvSpPr>
        <p:spPr>
          <a:xfrm>
            <a:off x="8890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Package Camera, GPIO, I2C Sensors, and Local MQTT, including setup and repair.</a:t>
            </a:r>
            <a:endParaRPr lang="sv-SE">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4D7DC954-7BE0-82EF-3932-CFFCA81B3ACB}"/>
              </a:ext>
            </a:extLst>
          </p:cNvPr>
          <p:cNvSpPr/>
          <p:nvPr/>
        </p:nvSpPr>
        <p:spPr>
          <a:xfrm>
            <a:off x="43688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996F7462-7E75-A2AE-AF91-431D8B109488}"/>
              </a:ext>
            </a:extLst>
          </p:cNvPr>
          <p:cNvSpPr/>
          <p:nvPr/>
        </p:nvSpPr>
        <p:spPr>
          <a:xfrm>
            <a:off x="45974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10-text-15">
            <a:extLst>
              <a:ext uri="{FF2B5EF4-FFF2-40B4-BE49-F238E27FC236}">
                <a16:creationId xmlns:a16="http://schemas.microsoft.com/office/drawing/2014/main" id="{39E17D4E-F02A-65F2-7771-7B3E978CE13C}"/>
              </a:ext>
            </a:extLst>
          </p:cNvPr>
          <p:cNvSpPr txBox="1">
            <a:spLocks/>
          </p:cNvSpPr>
          <p:nvPr/>
        </p:nvSpPr>
        <p:spPr>
          <a:xfrm>
            <a:off x="45974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Dynamic experience</a:t>
            </a:r>
          </a:p>
        </p:txBody>
      </p:sp>
      <p:sp>
        <p:nvSpPr>
          <p:cNvPr id="17" name="Slide-10-text-16">
            <a:extLst>
              <a:ext uri="{FF2B5EF4-FFF2-40B4-BE49-F238E27FC236}">
                <a16:creationId xmlns:a16="http://schemas.microsoft.com/office/drawing/2014/main" id="{9860C35E-573B-9F5A-CC92-AAEF6943B58A}"/>
              </a:ext>
            </a:extLst>
          </p:cNvPr>
          <p:cNvSpPr txBox="1">
            <a:spLocks/>
          </p:cNvSpPr>
          <p:nvPr/>
        </p:nvSpPr>
        <p:spPr>
          <a:xfrm>
            <a:off x="45974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Load device forms/guides and block configuration/behavior from installed packages.</a:t>
            </a:r>
            <a:endParaRPr lang="sv-SE">
              <a:solidFill>
                <a:srgbClr val="536873"/>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0073725C-1656-AE01-E4A4-16F78F5303BE}"/>
              </a:ext>
            </a:extLst>
          </p:cNvPr>
          <p:cNvSpPr/>
          <p:nvPr/>
        </p:nvSpPr>
        <p:spPr>
          <a:xfrm>
            <a:off x="80772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a:extLst>
              <a:ext uri="{FF2B5EF4-FFF2-40B4-BE49-F238E27FC236}">
                <a16:creationId xmlns:a16="http://schemas.microsoft.com/office/drawing/2014/main" id="{DF448911-29AF-9EC7-76F8-0943FFDC8DBF}"/>
              </a:ext>
            </a:extLst>
          </p:cNvPr>
          <p:cNvSpPr/>
          <p:nvPr/>
        </p:nvSpPr>
        <p:spPr>
          <a:xfrm>
            <a:off x="83058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Slide-10-text-19">
            <a:extLst>
              <a:ext uri="{FF2B5EF4-FFF2-40B4-BE49-F238E27FC236}">
                <a16:creationId xmlns:a16="http://schemas.microsoft.com/office/drawing/2014/main" id="{A0CD2AFF-0069-1798-B29A-F5FAD17F5A31}"/>
              </a:ext>
            </a:extLst>
          </p:cNvPr>
          <p:cNvSpPr txBox="1">
            <a:spLocks/>
          </p:cNvSpPr>
          <p:nvPr/>
        </p:nvSpPr>
        <p:spPr>
          <a:xfrm>
            <a:off x="83058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Complete restoration</a:t>
            </a:r>
          </a:p>
        </p:txBody>
      </p:sp>
      <p:sp>
        <p:nvSpPr>
          <p:cNvPr id="21" name="Slide-10-text-20">
            <a:extLst>
              <a:ext uri="{FF2B5EF4-FFF2-40B4-BE49-F238E27FC236}">
                <a16:creationId xmlns:a16="http://schemas.microsoft.com/office/drawing/2014/main" id="{7314C82C-EB57-0A62-9796-6E35E1963DDD}"/>
              </a:ext>
            </a:extLst>
          </p:cNvPr>
          <p:cNvSpPr txBox="1">
            <a:spLocks/>
          </p:cNvSpPr>
          <p:nvPr/>
        </p:nvSpPr>
        <p:spPr>
          <a:xfrm>
            <a:off x="83058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Remove all extensions, retain a usable core, then reinstall the default set.</a:t>
            </a:r>
            <a:endParaRPr lang="sv-SE">
              <a:solidFill>
                <a:srgbClr val="536873"/>
              </a:solidFill>
              <a:latin typeface="Aptos" panose="020B0004020202020204" pitchFamily="34" charset="0"/>
            </a:endParaRPr>
          </a:p>
        </p:txBody>
      </p:sp>
    </p:spTree>
    <p:extLst>
      <p:ext uri="{BB962C8B-B14F-4D97-AF65-F5344CB8AC3E}">
        <p14:creationId xmlns:p14="http://schemas.microsoft.com/office/powerpoint/2010/main" val="215874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11F54A-CB93-CD56-9112-F4EA4BAF7701}"/>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11-text-2">
            <a:extLst>
              <a:ext uri="{FF2B5EF4-FFF2-40B4-BE49-F238E27FC236}">
                <a16:creationId xmlns:a16="http://schemas.microsoft.com/office/drawing/2014/main" id="{8270A59E-8299-577B-7D7F-AD1D429FE12F}"/>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en-GB" sz="1050" b="1">
                <a:solidFill>
                  <a:srgbClr val="536873"/>
                </a:solidFill>
                <a:latin typeface="Aptos" panose="020B0004020202020204" pitchFamily="34" charset="0"/>
              </a:rPr>
              <a:t>AUTHORING TOOLS / PLAN STEP 7</a:t>
            </a:r>
            <a:endParaRPr lang="sv-SE" sz="1050" b="1">
              <a:solidFill>
                <a:srgbClr val="536873"/>
              </a:solidFill>
              <a:latin typeface="Aptos" panose="020B0004020202020204" pitchFamily="34" charset="0"/>
            </a:endParaRPr>
          </a:p>
        </p:txBody>
      </p:sp>
      <p:sp>
        <p:nvSpPr>
          <p:cNvPr id="4" name="Slide-11-text-3">
            <a:extLst>
              <a:ext uri="{FF2B5EF4-FFF2-40B4-BE49-F238E27FC236}">
                <a16:creationId xmlns:a16="http://schemas.microsoft.com/office/drawing/2014/main" id="{23D08FB6-A488-398E-7353-A859503E55EB}"/>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179FE077-9647-AB22-3B65-BBE4C9DF3433}"/>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11-text-5">
            <a:extLst>
              <a:ext uri="{FF2B5EF4-FFF2-40B4-BE49-F238E27FC236}">
                <a16:creationId xmlns:a16="http://schemas.microsoft.com/office/drawing/2014/main" id="{BECACAA1-47D7-1F48-B64D-E42CE0606A35}"/>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A new module must work on a second instance without core-source edits.</a:t>
            </a:r>
            <a:endParaRPr lang="sv-SE" sz="1500" b="1">
              <a:solidFill>
                <a:srgbClr val="087F75"/>
              </a:solidFill>
              <a:latin typeface="Aptos" panose="020B0004020202020204" pitchFamily="34" charset="0"/>
            </a:endParaRPr>
          </a:p>
        </p:txBody>
      </p:sp>
      <p:sp>
        <p:nvSpPr>
          <p:cNvPr id="7" name="Slide-11-text-6">
            <a:extLst>
              <a:ext uri="{FF2B5EF4-FFF2-40B4-BE49-F238E27FC236}">
                <a16:creationId xmlns:a16="http://schemas.microsoft.com/office/drawing/2014/main" id="{EF5ED302-F49A-809A-0952-11E0971E3965}"/>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11 / 22</a:t>
            </a:r>
          </a:p>
        </p:txBody>
      </p:sp>
      <p:sp>
        <p:nvSpPr>
          <p:cNvPr id="8" name="Slide-11-text-7">
            <a:extLst>
              <a:ext uri="{FF2B5EF4-FFF2-40B4-BE49-F238E27FC236}">
                <a16:creationId xmlns:a16="http://schemas.microsoft.com/office/drawing/2014/main" id="{A7CD73CB-5588-256E-3562-8DAB7EDBD0A6}"/>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M3: prove that developers can extend the app</a:t>
            </a:r>
            <a:endParaRPr lang="sv-SE" sz="3400" b="1">
              <a:solidFill>
                <a:srgbClr val="142D3A"/>
              </a:solidFill>
              <a:latin typeface="Aptos" panose="020B0004020202020204" pitchFamily="34" charset="0"/>
            </a:endParaRPr>
          </a:p>
        </p:txBody>
      </p:sp>
      <p:sp>
        <p:nvSpPr>
          <p:cNvPr id="9" name="Slide-11-text-8">
            <a:extLst>
              <a:ext uri="{FF2B5EF4-FFF2-40B4-BE49-F238E27FC236}">
                <a16:creationId xmlns:a16="http://schemas.microsoft.com/office/drawing/2014/main" id="{CC0657FE-4C7A-D890-D7F7-C32B0674CCC5}"/>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Begin tooling once the first contracts and lifecycle work; overlap with later migration.</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E61A5C5F-4B40-D19C-A1AA-1D1CFB26E65E}"/>
              </a:ext>
            </a:extLst>
          </p:cNvPr>
          <p:cNvSpPr/>
          <p:nvPr/>
        </p:nvSpPr>
        <p:spPr>
          <a:xfrm>
            <a:off x="660400" y="3060700"/>
            <a:ext cx="2527300" cy="2781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010491AD-10FE-4A1E-CA51-841E3A20DDCF}"/>
              </a:ext>
            </a:extLst>
          </p:cNvPr>
          <p:cNvSpPr/>
          <p:nvPr/>
        </p:nvSpPr>
        <p:spPr>
          <a:xfrm>
            <a:off x="889000" y="32893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11-text-11">
            <a:extLst>
              <a:ext uri="{FF2B5EF4-FFF2-40B4-BE49-F238E27FC236}">
                <a16:creationId xmlns:a16="http://schemas.microsoft.com/office/drawing/2014/main" id="{4AB4C51A-89F9-EB28-456E-D6334DF73885}"/>
              </a:ext>
            </a:extLst>
          </p:cNvPr>
          <p:cNvSpPr txBox="1">
            <a:spLocks/>
          </p:cNvSpPr>
          <p:nvPr/>
        </p:nvSpPr>
        <p:spPr>
          <a:xfrm>
            <a:off x="889000" y="3505199"/>
            <a:ext cx="20701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Create</a:t>
            </a:r>
          </a:p>
        </p:txBody>
      </p:sp>
      <p:sp>
        <p:nvSpPr>
          <p:cNvPr id="13" name="Slide-11-text-12">
            <a:extLst>
              <a:ext uri="{FF2B5EF4-FFF2-40B4-BE49-F238E27FC236}">
                <a16:creationId xmlns:a16="http://schemas.microsoft.com/office/drawing/2014/main" id="{AF6C2583-7160-3601-EE7D-4659DE1963D8}"/>
              </a:ext>
            </a:extLst>
          </p:cNvPr>
          <p:cNvSpPr txBox="1">
            <a:spLocks/>
          </p:cNvSpPr>
          <p:nvPr/>
        </p:nvSpPr>
        <p:spPr>
          <a:xfrm>
            <a:off x="889000" y="4343399"/>
            <a:ext cx="2070100" cy="1282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Start from templates, or import source and supported runtimes.</a:t>
            </a:r>
            <a:endParaRPr lang="sv-SE" sz="1650">
              <a:solidFill>
                <a:srgbClr val="536873"/>
              </a:solidFill>
              <a:latin typeface="Aptos" panose="020B0004020202020204" pitchFamily="34" charset="0"/>
            </a:endParaRPr>
          </a:p>
        </p:txBody>
      </p:sp>
      <p:sp>
        <p:nvSpPr>
          <p:cNvPr id="14" name="Slide-11-text-13">
            <a:extLst>
              <a:ext uri="{FF2B5EF4-FFF2-40B4-BE49-F238E27FC236}">
                <a16:creationId xmlns:a16="http://schemas.microsoft.com/office/drawing/2014/main" id="{89053A4E-2362-1CFC-CC54-C6A4E5C9A7F5}"/>
              </a:ext>
            </a:extLst>
          </p:cNvPr>
          <p:cNvSpPr txBox="1">
            <a:spLocks/>
          </p:cNvSpPr>
          <p:nvPr/>
        </p:nvSpPr>
        <p:spPr>
          <a:xfrm>
            <a:off x="3225800" y="4203699"/>
            <a:ext cx="215900" cy="381000"/>
          </a:xfrm>
          <a:prstGeom prst="rect">
            <a:avLst/>
          </a:prstGeom>
          <a:noFill/>
        </p:spPr>
        <p:txBody>
          <a:bodyPr vert="horz" wrap="square" lIns="0" tIns="0" rIns="0" bIns="0" rtlCol="0">
            <a:noAutofit/>
          </a:bodyPr>
          <a:lstStyle/>
          <a:p>
            <a:r>
              <a:rPr lang="sv-SE" sz="2400" b="1">
                <a:solidFill>
                  <a:srgbClr val="087F75"/>
                </a:solidFill>
                <a:latin typeface="Aptos" panose="020B0004020202020204" pitchFamily="34" charset="0"/>
              </a:rPr>
              <a:t>›</a:t>
            </a:r>
          </a:p>
        </p:txBody>
      </p:sp>
      <p:sp>
        <p:nvSpPr>
          <p:cNvPr id="15" name="Rectangle: Rounded Corners 14">
            <a:extLst>
              <a:ext uri="{FF2B5EF4-FFF2-40B4-BE49-F238E27FC236}">
                <a16:creationId xmlns:a16="http://schemas.microsoft.com/office/drawing/2014/main" id="{652651D4-092D-4960-D4A7-859A0FB43F2A}"/>
              </a:ext>
            </a:extLst>
          </p:cNvPr>
          <p:cNvSpPr/>
          <p:nvPr/>
        </p:nvSpPr>
        <p:spPr>
          <a:xfrm>
            <a:off x="3441700" y="3060700"/>
            <a:ext cx="2527300" cy="2781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ctangle 15">
            <a:extLst>
              <a:ext uri="{FF2B5EF4-FFF2-40B4-BE49-F238E27FC236}">
                <a16:creationId xmlns:a16="http://schemas.microsoft.com/office/drawing/2014/main" id="{0B225F3A-1BF6-CBCF-6303-66500F37249F}"/>
              </a:ext>
            </a:extLst>
          </p:cNvPr>
          <p:cNvSpPr/>
          <p:nvPr/>
        </p:nvSpPr>
        <p:spPr>
          <a:xfrm>
            <a:off x="3670300" y="32893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Slide-11-text-16">
            <a:extLst>
              <a:ext uri="{FF2B5EF4-FFF2-40B4-BE49-F238E27FC236}">
                <a16:creationId xmlns:a16="http://schemas.microsoft.com/office/drawing/2014/main" id="{C3166B97-7E5E-152C-BA85-604690A09ECE}"/>
              </a:ext>
            </a:extLst>
          </p:cNvPr>
          <p:cNvSpPr txBox="1">
            <a:spLocks/>
          </p:cNvSpPr>
          <p:nvPr/>
        </p:nvSpPr>
        <p:spPr>
          <a:xfrm>
            <a:off x="3670300" y="3505199"/>
            <a:ext cx="20701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Develop</a:t>
            </a:r>
          </a:p>
        </p:txBody>
      </p:sp>
      <p:sp>
        <p:nvSpPr>
          <p:cNvPr id="18" name="Slide-11-text-17">
            <a:extLst>
              <a:ext uri="{FF2B5EF4-FFF2-40B4-BE49-F238E27FC236}">
                <a16:creationId xmlns:a16="http://schemas.microsoft.com/office/drawing/2014/main" id="{A0F8933B-1D64-910E-1CBB-241394696092}"/>
              </a:ext>
            </a:extLst>
          </p:cNvPr>
          <p:cNvSpPr txBox="1">
            <a:spLocks/>
          </p:cNvSpPr>
          <p:nvPr/>
        </p:nvSpPr>
        <p:spPr>
          <a:xfrm>
            <a:off x="3670300" y="4343399"/>
            <a:ext cx="2070100" cy="1282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Edit code/schemas; preview setup and blocks; inspect tests and logs.</a:t>
            </a:r>
            <a:endParaRPr lang="sv-SE" sz="1650">
              <a:solidFill>
                <a:srgbClr val="536873"/>
              </a:solidFill>
              <a:latin typeface="Aptos" panose="020B0004020202020204" pitchFamily="34" charset="0"/>
            </a:endParaRPr>
          </a:p>
        </p:txBody>
      </p:sp>
      <p:sp>
        <p:nvSpPr>
          <p:cNvPr id="19" name="Slide-11-text-18">
            <a:extLst>
              <a:ext uri="{FF2B5EF4-FFF2-40B4-BE49-F238E27FC236}">
                <a16:creationId xmlns:a16="http://schemas.microsoft.com/office/drawing/2014/main" id="{45A404EE-67AD-152C-278B-329A06D17030}"/>
              </a:ext>
            </a:extLst>
          </p:cNvPr>
          <p:cNvSpPr txBox="1">
            <a:spLocks/>
          </p:cNvSpPr>
          <p:nvPr/>
        </p:nvSpPr>
        <p:spPr>
          <a:xfrm>
            <a:off x="6007100" y="4203699"/>
            <a:ext cx="215900" cy="381000"/>
          </a:xfrm>
          <a:prstGeom prst="rect">
            <a:avLst/>
          </a:prstGeom>
          <a:noFill/>
        </p:spPr>
        <p:txBody>
          <a:bodyPr vert="horz" wrap="square" lIns="0" tIns="0" rIns="0" bIns="0" rtlCol="0">
            <a:noAutofit/>
          </a:bodyPr>
          <a:lstStyle/>
          <a:p>
            <a:r>
              <a:rPr lang="sv-SE" sz="2400" b="1">
                <a:solidFill>
                  <a:srgbClr val="087F75"/>
                </a:solidFill>
                <a:latin typeface="Aptos" panose="020B0004020202020204" pitchFamily="34" charset="0"/>
              </a:rPr>
              <a:t>›</a:t>
            </a:r>
          </a:p>
        </p:txBody>
      </p:sp>
      <p:sp>
        <p:nvSpPr>
          <p:cNvPr id="20" name="Rectangle: Rounded Corners 19">
            <a:extLst>
              <a:ext uri="{FF2B5EF4-FFF2-40B4-BE49-F238E27FC236}">
                <a16:creationId xmlns:a16="http://schemas.microsoft.com/office/drawing/2014/main" id="{2F1630D4-CC82-3F08-AA12-18D91E258AB2}"/>
              </a:ext>
            </a:extLst>
          </p:cNvPr>
          <p:cNvSpPr/>
          <p:nvPr/>
        </p:nvSpPr>
        <p:spPr>
          <a:xfrm>
            <a:off x="6223000" y="3060700"/>
            <a:ext cx="2527300" cy="2781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1" name="Rectangle 20">
            <a:extLst>
              <a:ext uri="{FF2B5EF4-FFF2-40B4-BE49-F238E27FC236}">
                <a16:creationId xmlns:a16="http://schemas.microsoft.com/office/drawing/2014/main" id="{0C1CFDAA-B04B-F1A1-A193-40229AA9257F}"/>
              </a:ext>
            </a:extLst>
          </p:cNvPr>
          <p:cNvSpPr/>
          <p:nvPr/>
        </p:nvSpPr>
        <p:spPr>
          <a:xfrm>
            <a:off x="6451600" y="32893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Slide-11-text-21">
            <a:extLst>
              <a:ext uri="{FF2B5EF4-FFF2-40B4-BE49-F238E27FC236}">
                <a16:creationId xmlns:a16="http://schemas.microsoft.com/office/drawing/2014/main" id="{DE8D60A3-000F-11DC-0076-C5D814BAC367}"/>
              </a:ext>
            </a:extLst>
          </p:cNvPr>
          <p:cNvSpPr txBox="1">
            <a:spLocks/>
          </p:cNvSpPr>
          <p:nvPr/>
        </p:nvSpPr>
        <p:spPr>
          <a:xfrm>
            <a:off x="6451600" y="3505199"/>
            <a:ext cx="20701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Release</a:t>
            </a:r>
          </a:p>
        </p:txBody>
      </p:sp>
      <p:sp>
        <p:nvSpPr>
          <p:cNvPr id="23" name="Slide-11-text-22">
            <a:extLst>
              <a:ext uri="{FF2B5EF4-FFF2-40B4-BE49-F238E27FC236}">
                <a16:creationId xmlns:a16="http://schemas.microsoft.com/office/drawing/2014/main" id="{969827AF-5E65-2181-1FFA-B3F3518C94B0}"/>
              </a:ext>
            </a:extLst>
          </p:cNvPr>
          <p:cNvSpPr txBox="1">
            <a:spLocks/>
          </p:cNvSpPr>
          <p:nvPr/>
        </p:nvSpPr>
        <p:spPr>
          <a:xfrm>
            <a:off x="6451600" y="4343399"/>
            <a:ext cx="2070100" cy="1282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Package an immutable version; activate locally or export it.</a:t>
            </a:r>
            <a:endParaRPr lang="sv-SE" sz="1650">
              <a:solidFill>
                <a:srgbClr val="536873"/>
              </a:solidFill>
              <a:latin typeface="Aptos" panose="020B0004020202020204" pitchFamily="34" charset="0"/>
            </a:endParaRPr>
          </a:p>
        </p:txBody>
      </p:sp>
      <p:sp>
        <p:nvSpPr>
          <p:cNvPr id="24" name="Slide-11-text-23">
            <a:extLst>
              <a:ext uri="{FF2B5EF4-FFF2-40B4-BE49-F238E27FC236}">
                <a16:creationId xmlns:a16="http://schemas.microsoft.com/office/drawing/2014/main" id="{668632F5-40CF-ED71-22E1-A23BA9998B6C}"/>
              </a:ext>
            </a:extLst>
          </p:cNvPr>
          <p:cNvSpPr txBox="1">
            <a:spLocks/>
          </p:cNvSpPr>
          <p:nvPr/>
        </p:nvSpPr>
        <p:spPr>
          <a:xfrm>
            <a:off x="8788400" y="4203699"/>
            <a:ext cx="215900" cy="381000"/>
          </a:xfrm>
          <a:prstGeom prst="rect">
            <a:avLst/>
          </a:prstGeom>
          <a:noFill/>
        </p:spPr>
        <p:txBody>
          <a:bodyPr vert="horz" wrap="square" lIns="0" tIns="0" rIns="0" bIns="0" rtlCol="0">
            <a:noAutofit/>
          </a:bodyPr>
          <a:lstStyle/>
          <a:p>
            <a:r>
              <a:rPr lang="sv-SE" sz="2400" b="1">
                <a:solidFill>
                  <a:srgbClr val="087F75"/>
                </a:solidFill>
                <a:latin typeface="Aptos" panose="020B0004020202020204" pitchFamily="34" charset="0"/>
              </a:rPr>
              <a:t>›</a:t>
            </a:r>
          </a:p>
        </p:txBody>
      </p:sp>
      <p:sp>
        <p:nvSpPr>
          <p:cNvPr id="25" name="Rectangle: Rounded Corners 24">
            <a:extLst>
              <a:ext uri="{FF2B5EF4-FFF2-40B4-BE49-F238E27FC236}">
                <a16:creationId xmlns:a16="http://schemas.microsoft.com/office/drawing/2014/main" id="{F0E9B02C-6DBE-B7C6-E9AA-A935B69B6EEE}"/>
              </a:ext>
            </a:extLst>
          </p:cNvPr>
          <p:cNvSpPr/>
          <p:nvPr/>
        </p:nvSpPr>
        <p:spPr>
          <a:xfrm>
            <a:off x="9004300" y="3060700"/>
            <a:ext cx="2527300" cy="2781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6" name="Rectangle 25">
            <a:extLst>
              <a:ext uri="{FF2B5EF4-FFF2-40B4-BE49-F238E27FC236}">
                <a16:creationId xmlns:a16="http://schemas.microsoft.com/office/drawing/2014/main" id="{60062959-65BB-BB6C-31E1-A3D294F52964}"/>
              </a:ext>
            </a:extLst>
          </p:cNvPr>
          <p:cNvSpPr/>
          <p:nvPr/>
        </p:nvSpPr>
        <p:spPr>
          <a:xfrm>
            <a:off x="9232900" y="32893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7" name="Slide-11-text-26">
            <a:extLst>
              <a:ext uri="{FF2B5EF4-FFF2-40B4-BE49-F238E27FC236}">
                <a16:creationId xmlns:a16="http://schemas.microsoft.com/office/drawing/2014/main" id="{08D6CFDF-8196-7FE5-A8AA-D5F8164BAF53}"/>
              </a:ext>
            </a:extLst>
          </p:cNvPr>
          <p:cNvSpPr txBox="1">
            <a:spLocks/>
          </p:cNvSpPr>
          <p:nvPr/>
        </p:nvSpPr>
        <p:spPr>
          <a:xfrm>
            <a:off x="9232900" y="3505199"/>
            <a:ext cx="20701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Share</a:t>
            </a:r>
          </a:p>
        </p:txBody>
      </p:sp>
      <p:sp>
        <p:nvSpPr>
          <p:cNvPr id="28" name="Slide-11-text-27">
            <a:extLst>
              <a:ext uri="{FF2B5EF4-FFF2-40B4-BE49-F238E27FC236}">
                <a16:creationId xmlns:a16="http://schemas.microsoft.com/office/drawing/2014/main" id="{03CFD3C2-032D-BC1D-86A9-A16291D1A0E7}"/>
              </a:ext>
            </a:extLst>
          </p:cNvPr>
          <p:cNvSpPr txBox="1">
            <a:spLocks/>
          </p:cNvSpPr>
          <p:nvPr/>
        </p:nvSpPr>
        <p:spPr>
          <a:xfrm>
            <a:off x="9232900" y="4343399"/>
            <a:ext cx="2070100" cy="1282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Install on another instance; optionally publish when the public service exists.</a:t>
            </a:r>
            <a:endParaRPr lang="sv-SE" sz="1650">
              <a:solidFill>
                <a:srgbClr val="536873"/>
              </a:solidFill>
              <a:latin typeface="Aptos" panose="020B0004020202020204" pitchFamily="34" charset="0"/>
            </a:endParaRPr>
          </a:p>
        </p:txBody>
      </p:sp>
    </p:spTree>
    <p:extLst>
      <p:ext uri="{BB962C8B-B14F-4D97-AF65-F5344CB8AC3E}">
        <p14:creationId xmlns:p14="http://schemas.microsoft.com/office/powerpoint/2010/main" val="2730168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ABDEE6-64EF-873E-DA8B-6B6BBDF3BA29}"/>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12-text-2">
            <a:extLst>
              <a:ext uri="{FF2B5EF4-FFF2-40B4-BE49-F238E27FC236}">
                <a16:creationId xmlns:a16="http://schemas.microsoft.com/office/drawing/2014/main" id="{E9F42923-B184-5DA2-F0E3-5D9D090153D6}"/>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DISTRIBUTION SCOPE</a:t>
            </a:r>
          </a:p>
        </p:txBody>
      </p:sp>
      <p:sp>
        <p:nvSpPr>
          <p:cNvPr id="4" name="Slide-12-text-3">
            <a:extLst>
              <a:ext uri="{FF2B5EF4-FFF2-40B4-BE49-F238E27FC236}">
                <a16:creationId xmlns:a16="http://schemas.microsoft.com/office/drawing/2014/main" id="{57F91B9A-51A0-F7D4-1BB1-588D4FF73616}"/>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681ACE0B-B19C-4477-0143-638658C91D42}"/>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12-text-5">
            <a:extLst>
              <a:ext uri="{FF2B5EF4-FFF2-40B4-BE49-F238E27FC236}">
                <a16:creationId xmlns:a16="http://schemas.microsoft.com/office/drawing/2014/main" id="{A24C85B3-A155-DFE5-12FA-8496B5228478}"/>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Central hosting distributes modules; local execution remains independent.</a:t>
            </a:r>
            <a:endParaRPr lang="sv-SE" sz="1500" b="1">
              <a:solidFill>
                <a:srgbClr val="087F75"/>
              </a:solidFill>
              <a:latin typeface="Aptos" panose="020B0004020202020204" pitchFamily="34" charset="0"/>
            </a:endParaRPr>
          </a:p>
        </p:txBody>
      </p:sp>
      <p:sp>
        <p:nvSpPr>
          <p:cNvPr id="7" name="Slide-12-text-6">
            <a:extLst>
              <a:ext uri="{FF2B5EF4-FFF2-40B4-BE49-F238E27FC236}">
                <a16:creationId xmlns:a16="http://schemas.microsoft.com/office/drawing/2014/main" id="{D1820D1C-D264-0EA4-5C8C-65C4AABECAFF}"/>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12 / 22</a:t>
            </a:r>
          </a:p>
        </p:txBody>
      </p:sp>
      <p:sp>
        <p:nvSpPr>
          <p:cNvPr id="8" name="Slide-12-text-7">
            <a:extLst>
              <a:ext uri="{FF2B5EF4-FFF2-40B4-BE49-F238E27FC236}">
                <a16:creationId xmlns:a16="http://schemas.microsoft.com/office/drawing/2014/main" id="{A3300EE7-9572-2265-5FC0-516AA748EA73}"/>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The library starts locally and grows into a service</a:t>
            </a:r>
            <a:endParaRPr lang="sv-SE" sz="3400" b="1">
              <a:solidFill>
                <a:srgbClr val="142D3A"/>
              </a:solidFill>
              <a:latin typeface="Aptos" panose="020B0004020202020204" pitchFamily="34" charset="0"/>
            </a:endParaRPr>
          </a:p>
        </p:txBody>
      </p:sp>
      <p:sp>
        <p:nvSpPr>
          <p:cNvPr id="9" name="Slide-12-text-8">
            <a:extLst>
              <a:ext uri="{FF2B5EF4-FFF2-40B4-BE49-F238E27FC236}">
                <a16:creationId xmlns:a16="http://schemas.microsoft.com/office/drawing/2014/main" id="{2E148587-4B96-1440-2861-BA1922642084}"/>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Separate the lifecycle demo from operating a public extension ecosystem.</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3A57714F-949D-63A1-48EC-C7123F4316A6}"/>
              </a:ext>
            </a:extLst>
          </p:cNvPr>
          <p:cNvSpPr/>
          <p:nvPr/>
        </p:nvSpPr>
        <p:spPr>
          <a:xfrm>
            <a:off x="660400" y="3048000"/>
            <a:ext cx="53086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E6E6DAA4-678F-556F-2CDD-756755D07253}"/>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12-text-11">
            <a:extLst>
              <a:ext uri="{FF2B5EF4-FFF2-40B4-BE49-F238E27FC236}">
                <a16:creationId xmlns:a16="http://schemas.microsoft.com/office/drawing/2014/main" id="{10C06C91-0F1D-1268-3400-C9BC3D0C14D5}"/>
              </a:ext>
            </a:extLst>
          </p:cNvPr>
          <p:cNvSpPr txBox="1">
            <a:spLocks/>
          </p:cNvSpPr>
          <p:nvPr/>
        </p:nvSpPr>
        <p:spPr>
          <a:xfrm>
            <a:off x="889000" y="3492499"/>
            <a:ext cx="4851400" cy="609600"/>
          </a:xfrm>
          <a:prstGeom prst="rect">
            <a:avLst/>
          </a:prstGeom>
          <a:noFill/>
        </p:spPr>
        <p:txBody>
          <a:bodyPr vert="horz" wrap="square" lIns="0" tIns="0" rIns="0" bIns="0" rtlCol="0">
            <a:noAutofit/>
          </a:bodyPr>
          <a:lstStyle/>
          <a:p>
            <a:r>
              <a:rPr lang="sv-SE" sz="2200" b="1">
                <a:solidFill>
                  <a:srgbClr val="142D3A"/>
                </a:solidFill>
                <a:latin typeface="Aptos" panose="020B0004020202020204" pitchFamily="34" charset="0"/>
              </a:rPr>
              <a:t>Local demo / in plan</a:t>
            </a:r>
          </a:p>
        </p:txBody>
      </p:sp>
      <p:sp>
        <p:nvSpPr>
          <p:cNvPr id="13" name="Slide-12-text-12">
            <a:extLst>
              <a:ext uri="{FF2B5EF4-FFF2-40B4-BE49-F238E27FC236}">
                <a16:creationId xmlns:a16="http://schemas.microsoft.com/office/drawing/2014/main" id="{B96D31DD-1B01-74D0-90AD-2CC2762B58BA}"/>
              </a:ext>
            </a:extLst>
          </p:cNvPr>
          <p:cNvSpPr txBox="1">
            <a:spLocks/>
          </p:cNvSpPr>
          <p:nvPr/>
        </p:nvSpPr>
        <p:spPr>
          <a:xfrm>
            <a:off x="889000" y="4216399"/>
            <a:ext cx="4851400" cy="1409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Separate catalog service with real downloads.
Versioned default packages and compatible installs.
Offline local activation and execution.
No public accounts or moderation required.</a:t>
            </a:r>
            <a:endParaRPr lang="sv-SE" sz="1650">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F38FA421-F581-E331-8C81-7E2D7D840D16}"/>
              </a:ext>
            </a:extLst>
          </p:cNvPr>
          <p:cNvSpPr/>
          <p:nvPr/>
        </p:nvSpPr>
        <p:spPr>
          <a:xfrm>
            <a:off x="6223000" y="3048000"/>
            <a:ext cx="53086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B5B2EFB7-0FDB-B561-15A5-07BB741CD996}"/>
              </a:ext>
            </a:extLst>
          </p:cNvPr>
          <p:cNvSpPr/>
          <p:nvPr/>
        </p:nvSpPr>
        <p:spPr>
          <a:xfrm>
            <a:off x="64516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12-text-15">
            <a:extLst>
              <a:ext uri="{FF2B5EF4-FFF2-40B4-BE49-F238E27FC236}">
                <a16:creationId xmlns:a16="http://schemas.microsoft.com/office/drawing/2014/main" id="{408EAE4A-837E-1A24-4B85-D708C08D2695}"/>
              </a:ext>
            </a:extLst>
          </p:cNvPr>
          <p:cNvSpPr txBox="1">
            <a:spLocks/>
          </p:cNvSpPr>
          <p:nvPr/>
        </p:nvSpPr>
        <p:spPr>
          <a:xfrm>
            <a:off x="6451600" y="3492499"/>
            <a:ext cx="4851400" cy="609600"/>
          </a:xfrm>
          <a:prstGeom prst="rect">
            <a:avLst/>
          </a:prstGeom>
          <a:noFill/>
        </p:spPr>
        <p:txBody>
          <a:bodyPr vert="horz" wrap="square" lIns="0" tIns="0" rIns="0" bIns="0" rtlCol="0">
            <a:noAutofit/>
          </a:bodyPr>
          <a:lstStyle/>
          <a:p>
            <a:r>
              <a:rPr lang="sv-SE" sz="2200" b="1">
                <a:solidFill>
                  <a:srgbClr val="142D3A"/>
                </a:solidFill>
                <a:latin typeface="Aptos" panose="020B0004020202020204" pitchFamily="34" charset="0"/>
              </a:rPr>
              <a:t>Public service / later</a:t>
            </a:r>
          </a:p>
        </p:txBody>
      </p:sp>
      <p:sp>
        <p:nvSpPr>
          <p:cNvPr id="17" name="Slide-12-text-16">
            <a:extLst>
              <a:ext uri="{FF2B5EF4-FFF2-40B4-BE49-F238E27FC236}">
                <a16:creationId xmlns:a16="http://schemas.microsoft.com/office/drawing/2014/main" id="{862590D1-F04B-D804-E08C-FFBC842D5AEE}"/>
              </a:ext>
            </a:extLst>
          </p:cNvPr>
          <p:cNvSpPr txBox="1">
            <a:spLocks/>
          </p:cNvSpPr>
          <p:nvPr/>
        </p:nvSpPr>
        <p:spPr>
          <a:xfrm>
            <a:off x="6451600" y="4216399"/>
            <a:ext cx="4851400" cy="1409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Publisher accounts and public package pages.
Central package/image storage and distribution.
Signing, checks, reporting, and advisories.
Operational ownership, policy, and funding.</a:t>
            </a:r>
            <a:endParaRPr lang="sv-SE" sz="1650">
              <a:solidFill>
                <a:srgbClr val="536873"/>
              </a:solidFill>
              <a:latin typeface="Aptos" panose="020B0004020202020204" pitchFamily="34" charset="0"/>
            </a:endParaRPr>
          </a:p>
        </p:txBody>
      </p:sp>
    </p:spTree>
    <p:extLst>
      <p:ext uri="{BB962C8B-B14F-4D97-AF65-F5344CB8AC3E}">
        <p14:creationId xmlns:p14="http://schemas.microsoft.com/office/powerpoint/2010/main" val="2182542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A37555-6A08-6AE2-BF3C-80B3F52C6255}"/>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13-text-2">
            <a:extLst>
              <a:ext uri="{FF2B5EF4-FFF2-40B4-BE49-F238E27FC236}">
                <a16:creationId xmlns:a16="http://schemas.microsoft.com/office/drawing/2014/main" id="{92E93A8D-B914-7B52-CBFE-4760E8B6EC15}"/>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RECOMMENDATIONS FOR DISCUSSION</a:t>
            </a:r>
          </a:p>
        </p:txBody>
      </p:sp>
      <p:sp>
        <p:nvSpPr>
          <p:cNvPr id="4" name="Slide-13-text-3">
            <a:extLst>
              <a:ext uri="{FF2B5EF4-FFF2-40B4-BE49-F238E27FC236}">
                <a16:creationId xmlns:a16="http://schemas.microsoft.com/office/drawing/2014/main" id="{5E355425-2F43-DFAA-9E51-6D0647114115}"/>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D7C95B6A-F5BA-CD76-C12A-DBAF08183106}"/>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13-text-5">
            <a:extLst>
              <a:ext uri="{FF2B5EF4-FFF2-40B4-BE49-F238E27FC236}">
                <a16:creationId xmlns:a16="http://schemas.microsoft.com/office/drawing/2014/main" id="{F0265F32-C255-8C78-8CAD-1CB67EFED223}"/>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Start with supervised runtimes and generated UI; retain extension hooks.</a:t>
            </a:r>
            <a:endParaRPr lang="sv-SE" sz="1500" b="1">
              <a:solidFill>
                <a:srgbClr val="087F75"/>
              </a:solidFill>
              <a:latin typeface="Aptos" panose="020B0004020202020204" pitchFamily="34" charset="0"/>
            </a:endParaRPr>
          </a:p>
        </p:txBody>
      </p:sp>
      <p:sp>
        <p:nvSpPr>
          <p:cNvPr id="7" name="Slide-13-text-6">
            <a:extLst>
              <a:ext uri="{FF2B5EF4-FFF2-40B4-BE49-F238E27FC236}">
                <a16:creationId xmlns:a16="http://schemas.microsoft.com/office/drawing/2014/main" id="{AB81EA37-1D72-3461-1CFE-681953FF2B3C}"/>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13 / 22</a:t>
            </a:r>
          </a:p>
        </p:txBody>
      </p:sp>
      <p:sp>
        <p:nvSpPr>
          <p:cNvPr id="8" name="Slide-13-text-7">
            <a:extLst>
              <a:ext uri="{FF2B5EF4-FFF2-40B4-BE49-F238E27FC236}">
                <a16:creationId xmlns:a16="http://schemas.microsoft.com/office/drawing/2014/main" id="{A0AAE3BD-E7F0-3873-D519-384D1B2E702D}"/>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Compare the practical implementation choices</a:t>
            </a:r>
            <a:endParaRPr lang="sv-SE" sz="3400" b="1">
              <a:solidFill>
                <a:srgbClr val="142D3A"/>
              </a:solidFill>
              <a:latin typeface="Aptos" panose="020B0004020202020204" pitchFamily="34" charset="0"/>
            </a:endParaRPr>
          </a:p>
        </p:txBody>
      </p:sp>
      <p:sp>
        <p:nvSpPr>
          <p:cNvPr id="9" name="Slide-13-text-8">
            <a:extLst>
              <a:ext uri="{FF2B5EF4-FFF2-40B4-BE49-F238E27FC236}">
                <a16:creationId xmlns:a16="http://schemas.microsoft.com/office/drawing/2014/main" id="{48971B93-53EB-C53C-B7E2-26B98840F541}"/>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Keep host freedom while choosing maintainable contracts and packaging.</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7598FD3B-DFA8-9EB0-9369-F43268BD7C12}"/>
              </a:ext>
            </a:extLst>
          </p:cNvPr>
          <p:cNvSpPr/>
          <p:nvPr/>
        </p:nvSpPr>
        <p:spPr>
          <a:xfrm>
            <a:off x="6604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79CC278E-AD65-0F97-EA97-DE417A90457A}"/>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13-text-11">
            <a:extLst>
              <a:ext uri="{FF2B5EF4-FFF2-40B4-BE49-F238E27FC236}">
                <a16:creationId xmlns:a16="http://schemas.microsoft.com/office/drawing/2014/main" id="{82A0FD4C-677D-B80F-0107-7B1EF82F0FEB}"/>
              </a:ext>
            </a:extLst>
          </p:cNvPr>
          <p:cNvSpPr txBox="1">
            <a:spLocks/>
          </p:cNvSpPr>
          <p:nvPr/>
        </p:nvSpPr>
        <p:spPr>
          <a:xfrm>
            <a:off x="8890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In-process plugins</a:t>
            </a:r>
          </a:p>
        </p:txBody>
      </p:sp>
      <p:sp>
        <p:nvSpPr>
          <p:cNvPr id="13" name="Slide-13-text-12">
            <a:extLst>
              <a:ext uri="{FF2B5EF4-FFF2-40B4-BE49-F238E27FC236}">
                <a16:creationId xmlns:a16="http://schemas.microsoft.com/office/drawing/2014/main" id="{440D9E62-C531-3CBC-2C2C-2030AAEA93CE}"/>
              </a:ext>
            </a:extLst>
          </p:cNvPr>
          <p:cNvSpPr txBox="1">
            <a:spLocks/>
          </p:cNvSpPr>
          <p:nvPr/>
        </p:nvSpPr>
        <p:spPr>
          <a:xfrm>
            <a:off x="889000" y="4330699"/>
            <a:ext cx="2997200" cy="12954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Benefit: direct calls.
Cost: shared failures.
Position: avoid as default.</a:t>
            </a:r>
            <a:endParaRPr lang="sv-SE" sz="1650">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35C106E0-369B-C14F-6CB8-81EFB365B8DA}"/>
              </a:ext>
            </a:extLst>
          </p:cNvPr>
          <p:cNvSpPr/>
          <p:nvPr/>
        </p:nvSpPr>
        <p:spPr>
          <a:xfrm>
            <a:off x="43688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AD73115C-C777-9BD9-8024-FA66AEBB1946}"/>
              </a:ext>
            </a:extLst>
          </p:cNvPr>
          <p:cNvSpPr/>
          <p:nvPr/>
        </p:nvSpPr>
        <p:spPr>
          <a:xfrm>
            <a:off x="45974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13-text-15">
            <a:extLst>
              <a:ext uri="{FF2B5EF4-FFF2-40B4-BE49-F238E27FC236}">
                <a16:creationId xmlns:a16="http://schemas.microsoft.com/office/drawing/2014/main" id="{293168D6-4275-3C0B-9BCA-4039D70CEA8B}"/>
              </a:ext>
            </a:extLst>
          </p:cNvPr>
          <p:cNvSpPr txBox="1">
            <a:spLocks/>
          </p:cNvSpPr>
          <p:nvPr/>
        </p:nvSpPr>
        <p:spPr>
          <a:xfrm>
            <a:off x="45974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Supervised host runtimes</a:t>
            </a:r>
          </a:p>
        </p:txBody>
      </p:sp>
      <p:sp>
        <p:nvSpPr>
          <p:cNvPr id="17" name="Slide-13-text-16">
            <a:extLst>
              <a:ext uri="{FF2B5EF4-FFF2-40B4-BE49-F238E27FC236}">
                <a16:creationId xmlns:a16="http://schemas.microsoft.com/office/drawing/2014/main" id="{7CF4B065-1D47-8A17-A933-9ADD8A18D6A4}"/>
              </a:ext>
            </a:extLst>
          </p:cNvPr>
          <p:cNvSpPr txBox="1">
            <a:spLocks/>
          </p:cNvSpPr>
          <p:nvPr/>
        </p:nvSpPr>
        <p:spPr>
          <a:xfrm>
            <a:off x="4597400" y="4330699"/>
            <a:ext cx="2997200" cy="12954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Benefit: host freedom.
Cost: dependency ownership.
Position: first host path.</a:t>
            </a:r>
            <a:endParaRPr lang="sv-SE" sz="1650">
              <a:solidFill>
                <a:srgbClr val="536873"/>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0CB4212A-DBDD-9E5C-01BF-D1C9567AFC27}"/>
              </a:ext>
            </a:extLst>
          </p:cNvPr>
          <p:cNvSpPr/>
          <p:nvPr/>
        </p:nvSpPr>
        <p:spPr>
          <a:xfrm>
            <a:off x="80772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a:extLst>
              <a:ext uri="{FF2B5EF4-FFF2-40B4-BE49-F238E27FC236}">
                <a16:creationId xmlns:a16="http://schemas.microsoft.com/office/drawing/2014/main" id="{F9EEA300-BDFC-1252-90F9-EF5B74C49470}"/>
              </a:ext>
            </a:extLst>
          </p:cNvPr>
          <p:cNvSpPr/>
          <p:nvPr/>
        </p:nvSpPr>
        <p:spPr>
          <a:xfrm>
            <a:off x="83058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Slide-13-text-19">
            <a:extLst>
              <a:ext uri="{FF2B5EF4-FFF2-40B4-BE49-F238E27FC236}">
                <a16:creationId xmlns:a16="http://schemas.microsoft.com/office/drawing/2014/main" id="{557520C7-B69E-1C10-6318-86DF9E09766F}"/>
              </a:ext>
            </a:extLst>
          </p:cNvPr>
          <p:cNvSpPr txBox="1">
            <a:spLocks/>
          </p:cNvSpPr>
          <p:nvPr/>
        </p:nvSpPr>
        <p:spPr>
          <a:xfrm>
            <a:off x="83058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Container runtimes</a:t>
            </a:r>
          </a:p>
        </p:txBody>
      </p:sp>
      <p:sp>
        <p:nvSpPr>
          <p:cNvPr id="21" name="Slide-13-text-20">
            <a:extLst>
              <a:ext uri="{FF2B5EF4-FFF2-40B4-BE49-F238E27FC236}">
                <a16:creationId xmlns:a16="http://schemas.microsoft.com/office/drawing/2014/main" id="{5BB602F5-4806-F88C-4C43-9D5CBA3457C2}"/>
              </a:ext>
            </a:extLst>
          </p:cNvPr>
          <p:cNvSpPr txBox="1">
            <a:spLocks/>
          </p:cNvSpPr>
          <p:nvPr/>
        </p:nvSpPr>
        <p:spPr>
          <a:xfrm>
            <a:off x="8305800" y="4330699"/>
            <a:ext cx="2997200" cy="12954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Benefit: bundled dependencies.
Cost: ARM/device setup.
Position: packaging option.</a:t>
            </a:r>
            <a:endParaRPr lang="sv-SE" sz="1650">
              <a:solidFill>
                <a:srgbClr val="536873"/>
              </a:solidFill>
              <a:latin typeface="Aptos" panose="020B0004020202020204" pitchFamily="34" charset="0"/>
            </a:endParaRPr>
          </a:p>
        </p:txBody>
      </p:sp>
    </p:spTree>
    <p:extLst>
      <p:ext uri="{BB962C8B-B14F-4D97-AF65-F5344CB8AC3E}">
        <p14:creationId xmlns:p14="http://schemas.microsoft.com/office/powerpoint/2010/main" val="1471453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F3525CB-CF79-F3A5-A559-22F8650912B8}"/>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14-text-2">
            <a:extLst>
              <a:ext uri="{FF2B5EF4-FFF2-40B4-BE49-F238E27FC236}">
                <a16:creationId xmlns:a16="http://schemas.microsoft.com/office/drawing/2014/main" id="{D6B8080E-8F12-ED2F-62FC-E0C1E96D3281}"/>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ACCEPTANCE AND RECOVERY</a:t>
            </a:r>
          </a:p>
        </p:txBody>
      </p:sp>
      <p:sp>
        <p:nvSpPr>
          <p:cNvPr id="4" name="Slide-14-text-3">
            <a:extLst>
              <a:ext uri="{FF2B5EF4-FFF2-40B4-BE49-F238E27FC236}">
                <a16:creationId xmlns:a16="http://schemas.microsoft.com/office/drawing/2014/main" id="{487F22C4-3724-05F7-3104-D6C4E75A5073}"/>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8231E21B-D2E2-5B5A-B127-7D981F8E660A}"/>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14-text-5">
            <a:extLst>
              <a:ext uri="{FF2B5EF4-FFF2-40B4-BE49-F238E27FC236}">
                <a16:creationId xmlns:a16="http://schemas.microsoft.com/office/drawing/2014/main" id="{4A29DE7F-1B70-02E1-AF4F-696B078E11DD}"/>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Uninstall removes a capability; data deletion is a separate action.</a:t>
            </a:r>
            <a:endParaRPr lang="sv-SE" sz="1500" b="1">
              <a:solidFill>
                <a:srgbClr val="087F75"/>
              </a:solidFill>
              <a:latin typeface="Aptos" panose="020B0004020202020204" pitchFamily="34" charset="0"/>
            </a:endParaRPr>
          </a:p>
        </p:txBody>
      </p:sp>
      <p:sp>
        <p:nvSpPr>
          <p:cNvPr id="7" name="Slide-14-text-6">
            <a:extLst>
              <a:ext uri="{FF2B5EF4-FFF2-40B4-BE49-F238E27FC236}">
                <a16:creationId xmlns:a16="http://schemas.microsoft.com/office/drawing/2014/main" id="{AFB3C00B-D31C-B32A-91A0-4D66B05A62EA}"/>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14 / 22</a:t>
            </a:r>
          </a:p>
        </p:txBody>
      </p:sp>
      <p:sp>
        <p:nvSpPr>
          <p:cNvPr id="8" name="Slide-14-text-7">
            <a:extLst>
              <a:ext uri="{FF2B5EF4-FFF2-40B4-BE49-F238E27FC236}">
                <a16:creationId xmlns:a16="http://schemas.microsoft.com/office/drawing/2014/main" id="{65533748-4D4D-EF06-8F17-62C3464F6E56}"/>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Prove extensibility without losing existing users' work</a:t>
            </a:r>
            <a:endParaRPr lang="sv-SE" sz="3400" b="1">
              <a:solidFill>
                <a:srgbClr val="142D3A"/>
              </a:solidFill>
              <a:latin typeface="Aptos" panose="020B0004020202020204" pitchFamily="34" charset="0"/>
            </a:endParaRPr>
          </a:p>
        </p:txBody>
      </p:sp>
      <p:sp>
        <p:nvSpPr>
          <p:cNvPr id="9" name="Slide-14-text-8">
            <a:extLst>
              <a:ext uri="{FF2B5EF4-FFF2-40B4-BE49-F238E27FC236}">
                <a16:creationId xmlns:a16="http://schemas.microsoft.com/office/drawing/2014/main" id="{1DAA4576-FE2C-E7AB-9EAB-2818F254EDF1}"/>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Preserve configured instances and observable behavior through removal and reinstall.</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C94EFCA6-11B7-20CA-3E4F-2EFE1B3769DA}"/>
              </a:ext>
            </a:extLst>
          </p:cNvPr>
          <p:cNvSpPr/>
          <p:nvPr/>
        </p:nvSpPr>
        <p:spPr>
          <a:xfrm>
            <a:off x="6604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03FFBCE4-9474-5937-702E-4365ED2A8C40}"/>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14-text-11">
            <a:extLst>
              <a:ext uri="{FF2B5EF4-FFF2-40B4-BE49-F238E27FC236}">
                <a16:creationId xmlns:a16="http://schemas.microsoft.com/office/drawing/2014/main" id="{90A57FF5-2DEC-EC93-164A-FB93890E8768}"/>
              </a:ext>
            </a:extLst>
          </p:cNvPr>
          <p:cNvSpPr txBox="1">
            <a:spLocks/>
          </p:cNvSpPr>
          <p:nvPr/>
        </p:nvSpPr>
        <p:spPr>
          <a:xfrm>
            <a:off x="8890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Preserve</a:t>
            </a:r>
          </a:p>
        </p:txBody>
      </p:sp>
      <p:sp>
        <p:nvSpPr>
          <p:cNvPr id="13" name="Slide-14-text-12">
            <a:extLst>
              <a:ext uri="{FF2B5EF4-FFF2-40B4-BE49-F238E27FC236}">
                <a16:creationId xmlns:a16="http://schemas.microsoft.com/office/drawing/2014/main" id="{03CDBC30-C17C-9450-7F98-D445D4A25DB3}"/>
              </a:ext>
            </a:extLst>
          </p:cNvPr>
          <p:cNvSpPr txBox="1">
            <a:spLocks/>
          </p:cNvSpPr>
          <p:nvPr/>
        </p:nvSpPr>
        <p:spPr>
          <a:xfrm>
            <a:off x="8890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Keep IDs, device settings, secrets, workflows, and execution history.</a:t>
            </a:r>
            <a:endParaRPr lang="sv-SE">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E8A2DC8C-B333-84DF-95E7-1006C4845B6C}"/>
              </a:ext>
            </a:extLst>
          </p:cNvPr>
          <p:cNvSpPr/>
          <p:nvPr/>
        </p:nvSpPr>
        <p:spPr>
          <a:xfrm>
            <a:off x="43688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DD6AC3CC-015B-0FB1-684D-8C13D3DC9372}"/>
              </a:ext>
            </a:extLst>
          </p:cNvPr>
          <p:cNvSpPr/>
          <p:nvPr/>
        </p:nvSpPr>
        <p:spPr>
          <a:xfrm>
            <a:off x="45974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14-text-15">
            <a:extLst>
              <a:ext uri="{FF2B5EF4-FFF2-40B4-BE49-F238E27FC236}">
                <a16:creationId xmlns:a16="http://schemas.microsoft.com/office/drawing/2014/main" id="{5AF075E8-EAB1-2325-5F6D-FCE2D69033F5}"/>
              </a:ext>
            </a:extLst>
          </p:cNvPr>
          <p:cNvSpPr txBox="1">
            <a:spLocks/>
          </p:cNvSpPr>
          <p:nvPr/>
        </p:nvSpPr>
        <p:spPr>
          <a:xfrm>
            <a:off x="45974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Explain</a:t>
            </a:r>
          </a:p>
        </p:txBody>
      </p:sp>
      <p:sp>
        <p:nvSpPr>
          <p:cNvPr id="17" name="Slide-14-text-16">
            <a:extLst>
              <a:ext uri="{FF2B5EF4-FFF2-40B4-BE49-F238E27FC236}">
                <a16:creationId xmlns:a16="http://schemas.microsoft.com/office/drawing/2014/main" id="{590D744A-3142-7A35-0272-42E4F4BAC325}"/>
              </a:ext>
            </a:extLst>
          </p:cNvPr>
          <p:cNvSpPr txBox="1">
            <a:spLocks/>
          </p:cNvSpPr>
          <p:nvPr/>
        </p:nvSpPr>
        <p:spPr>
          <a:xfrm>
            <a:off x="45974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Render missing-package placeholders with clear restoration steps.</a:t>
            </a:r>
            <a:endParaRPr lang="sv-SE">
              <a:solidFill>
                <a:srgbClr val="536873"/>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8380D31D-3372-F8A8-0636-8F114FA5BF8C}"/>
              </a:ext>
            </a:extLst>
          </p:cNvPr>
          <p:cNvSpPr/>
          <p:nvPr/>
        </p:nvSpPr>
        <p:spPr>
          <a:xfrm>
            <a:off x="80772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a:extLst>
              <a:ext uri="{FF2B5EF4-FFF2-40B4-BE49-F238E27FC236}">
                <a16:creationId xmlns:a16="http://schemas.microsoft.com/office/drawing/2014/main" id="{F75F53AF-B665-28A4-E5A9-3AF062106F1F}"/>
              </a:ext>
            </a:extLst>
          </p:cNvPr>
          <p:cNvSpPr/>
          <p:nvPr/>
        </p:nvSpPr>
        <p:spPr>
          <a:xfrm>
            <a:off x="83058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Slide-14-text-19">
            <a:extLst>
              <a:ext uri="{FF2B5EF4-FFF2-40B4-BE49-F238E27FC236}">
                <a16:creationId xmlns:a16="http://schemas.microsoft.com/office/drawing/2014/main" id="{46C34D3B-60F5-2BB7-1E06-284B1D35FC80}"/>
              </a:ext>
            </a:extLst>
          </p:cNvPr>
          <p:cNvSpPr txBox="1">
            <a:spLocks/>
          </p:cNvSpPr>
          <p:nvPr/>
        </p:nvSpPr>
        <p:spPr>
          <a:xfrm>
            <a:off x="83058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Recover</a:t>
            </a:r>
          </a:p>
        </p:txBody>
      </p:sp>
      <p:sp>
        <p:nvSpPr>
          <p:cNvPr id="21" name="Slide-14-text-20">
            <a:extLst>
              <a:ext uri="{FF2B5EF4-FFF2-40B4-BE49-F238E27FC236}">
                <a16:creationId xmlns:a16="http://schemas.microsoft.com/office/drawing/2014/main" id="{F68F9DA1-A257-C777-09DF-06A5EC1212EF}"/>
              </a:ext>
            </a:extLst>
          </p:cNvPr>
          <p:cNvSpPr txBox="1">
            <a:spLocks/>
          </p:cNvSpPr>
          <p:nvPr/>
        </p:nvSpPr>
        <p:spPr>
          <a:xfrm>
            <a:off x="83058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Exercise restart, interrupted installs, failed setup, version conflicts, and backups.</a:t>
            </a:r>
            <a:endParaRPr lang="sv-SE">
              <a:solidFill>
                <a:srgbClr val="536873"/>
              </a:solidFill>
              <a:latin typeface="Aptos" panose="020B0004020202020204" pitchFamily="34" charset="0"/>
            </a:endParaRPr>
          </a:p>
        </p:txBody>
      </p:sp>
    </p:spTree>
    <p:extLst>
      <p:ext uri="{BB962C8B-B14F-4D97-AF65-F5344CB8AC3E}">
        <p14:creationId xmlns:p14="http://schemas.microsoft.com/office/powerpoint/2010/main" val="2786087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B8D76ED-CA8C-A319-A0C2-2F1FD4676CB5}"/>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15-text-2">
            <a:extLst>
              <a:ext uri="{FF2B5EF4-FFF2-40B4-BE49-F238E27FC236}">
                <a16:creationId xmlns:a16="http://schemas.microsoft.com/office/drawing/2014/main" id="{DD54F5D7-F178-44A6-B6B6-90F27FA48B2B}"/>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SEQUENCE / NO DATE COMMITMENT</a:t>
            </a:r>
          </a:p>
        </p:txBody>
      </p:sp>
      <p:sp>
        <p:nvSpPr>
          <p:cNvPr id="4" name="Slide-15-text-3">
            <a:extLst>
              <a:ext uri="{FF2B5EF4-FFF2-40B4-BE49-F238E27FC236}">
                <a16:creationId xmlns:a16="http://schemas.microsoft.com/office/drawing/2014/main" id="{F16FABBA-A442-E1AC-1389-04FBB790E0DC}"/>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DB572230-C9AC-CBEC-7887-A2BCC0A0BE69}"/>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15-text-5">
            <a:extLst>
              <a:ext uri="{FF2B5EF4-FFF2-40B4-BE49-F238E27FC236}">
                <a16:creationId xmlns:a16="http://schemas.microsoft.com/office/drawing/2014/main" id="{2B189710-7792-4969-5D02-ACE9A6114FA5}"/>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Estimate broader delivery after contracts and M1 expose the real coupling.</a:t>
            </a:r>
            <a:endParaRPr lang="sv-SE" sz="1500" b="1">
              <a:solidFill>
                <a:srgbClr val="087F75"/>
              </a:solidFill>
              <a:latin typeface="Aptos" panose="020B0004020202020204" pitchFamily="34" charset="0"/>
            </a:endParaRPr>
          </a:p>
        </p:txBody>
      </p:sp>
      <p:sp>
        <p:nvSpPr>
          <p:cNvPr id="7" name="Slide-15-text-6">
            <a:extLst>
              <a:ext uri="{FF2B5EF4-FFF2-40B4-BE49-F238E27FC236}">
                <a16:creationId xmlns:a16="http://schemas.microsoft.com/office/drawing/2014/main" id="{1A6C6E3B-B80F-83AD-755E-6AFB2262B2CB}"/>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15 / 22</a:t>
            </a:r>
          </a:p>
        </p:txBody>
      </p:sp>
      <p:sp>
        <p:nvSpPr>
          <p:cNvPr id="8" name="Slide-15-text-7">
            <a:extLst>
              <a:ext uri="{FF2B5EF4-FFF2-40B4-BE49-F238E27FC236}">
                <a16:creationId xmlns:a16="http://schemas.microsoft.com/office/drawing/2014/main" id="{BE54E839-5C46-49CA-2746-99A12B09230E}"/>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Delivery gates control scope and investment</a:t>
            </a:r>
            <a:endParaRPr lang="sv-SE" sz="3400" b="1">
              <a:solidFill>
                <a:srgbClr val="142D3A"/>
              </a:solidFill>
              <a:latin typeface="Aptos" panose="020B0004020202020204" pitchFamily="34" charset="0"/>
            </a:endParaRPr>
          </a:p>
        </p:txBody>
      </p:sp>
      <p:sp>
        <p:nvSpPr>
          <p:cNvPr id="9" name="Slide-15-text-8">
            <a:extLst>
              <a:ext uri="{FF2B5EF4-FFF2-40B4-BE49-F238E27FC236}">
                <a16:creationId xmlns:a16="http://schemas.microsoft.com/office/drawing/2014/main" id="{17AD7AD9-EF85-0784-5513-99769D6942A5}"/>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Each gate produces evidence that supports the next delivery decision.</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9F9012C9-8189-A049-F50C-28D98B5BB780}"/>
              </a:ext>
            </a:extLst>
          </p:cNvPr>
          <p:cNvSpPr/>
          <p:nvPr/>
        </p:nvSpPr>
        <p:spPr>
          <a:xfrm>
            <a:off x="660400" y="3060700"/>
            <a:ext cx="2527300" cy="2781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9E5258F5-AD1E-5D60-656A-2E95BB0CEE30}"/>
              </a:ext>
            </a:extLst>
          </p:cNvPr>
          <p:cNvSpPr/>
          <p:nvPr/>
        </p:nvSpPr>
        <p:spPr>
          <a:xfrm>
            <a:off x="889000" y="32893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15-text-11">
            <a:extLst>
              <a:ext uri="{FF2B5EF4-FFF2-40B4-BE49-F238E27FC236}">
                <a16:creationId xmlns:a16="http://schemas.microsoft.com/office/drawing/2014/main" id="{761440C8-F83C-7138-2A91-FB1934937663}"/>
              </a:ext>
            </a:extLst>
          </p:cNvPr>
          <p:cNvSpPr txBox="1">
            <a:spLocks/>
          </p:cNvSpPr>
          <p:nvPr/>
        </p:nvSpPr>
        <p:spPr>
          <a:xfrm>
            <a:off x="889000" y="3505199"/>
            <a:ext cx="20701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M1 / Lifecycle proof</a:t>
            </a:r>
          </a:p>
        </p:txBody>
      </p:sp>
      <p:sp>
        <p:nvSpPr>
          <p:cNvPr id="13" name="Slide-15-text-12">
            <a:extLst>
              <a:ext uri="{FF2B5EF4-FFF2-40B4-BE49-F238E27FC236}">
                <a16:creationId xmlns:a16="http://schemas.microsoft.com/office/drawing/2014/main" id="{B74E634C-23A5-FE87-9DB8-5D5398DF7AB1}"/>
              </a:ext>
            </a:extLst>
          </p:cNvPr>
          <p:cNvSpPr txBox="1">
            <a:spLocks/>
          </p:cNvSpPr>
          <p:nvPr/>
        </p:nvSpPr>
        <p:spPr>
          <a:xfrm>
            <a:off x="889000" y="4343399"/>
            <a:ext cx="2070100" cy="1282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Inventory + contracts + HTTP slice + local download/reinstall.</a:t>
            </a:r>
            <a:endParaRPr lang="sv-SE" sz="1650">
              <a:solidFill>
                <a:srgbClr val="536873"/>
              </a:solidFill>
              <a:latin typeface="Aptos" panose="020B0004020202020204" pitchFamily="34" charset="0"/>
            </a:endParaRPr>
          </a:p>
        </p:txBody>
      </p:sp>
      <p:sp>
        <p:nvSpPr>
          <p:cNvPr id="14" name="Slide-15-text-13">
            <a:extLst>
              <a:ext uri="{FF2B5EF4-FFF2-40B4-BE49-F238E27FC236}">
                <a16:creationId xmlns:a16="http://schemas.microsoft.com/office/drawing/2014/main" id="{1718B796-B1D5-2E1D-85C2-89C825CD2059}"/>
              </a:ext>
            </a:extLst>
          </p:cNvPr>
          <p:cNvSpPr txBox="1">
            <a:spLocks/>
          </p:cNvSpPr>
          <p:nvPr/>
        </p:nvSpPr>
        <p:spPr>
          <a:xfrm>
            <a:off x="3225800" y="4203699"/>
            <a:ext cx="215900" cy="381000"/>
          </a:xfrm>
          <a:prstGeom prst="rect">
            <a:avLst/>
          </a:prstGeom>
          <a:noFill/>
        </p:spPr>
        <p:txBody>
          <a:bodyPr vert="horz" wrap="square" lIns="0" tIns="0" rIns="0" bIns="0" rtlCol="0">
            <a:noAutofit/>
          </a:bodyPr>
          <a:lstStyle/>
          <a:p>
            <a:r>
              <a:rPr lang="sv-SE" sz="2400" b="1">
                <a:solidFill>
                  <a:srgbClr val="087F75"/>
                </a:solidFill>
                <a:latin typeface="Aptos" panose="020B0004020202020204" pitchFamily="34" charset="0"/>
              </a:rPr>
              <a:t>›</a:t>
            </a:r>
          </a:p>
        </p:txBody>
      </p:sp>
      <p:sp>
        <p:nvSpPr>
          <p:cNvPr id="15" name="Rectangle: Rounded Corners 14">
            <a:extLst>
              <a:ext uri="{FF2B5EF4-FFF2-40B4-BE49-F238E27FC236}">
                <a16:creationId xmlns:a16="http://schemas.microsoft.com/office/drawing/2014/main" id="{E602D2A5-EA3F-130F-6363-F936B60A4B4B}"/>
              </a:ext>
            </a:extLst>
          </p:cNvPr>
          <p:cNvSpPr/>
          <p:nvPr/>
        </p:nvSpPr>
        <p:spPr>
          <a:xfrm>
            <a:off x="3441700" y="3060700"/>
            <a:ext cx="2527300" cy="2781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ctangle 15">
            <a:extLst>
              <a:ext uri="{FF2B5EF4-FFF2-40B4-BE49-F238E27FC236}">
                <a16:creationId xmlns:a16="http://schemas.microsoft.com/office/drawing/2014/main" id="{A5774857-54E5-7A3D-077E-FCA2EABE3235}"/>
              </a:ext>
            </a:extLst>
          </p:cNvPr>
          <p:cNvSpPr/>
          <p:nvPr/>
        </p:nvSpPr>
        <p:spPr>
          <a:xfrm>
            <a:off x="3670300" y="32893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Slide-15-text-16">
            <a:extLst>
              <a:ext uri="{FF2B5EF4-FFF2-40B4-BE49-F238E27FC236}">
                <a16:creationId xmlns:a16="http://schemas.microsoft.com/office/drawing/2014/main" id="{124072E8-CA73-D4C7-E904-70821B54F24C}"/>
              </a:ext>
            </a:extLst>
          </p:cNvPr>
          <p:cNvSpPr txBox="1">
            <a:spLocks/>
          </p:cNvSpPr>
          <p:nvPr/>
        </p:nvSpPr>
        <p:spPr>
          <a:xfrm>
            <a:off x="3670300" y="3505199"/>
            <a:ext cx="20701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M2 / Default parity</a:t>
            </a:r>
          </a:p>
        </p:txBody>
      </p:sp>
      <p:sp>
        <p:nvSpPr>
          <p:cNvPr id="18" name="Slide-15-text-17">
            <a:extLst>
              <a:ext uri="{FF2B5EF4-FFF2-40B4-BE49-F238E27FC236}">
                <a16:creationId xmlns:a16="http://schemas.microsoft.com/office/drawing/2014/main" id="{8CE9D92E-DEBB-3A4E-5236-2CE1B9223AE2}"/>
              </a:ext>
            </a:extLst>
          </p:cNvPr>
          <p:cNvSpPr txBox="1">
            <a:spLocks/>
          </p:cNvSpPr>
          <p:nvPr/>
        </p:nvSpPr>
        <p:spPr>
          <a:xfrm>
            <a:off x="3670300" y="4343399"/>
            <a:ext cx="2070100" cy="1282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All capability families packaged; physical hardware and restoration verified.</a:t>
            </a:r>
            <a:endParaRPr lang="sv-SE" sz="1650">
              <a:solidFill>
                <a:srgbClr val="536873"/>
              </a:solidFill>
              <a:latin typeface="Aptos" panose="020B0004020202020204" pitchFamily="34" charset="0"/>
            </a:endParaRPr>
          </a:p>
        </p:txBody>
      </p:sp>
      <p:sp>
        <p:nvSpPr>
          <p:cNvPr id="19" name="Slide-15-text-18">
            <a:extLst>
              <a:ext uri="{FF2B5EF4-FFF2-40B4-BE49-F238E27FC236}">
                <a16:creationId xmlns:a16="http://schemas.microsoft.com/office/drawing/2014/main" id="{20913147-8CBD-8F80-D6C9-512F3499B447}"/>
              </a:ext>
            </a:extLst>
          </p:cNvPr>
          <p:cNvSpPr txBox="1">
            <a:spLocks/>
          </p:cNvSpPr>
          <p:nvPr/>
        </p:nvSpPr>
        <p:spPr>
          <a:xfrm>
            <a:off x="6007100" y="4203699"/>
            <a:ext cx="215900" cy="381000"/>
          </a:xfrm>
          <a:prstGeom prst="rect">
            <a:avLst/>
          </a:prstGeom>
          <a:noFill/>
        </p:spPr>
        <p:txBody>
          <a:bodyPr vert="horz" wrap="square" lIns="0" tIns="0" rIns="0" bIns="0" rtlCol="0">
            <a:noAutofit/>
          </a:bodyPr>
          <a:lstStyle/>
          <a:p>
            <a:r>
              <a:rPr lang="sv-SE" sz="2400" b="1">
                <a:solidFill>
                  <a:srgbClr val="087F75"/>
                </a:solidFill>
                <a:latin typeface="Aptos" panose="020B0004020202020204" pitchFamily="34" charset="0"/>
              </a:rPr>
              <a:t>›</a:t>
            </a:r>
          </a:p>
        </p:txBody>
      </p:sp>
      <p:sp>
        <p:nvSpPr>
          <p:cNvPr id="20" name="Rectangle: Rounded Corners 19">
            <a:extLst>
              <a:ext uri="{FF2B5EF4-FFF2-40B4-BE49-F238E27FC236}">
                <a16:creationId xmlns:a16="http://schemas.microsoft.com/office/drawing/2014/main" id="{5F94B921-6C50-2C5D-4254-E81F98CC4419}"/>
              </a:ext>
            </a:extLst>
          </p:cNvPr>
          <p:cNvSpPr/>
          <p:nvPr/>
        </p:nvSpPr>
        <p:spPr>
          <a:xfrm>
            <a:off x="6223000" y="3060700"/>
            <a:ext cx="2527300" cy="2781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1" name="Rectangle 20">
            <a:extLst>
              <a:ext uri="{FF2B5EF4-FFF2-40B4-BE49-F238E27FC236}">
                <a16:creationId xmlns:a16="http://schemas.microsoft.com/office/drawing/2014/main" id="{62E42AC5-0808-7926-DD7A-5C5872658A26}"/>
              </a:ext>
            </a:extLst>
          </p:cNvPr>
          <p:cNvSpPr/>
          <p:nvPr/>
        </p:nvSpPr>
        <p:spPr>
          <a:xfrm>
            <a:off x="6451600" y="32893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Slide-15-text-21">
            <a:extLst>
              <a:ext uri="{FF2B5EF4-FFF2-40B4-BE49-F238E27FC236}">
                <a16:creationId xmlns:a16="http://schemas.microsoft.com/office/drawing/2014/main" id="{54D95C63-1D7A-7B89-BC6B-56FEC09912AD}"/>
              </a:ext>
            </a:extLst>
          </p:cNvPr>
          <p:cNvSpPr txBox="1">
            <a:spLocks/>
          </p:cNvSpPr>
          <p:nvPr/>
        </p:nvSpPr>
        <p:spPr>
          <a:xfrm>
            <a:off x="6451600" y="3505199"/>
            <a:ext cx="20701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M3 / Authoring proof</a:t>
            </a:r>
          </a:p>
        </p:txBody>
      </p:sp>
      <p:sp>
        <p:nvSpPr>
          <p:cNvPr id="23" name="Slide-15-text-22">
            <a:extLst>
              <a:ext uri="{FF2B5EF4-FFF2-40B4-BE49-F238E27FC236}">
                <a16:creationId xmlns:a16="http://schemas.microsoft.com/office/drawing/2014/main" id="{FB746A92-9482-F0BF-9524-F9583ED75EF5}"/>
              </a:ext>
            </a:extLst>
          </p:cNvPr>
          <p:cNvSpPr txBox="1">
            <a:spLocks/>
          </p:cNvSpPr>
          <p:nvPr/>
        </p:nvSpPr>
        <p:spPr>
          <a:xfrm>
            <a:off x="6451600" y="4343399"/>
            <a:ext cx="2070100" cy="1282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New block and device built in-app and installed on a second instance.</a:t>
            </a:r>
            <a:endParaRPr lang="sv-SE" sz="1650">
              <a:solidFill>
                <a:srgbClr val="536873"/>
              </a:solidFill>
              <a:latin typeface="Aptos" panose="020B0004020202020204" pitchFamily="34" charset="0"/>
            </a:endParaRPr>
          </a:p>
        </p:txBody>
      </p:sp>
      <p:sp>
        <p:nvSpPr>
          <p:cNvPr id="24" name="Slide-15-text-23">
            <a:extLst>
              <a:ext uri="{FF2B5EF4-FFF2-40B4-BE49-F238E27FC236}">
                <a16:creationId xmlns:a16="http://schemas.microsoft.com/office/drawing/2014/main" id="{8D4C5FF8-CBB2-A355-6CCE-6FE92DD5CAD1}"/>
              </a:ext>
            </a:extLst>
          </p:cNvPr>
          <p:cNvSpPr txBox="1">
            <a:spLocks/>
          </p:cNvSpPr>
          <p:nvPr/>
        </p:nvSpPr>
        <p:spPr>
          <a:xfrm>
            <a:off x="8788400" y="4203699"/>
            <a:ext cx="215900" cy="381000"/>
          </a:xfrm>
          <a:prstGeom prst="rect">
            <a:avLst/>
          </a:prstGeom>
          <a:noFill/>
        </p:spPr>
        <p:txBody>
          <a:bodyPr vert="horz" wrap="square" lIns="0" tIns="0" rIns="0" bIns="0" rtlCol="0">
            <a:noAutofit/>
          </a:bodyPr>
          <a:lstStyle/>
          <a:p>
            <a:r>
              <a:rPr lang="sv-SE" sz="2400" b="1">
                <a:solidFill>
                  <a:srgbClr val="087F75"/>
                </a:solidFill>
                <a:latin typeface="Aptos" panose="020B0004020202020204" pitchFamily="34" charset="0"/>
              </a:rPr>
              <a:t>›</a:t>
            </a:r>
          </a:p>
        </p:txBody>
      </p:sp>
      <p:sp>
        <p:nvSpPr>
          <p:cNvPr id="25" name="Rectangle: Rounded Corners 24">
            <a:extLst>
              <a:ext uri="{FF2B5EF4-FFF2-40B4-BE49-F238E27FC236}">
                <a16:creationId xmlns:a16="http://schemas.microsoft.com/office/drawing/2014/main" id="{DDC6BB4A-4EEE-276D-DB11-55BA1AF69107}"/>
              </a:ext>
            </a:extLst>
          </p:cNvPr>
          <p:cNvSpPr/>
          <p:nvPr/>
        </p:nvSpPr>
        <p:spPr>
          <a:xfrm>
            <a:off x="9004300" y="3060700"/>
            <a:ext cx="2527300" cy="2781300"/>
          </a:xfrm>
          <a:prstGeom prst="roundRect">
            <a:avLst>
              <a:gd name="adj" fmla="val 8000"/>
            </a:avLst>
          </a:prstGeom>
          <a:solidFill>
            <a:srgbClr val="FFF0E1"/>
          </a:solidFill>
          <a:ln w="8890">
            <a:solidFill>
              <a:srgbClr val="DCE1DC"/>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6" name="Rectangle 25">
            <a:extLst>
              <a:ext uri="{FF2B5EF4-FFF2-40B4-BE49-F238E27FC236}">
                <a16:creationId xmlns:a16="http://schemas.microsoft.com/office/drawing/2014/main" id="{9E362C8D-C8B6-89A3-3768-153E9A2AEE1C}"/>
              </a:ext>
            </a:extLst>
          </p:cNvPr>
          <p:cNvSpPr/>
          <p:nvPr/>
        </p:nvSpPr>
        <p:spPr>
          <a:xfrm>
            <a:off x="9232900" y="32893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7" name="Slide-15-text-26">
            <a:extLst>
              <a:ext uri="{FF2B5EF4-FFF2-40B4-BE49-F238E27FC236}">
                <a16:creationId xmlns:a16="http://schemas.microsoft.com/office/drawing/2014/main" id="{AE38003F-75DC-E29D-D42A-C5BC74584F52}"/>
              </a:ext>
            </a:extLst>
          </p:cNvPr>
          <p:cNvSpPr txBox="1">
            <a:spLocks/>
          </p:cNvSpPr>
          <p:nvPr/>
        </p:nvSpPr>
        <p:spPr>
          <a:xfrm>
            <a:off x="9232900" y="3505199"/>
            <a:ext cx="20701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M4 / Public service</a:t>
            </a:r>
          </a:p>
        </p:txBody>
      </p:sp>
      <p:sp>
        <p:nvSpPr>
          <p:cNvPr id="28" name="Slide-15-text-27">
            <a:extLst>
              <a:ext uri="{FF2B5EF4-FFF2-40B4-BE49-F238E27FC236}">
                <a16:creationId xmlns:a16="http://schemas.microsoft.com/office/drawing/2014/main" id="{1EC451BC-E030-68BB-64C7-8DCFC18AA4D5}"/>
              </a:ext>
            </a:extLst>
          </p:cNvPr>
          <p:cNvSpPr txBox="1">
            <a:spLocks/>
          </p:cNvSpPr>
          <p:nvPr/>
        </p:nvSpPr>
        <p:spPr>
          <a:xfrm>
            <a:off x="9232900" y="4343399"/>
            <a:ext cx="2070100" cy="1282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Future phase: publishing, central operations, trust, governance, and support.</a:t>
            </a:r>
            <a:endParaRPr lang="sv-SE" sz="1650">
              <a:solidFill>
                <a:srgbClr val="536873"/>
              </a:solidFill>
              <a:latin typeface="Aptos" panose="020B0004020202020204" pitchFamily="34" charset="0"/>
            </a:endParaRPr>
          </a:p>
        </p:txBody>
      </p:sp>
    </p:spTree>
    <p:extLst>
      <p:ext uri="{BB962C8B-B14F-4D97-AF65-F5344CB8AC3E}">
        <p14:creationId xmlns:p14="http://schemas.microsoft.com/office/powerpoint/2010/main" val="1417170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68BB3D-30E5-F17F-E939-485A894812B9}"/>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16-text-2">
            <a:extLst>
              <a:ext uri="{FF2B5EF4-FFF2-40B4-BE49-F238E27FC236}">
                <a16:creationId xmlns:a16="http://schemas.microsoft.com/office/drawing/2014/main" id="{96EFD8E3-79F9-92BC-EF77-6B9329588FC6}"/>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OWNERSHIP TO ASSIGN</a:t>
            </a:r>
          </a:p>
        </p:txBody>
      </p:sp>
      <p:sp>
        <p:nvSpPr>
          <p:cNvPr id="4" name="Slide-16-text-3">
            <a:extLst>
              <a:ext uri="{FF2B5EF4-FFF2-40B4-BE49-F238E27FC236}">
                <a16:creationId xmlns:a16="http://schemas.microsoft.com/office/drawing/2014/main" id="{EA26BB84-E637-9C59-AFA1-291312BF2CCF}"/>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405C53D8-6F08-1491-A94C-7ABE251B7A90}"/>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16-text-5">
            <a:extLst>
              <a:ext uri="{FF2B5EF4-FFF2-40B4-BE49-F238E27FC236}">
                <a16:creationId xmlns:a16="http://schemas.microsoft.com/office/drawing/2014/main" id="{EA1394D8-380C-C6A2-1A0B-397772C2CAAA}"/>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Keep the first gate narrow; identify owners before public publishing.</a:t>
            </a:r>
            <a:endParaRPr lang="sv-SE" sz="1500" b="1">
              <a:solidFill>
                <a:srgbClr val="087F75"/>
              </a:solidFill>
              <a:latin typeface="Aptos" panose="020B0004020202020204" pitchFamily="34" charset="0"/>
            </a:endParaRPr>
          </a:p>
        </p:txBody>
      </p:sp>
      <p:sp>
        <p:nvSpPr>
          <p:cNvPr id="7" name="Slide-16-text-6">
            <a:extLst>
              <a:ext uri="{FF2B5EF4-FFF2-40B4-BE49-F238E27FC236}">
                <a16:creationId xmlns:a16="http://schemas.microsoft.com/office/drawing/2014/main" id="{C6EDD5B7-6AB2-3025-90F8-50D3A421D10D}"/>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16 / 22</a:t>
            </a:r>
          </a:p>
        </p:txBody>
      </p:sp>
      <p:sp>
        <p:nvSpPr>
          <p:cNvPr id="8" name="Slide-16-text-7">
            <a:extLst>
              <a:ext uri="{FF2B5EF4-FFF2-40B4-BE49-F238E27FC236}">
                <a16:creationId xmlns:a16="http://schemas.microsoft.com/office/drawing/2014/main" id="{3792E728-D93C-D95D-F2FD-C94538D6D014}"/>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Ecosystem maintenance is part of the product</a:t>
            </a:r>
            <a:endParaRPr lang="sv-SE" sz="3400" b="1">
              <a:solidFill>
                <a:srgbClr val="142D3A"/>
              </a:solidFill>
              <a:latin typeface="Aptos" panose="020B0004020202020204" pitchFamily="34" charset="0"/>
            </a:endParaRPr>
          </a:p>
        </p:txBody>
      </p:sp>
      <p:sp>
        <p:nvSpPr>
          <p:cNvPr id="9" name="Slide-16-text-8">
            <a:extLst>
              <a:ext uri="{FF2B5EF4-FFF2-40B4-BE49-F238E27FC236}">
                <a16:creationId xmlns:a16="http://schemas.microsoft.com/office/drawing/2014/main" id="{7145CBDA-3D25-4AD3-69FD-543D3993A3DC}"/>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An open extension system creates continuing responsibilities beyond the editor.</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49A085B4-A25B-073A-E95A-805D10D3EA4E}"/>
              </a:ext>
            </a:extLst>
          </p:cNvPr>
          <p:cNvSpPr/>
          <p:nvPr/>
        </p:nvSpPr>
        <p:spPr>
          <a:xfrm>
            <a:off x="6604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A515D9BC-4EE2-F991-67E0-0D084CBB43A6}"/>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16-text-11">
            <a:extLst>
              <a:ext uri="{FF2B5EF4-FFF2-40B4-BE49-F238E27FC236}">
                <a16:creationId xmlns:a16="http://schemas.microsoft.com/office/drawing/2014/main" id="{6D0605DB-1578-C8A3-7885-CE3AC00B9D04}"/>
              </a:ext>
            </a:extLst>
          </p:cNvPr>
          <p:cNvSpPr txBox="1">
            <a:spLocks/>
          </p:cNvSpPr>
          <p:nvPr/>
        </p:nvSpPr>
        <p:spPr>
          <a:xfrm>
            <a:off x="8890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Platform ownership</a:t>
            </a:r>
          </a:p>
        </p:txBody>
      </p:sp>
      <p:sp>
        <p:nvSpPr>
          <p:cNvPr id="13" name="Slide-16-text-12">
            <a:extLst>
              <a:ext uri="{FF2B5EF4-FFF2-40B4-BE49-F238E27FC236}">
                <a16:creationId xmlns:a16="http://schemas.microsoft.com/office/drawing/2014/main" id="{6C1CA4E6-4F75-1EEA-9452-535777F079D1}"/>
              </a:ext>
            </a:extLst>
          </p:cNvPr>
          <p:cNvSpPr txBox="1">
            <a:spLocks/>
          </p:cNvSpPr>
          <p:nvPr/>
        </p:nvSpPr>
        <p:spPr>
          <a:xfrm>
            <a:off x="8890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Contracts, compatibility, core recovery, documentation, and default packages.</a:t>
            </a:r>
            <a:endParaRPr lang="sv-SE">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35DD5B08-6DED-C9BC-CB6F-9542C94038FB}"/>
              </a:ext>
            </a:extLst>
          </p:cNvPr>
          <p:cNvSpPr/>
          <p:nvPr/>
        </p:nvSpPr>
        <p:spPr>
          <a:xfrm>
            <a:off x="43688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578F2404-8DA1-2DC6-2F42-AECC0A4BCC11}"/>
              </a:ext>
            </a:extLst>
          </p:cNvPr>
          <p:cNvSpPr/>
          <p:nvPr/>
        </p:nvSpPr>
        <p:spPr>
          <a:xfrm>
            <a:off x="45974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16-text-15">
            <a:extLst>
              <a:ext uri="{FF2B5EF4-FFF2-40B4-BE49-F238E27FC236}">
                <a16:creationId xmlns:a16="http://schemas.microsoft.com/office/drawing/2014/main" id="{EA712447-706D-B4D0-7FE9-6D3629687253}"/>
              </a:ext>
            </a:extLst>
          </p:cNvPr>
          <p:cNvSpPr txBox="1">
            <a:spLocks/>
          </p:cNvSpPr>
          <p:nvPr/>
        </p:nvSpPr>
        <p:spPr>
          <a:xfrm>
            <a:off x="45974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Hardware support</a:t>
            </a:r>
          </a:p>
        </p:txBody>
      </p:sp>
      <p:sp>
        <p:nvSpPr>
          <p:cNvPr id="17" name="Slide-16-text-16">
            <a:extLst>
              <a:ext uri="{FF2B5EF4-FFF2-40B4-BE49-F238E27FC236}">
                <a16:creationId xmlns:a16="http://schemas.microsoft.com/office/drawing/2014/main" id="{1C9AF2D3-2309-6A31-BAB3-96F2446CB085}"/>
              </a:ext>
            </a:extLst>
          </p:cNvPr>
          <p:cNvSpPr txBox="1">
            <a:spLocks/>
          </p:cNvSpPr>
          <p:nvPr/>
        </p:nvSpPr>
        <p:spPr>
          <a:xfrm>
            <a:off x="45974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Supported OS/CPU/runtime matrix and physical validation for official packages.</a:t>
            </a:r>
            <a:endParaRPr lang="sv-SE">
              <a:solidFill>
                <a:srgbClr val="536873"/>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567C65BE-DB2E-88BF-C5EC-F5992F4FE4F6}"/>
              </a:ext>
            </a:extLst>
          </p:cNvPr>
          <p:cNvSpPr/>
          <p:nvPr/>
        </p:nvSpPr>
        <p:spPr>
          <a:xfrm>
            <a:off x="80772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a:extLst>
              <a:ext uri="{FF2B5EF4-FFF2-40B4-BE49-F238E27FC236}">
                <a16:creationId xmlns:a16="http://schemas.microsoft.com/office/drawing/2014/main" id="{37EC89BA-8B7D-1B72-5B03-9F81F77287D4}"/>
              </a:ext>
            </a:extLst>
          </p:cNvPr>
          <p:cNvSpPr/>
          <p:nvPr/>
        </p:nvSpPr>
        <p:spPr>
          <a:xfrm>
            <a:off x="83058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Slide-16-text-19">
            <a:extLst>
              <a:ext uri="{FF2B5EF4-FFF2-40B4-BE49-F238E27FC236}">
                <a16:creationId xmlns:a16="http://schemas.microsoft.com/office/drawing/2014/main" id="{4D502036-1986-8C61-7CD9-68D8CFE2294B}"/>
              </a:ext>
            </a:extLst>
          </p:cNvPr>
          <p:cNvSpPr txBox="1">
            <a:spLocks/>
          </p:cNvSpPr>
          <p:nvPr/>
        </p:nvSpPr>
        <p:spPr>
          <a:xfrm>
            <a:off x="83058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Public operations</a:t>
            </a:r>
          </a:p>
        </p:txBody>
      </p:sp>
      <p:sp>
        <p:nvSpPr>
          <p:cNvPr id="21" name="Slide-16-text-20">
            <a:extLst>
              <a:ext uri="{FF2B5EF4-FFF2-40B4-BE49-F238E27FC236}">
                <a16:creationId xmlns:a16="http://schemas.microsoft.com/office/drawing/2014/main" id="{CE21F444-0988-DAB2-F620-EA9B280F0D86}"/>
              </a:ext>
            </a:extLst>
          </p:cNvPr>
          <p:cNvSpPr txBox="1">
            <a:spLocks/>
          </p:cNvSpPr>
          <p:nvPr/>
        </p:nvSpPr>
        <p:spPr>
          <a:xfrm>
            <a:off x="83058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Hosting, publisher support, key management, moderation, and incident response.</a:t>
            </a:r>
            <a:endParaRPr lang="sv-SE">
              <a:solidFill>
                <a:srgbClr val="536873"/>
              </a:solidFill>
              <a:latin typeface="Aptos" panose="020B0004020202020204" pitchFamily="34" charset="0"/>
            </a:endParaRPr>
          </a:p>
        </p:txBody>
      </p:sp>
    </p:spTree>
    <p:extLst>
      <p:ext uri="{BB962C8B-B14F-4D97-AF65-F5344CB8AC3E}">
        <p14:creationId xmlns:p14="http://schemas.microsoft.com/office/powerpoint/2010/main" val="3007484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D902FB-CBC8-3227-4C59-06498487F660}"/>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17-text-2">
            <a:extLst>
              <a:ext uri="{FF2B5EF4-FFF2-40B4-BE49-F238E27FC236}">
                <a16:creationId xmlns:a16="http://schemas.microsoft.com/office/drawing/2014/main" id="{B02ECC7C-972D-C22B-0C63-17AFF70845B0}"/>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STAKEHOLDER DISCUSSION</a:t>
            </a:r>
          </a:p>
        </p:txBody>
      </p:sp>
      <p:sp>
        <p:nvSpPr>
          <p:cNvPr id="4" name="Slide-17-text-3">
            <a:extLst>
              <a:ext uri="{FF2B5EF4-FFF2-40B4-BE49-F238E27FC236}">
                <a16:creationId xmlns:a16="http://schemas.microsoft.com/office/drawing/2014/main" id="{D40AA03F-C86C-F8C6-314F-DBF8EDE591ED}"/>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1DE67D0F-156A-504E-0B84-D66DCCF2A9F6}"/>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17-text-5">
            <a:extLst>
              <a:ext uri="{FF2B5EF4-FFF2-40B4-BE49-F238E27FC236}">
                <a16:creationId xmlns:a16="http://schemas.microsoft.com/office/drawing/2014/main" id="{B0C3CB0A-3883-4827-3F85-DCA804D8E3F6}"/>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Proceed through a bounded lifecycle proof, then review evidence.</a:t>
            </a:r>
            <a:endParaRPr lang="sv-SE" sz="1500" b="1">
              <a:solidFill>
                <a:srgbClr val="087F75"/>
              </a:solidFill>
              <a:latin typeface="Aptos" panose="020B0004020202020204" pitchFamily="34" charset="0"/>
            </a:endParaRPr>
          </a:p>
        </p:txBody>
      </p:sp>
      <p:sp>
        <p:nvSpPr>
          <p:cNvPr id="7" name="Slide-17-text-6">
            <a:extLst>
              <a:ext uri="{FF2B5EF4-FFF2-40B4-BE49-F238E27FC236}">
                <a16:creationId xmlns:a16="http://schemas.microsoft.com/office/drawing/2014/main" id="{BE322C42-2979-36A8-846D-7B019A12D4B4}"/>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17 / 22</a:t>
            </a:r>
          </a:p>
        </p:txBody>
      </p:sp>
      <p:sp>
        <p:nvSpPr>
          <p:cNvPr id="8" name="Slide-17-text-7">
            <a:extLst>
              <a:ext uri="{FF2B5EF4-FFF2-40B4-BE49-F238E27FC236}">
                <a16:creationId xmlns:a16="http://schemas.microsoft.com/office/drawing/2014/main" id="{3748AB74-D4B8-CE90-A23C-88FB33406AFA}"/>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Align on the next gate and the operating questions</a:t>
            </a:r>
            <a:endParaRPr lang="sv-SE" sz="3400" b="1">
              <a:solidFill>
                <a:srgbClr val="142D3A"/>
              </a:solidFill>
              <a:latin typeface="Aptos" panose="020B0004020202020204" pitchFamily="34" charset="0"/>
            </a:endParaRPr>
          </a:p>
        </p:txBody>
      </p:sp>
      <p:sp>
        <p:nvSpPr>
          <p:cNvPr id="9" name="Slide-17-text-8">
            <a:extLst>
              <a:ext uri="{FF2B5EF4-FFF2-40B4-BE49-F238E27FC236}">
                <a16:creationId xmlns:a16="http://schemas.microsoft.com/office/drawing/2014/main" id="{EEC97268-A89F-C046-83A9-80CD3A3DE299}"/>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Keep the approved product direction; make the next delivery decision concrete.</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6E704FC4-D6D0-4572-FF8C-CF00D180E247}"/>
              </a:ext>
            </a:extLst>
          </p:cNvPr>
          <p:cNvSpPr/>
          <p:nvPr/>
        </p:nvSpPr>
        <p:spPr>
          <a:xfrm>
            <a:off x="660400" y="3048000"/>
            <a:ext cx="53086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15F172D8-8218-1A1A-BAE2-3843217D45B2}"/>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17-text-11">
            <a:extLst>
              <a:ext uri="{FF2B5EF4-FFF2-40B4-BE49-F238E27FC236}">
                <a16:creationId xmlns:a16="http://schemas.microsoft.com/office/drawing/2014/main" id="{1FABF760-BD67-0546-74E2-D23BF236DDF1}"/>
              </a:ext>
            </a:extLst>
          </p:cNvPr>
          <p:cNvSpPr txBox="1">
            <a:spLocks/>
          </p:cNvSpPr>
          <p:nvPr/>
        </p:nvSpPr>
        <p:spPr>
          <a:xfrm>
            <a:off x="889000" y="3492499"/>
            <a:ext cx="4851400" cy="609600"/>
          </a:xfrm>
          <a:prstGeom prst="rect">
            <a:avLst/>
          </a:prstGeom>
          <a:noFill/>
        </p:spPr>
        <p:txBody>
          <a:bodyPr vert="horz" wrap="square" lIns="0" tIns="0" rIns="0" bIns="0" rtlCol="0">
            <a:noAutofit/>
          </a:bodyPr>
          <a:lstStyle/>
          <a:p>
            <a:r>
              <a:rPr lang="sv-SE" sz="2200" b="1">
                <a:solidFill>
                  <a:srgbClr val="142D3A"/>
                </a:solidFill>
                <a:latin typeface="Aptos" panose="020B0004020202020204" pitchFamily="34" charset="0"/>
              </a:rPr>
              <a:t>Next delivery discussion</a:t>
            </a:r>
          </a:p>
        </p:txBody>
      </p:sp>
      <p:sp>
        <p:nvSpPr>
          <p:cNvPr id="13" name="Slide-17-text-12">
            <a:extLst>
              <a:ext uri="{FF2B5EF4-FFF2-40B4-BE49-F238E27FC236}">
                <a16:creationId xmlns:a16="http://schemas.microsoft.com/office/drawing/2014/main" id="{F4351E60-18F5-4BED-B3B3-4254752FC1BE}"/>
              </a:ext>
            </a:extLst>
          </p:cNvPr>
          <p:cNvSpPr txBox="1">
            <a:spLocks/>
          </p:cNvSpPr>
          <p:nvPr/>
        </p:nvSpPr>
        <p:spPr>
          <a:xfrm>
            <a:off x="889000" y="4216399"/>
            <a:ext cx="4851400" cy="1409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Assign the M1 owner and agree on its acceptance demonstration.
Choose the initial supported test environment.
Review M1 evidence before broad capability migration.</a:t>
            </a:r>
            <a:endParaRPr lang="sv-SE" sz="1650">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647F018F-257F-7176-4056-A9F1FB807AE8}"/>
              </a:ext>
            </a:extLst>
          </p:cNvPr>
          <p:cNvSpPr/>
          <p:nvPr/>
        </p:nvSpPr>
        <p:spPr>
          <a:xfrm>
            <a:off x="6223000" y="3048000"/>
            <a:ext cx="53086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E1D4A336-6371-3FAE-FEE7-B62D04870199}"/>
              </a:ext>
            </a:extLst>
          </p:cNvPr>
          <p:cNvSpPr/>
          <p:nvPr/>
        </p:nvSpPr>
        <p:spPr>
          <a:xfrm>
            <a:off x="64516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17-text-15">
            <a:extLst>
              <a:ext uri="{FF2B5EF4-FFF2-40B4-BE49-F238E27FC236}">
                <a16:creationId xmlns:a16="http://schemas.microsoft.com/office/drawing/2014/main" id="{95D37E4A-9ED8-84D2-6FDB-1AC7CA450F27}"/>
              </a:ext>
            </a:extLst>
          </p:cNvPr>
          <p:cNvSpPr txBox="1">
            <a:spLocks/>
          </p:cNvSpPr>
          <p:nvPr/>
        </p:nvSpPr>
        <p:spPr>
          <a:xfrm>
            <a:off x="6451600" y="3492499"/>
            <a:ext cx="4851400" cy="609600"/>
          </a:xfrm>
          <a:prstGeom prst="rect">
            <a:avLst/>
          </a:prstGeom>
          <a:noFill/>
        </p:spPr>
        <p:txBody>
          <a:bodyPr vert="horz" wrap="square" lIns="0" tIns="0" rIns="0" bIns="0" rtlCol="0">
            <a:noAutofit/>
          </a:bodyPr>
          <a:lstStyle/>
          <a:p>
            <a:r>
              <a:rPr lang="sv-SE" sz="2200" b="1">
                <a:solidFill>
                  <a:srgbClr val="142D3A"/>
                </a:solidFill>
                <a:latin typeface="Aptos" panose="020B0004020202020204" pitchFamily="34" charset="0"/>
              </a:rPr>
              <a:t>Later policy discussion</a:t>
            </a:r>
          </a:p>
        </p:txBody>
      </p:sp>
      <p:sp>
        <p:nvSpPr>
          <p:cNvPr id="17" name="Slide-17-text-16">
            <a:extLst>
              <a:ext uri="{FF2B5EF4-FFF2-40B4-BE49-F238E27FC236}">
                <a16:creationId xmlns:a16="http://schemas.microsoft.com/office/drawing/2014/main" id="{E5D6C922-C737-1012-41E7-878F0DD1F454}"/>
              </a:ext>
            </a:extLst>
          </p:cNvPr>
          <p:cNvSpPr txBox="1">
            <a:spLocks/>
          </p:cNvSpPr>
          <p:nvPr/>
        </p:nvSpPr>
        <p:spPr>
          <a:xfrm>
            <a:off x="6451600" y="4216399"/>
            <a:ext cx="4851400" cy="14097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Who maintains official and community packages?
What publishing/review and source policy fits the public library?
Who funds operations, and what update/withdrawal policy preserves operator control?</a:t>
            </a:r>
            <a:endParaRPr lang="sv-SE" sz="1650">
              <a:solidFill>
                <a:srgbClr val="536873"/>
              </a:solidFill>
              <a:latin typeface="Aptos" panose="020B0004020202020204" pitchFamily="34" charset="0"/>
            </a:endParaRPr>
          </a:p>
        </p:txBody>
      </p:sp>
    </p:spTree>
    <p:extLst>
      <p:ext uri="{BB962C8B-B14F-4D97-AF65-F5344CB8AC3E}">
        <p14:creationId xmlns:p14="http://schemas.microsoft.com/office/powerpoint/2010/main" val="2705878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2D3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C2976C-CC9D-CD0F-5D49-C9ADDBB18A09}"/>
              </a:ext>
            </a:extLst>
          </p:cNvPr>
          <p:cNvSpPr/>
          <p:nvPr/>
        </p:nvSpPr>
        <p:spPr>
          <a:xfrm>
            <a:off x="660400" y="368300"/>
            <a:ext cx="177800" cy="177800"/>
          </a:xfrm>
          <a:prstGeom prst="rect">
            <a:avLst/>
          </a:prstGeom>
          <a:solidFill>
            <a:srgbClr val="FFB3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18-text-2">
            <a:extLst>
              <a:ext uri="{FF2B5EF4-FFF2-40B4-BE49-F238E27FC236}">
                <a16:creationId xmlns:a16="http://schemas.microsoft.com/office/drawing/2014/main" id="{AECB307B-3F96-E321-482A-ECA8305A7757}"/>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C6D4D7"/>
                </a:solidFill>
                <a:latin typeface="Aptos" panose="020B0004020202020204" pitchFamily="34" charset="0"/>
              </a:rPr>
              <a:t>MODULE BUILDER / EDGE STUDIO</a:t>
            </a:r>
          </a:p>
        </p:txBody>
      </p:sp>
      <p:sp>
        <p:nvSpPr>
          <p:cNvPr id="4" name="Slide-18-text-3">
            <a:extLst>
              <a:ext uri="{FF2B5EF4-FFF2-40B4-BE49-F238E27FC236}">
                <a16:creationId xmlns:a16="http://schemas.microsoft.com/office/drawing/2014/main" id="{96D427A1-2FB5-03D0-4A2C-6BDD65583C79}"/>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C6D4D7"/>
                </a:solidFill>
                <a:latin typeface="Aptos" panose="020B0004020202020204" pitchFamily="34" charset="0"/>
              </a:rPr>
              <a:t>EDGE STUDIO</a:t>
            </a:r>
          </a:p>
        </p:txBody>
      </p:sp>
      <p:sp>
        <p:nvSpPr>
          <p:cNvPr id="5" name="Rectangle 4">
            <a:extLst>
              <a:ext uri="{FF2B5EF4-FFF2-40B4-BE49-F238E27FC236}">
                <a16:creationId xmlns:a16="http://schemas.microsoft.com/office/drawing/2014/main" id="{D384F1CE-C7AA-DCDC-B61F-610D44E0F721}"/>
              </a:ext>
            </a:extLst>
          </p:cNvPr>
          <p:cNvSpPr/>
          <p:nvPr/>
        </p:nvSpPr>
        <p:spPr>
          <a:xfrm>
            <a:off x="660400" y="6057900"/>
            <a:ext cx="10871200" cy="12700"/>
          </a:xfrm>
          <a:prstGeom prst="rect">
            <a:avLst/>
          </a:prstGeom>
          <a:solidFill>
            <a:srgbClr val="42606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18-text-5">
            <a:extLst>
              <a:ext uri="{FF2B5EF4-FFF2-40B4-BE49-F238E27FC236}">
                <a16:creationId xmlns:a16="http://schemas.microsoft.com/office/drawing/2014/main" id="{A18E26BC-2EE7-F1D1-C7AA-6B2F2895D01E}"/>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CDEBDC"/>
                </a:solidFill>
                <a:latin typeface="Aptos" panose="020B0004020202020204" pitchFamily="34" charset="0"/>
              </a:rPr>
              <a:t>Then use the same platform to build something new.</a:t>
            </a:r>
            <a:endParaRPr lang="sv-SE" sz="1500" b="1">
              <a:solidFill>
                <a:srgbClr val="CDEBDC"/>
              </a:solidFill>
              <a:latin typeface="Aptos" panose="020B0004020202020204" pitchFamily="34" charset="0"/>
            </a:endParaRPr>
          </a:p>
        </p:txBody>
      </p:sp>
      <p:sp>
        <p:nvSpPr>
          <p:cNvPr id="7" name="Slide-18-text-6">
            <a:extLst>
              <a:ext uri="{FF2B5EF4-FFF2-40B4-BE49-F238E27FC236}">
                <a16:creationId xmlns:a16="http://schemas.microsoft.com/office/drawing/2014/main" id="{F0885760-C5A2-2536-DC31-4F5975312173}"/>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C6D4D7"/>
                </a:solidFill>
                <a:latin typeface="Aptos" panose="020B0004020202020204" pitchFamily="34" charset="0"/>
              </a:rPr>
              <a:t>18 / 22</a:t>
            </a:r>
          </a:p>
        </p:txBody>
      </p:sp>
      <p:sp>
        <p:nvSpPr>
          <p:cNvPr id="8" name="Slide-18-text-7">
            <a:extLst>
              <a:ext uri="{FF2B5EF4-FFF2-40B4-BE49-F238E27FC236}">
                <a16:creationId xmlns:a16="http://schemas.microsoft.com/office/drawing/2014/main" id="{A0CAEEDC-A2CE-F69A-8057-C05C41110C04}"/>
              </a:ext>
            </a:extLst>
          </p:cNvPr>
          <p:cNvSpPr txBox="1">
            <a:spLocks/>
          </p:cNvSpPr>
          <p:nvPr/>
        </p:nvSpPr>
        <p:spPr>
          <a:xfrm>
            <a:off x="660400" y="1320799"/>
            <a:ext cx="10871200" cy="965200"/>
          </a:xfrm>
          <a:prstGeom prst="rect">
            <a:avLst/>
          </a:prstGeom>
          <a:noFill/>
        </p:spPr>
        <p:txBody>
          <a:bodyPr vert="horz" wrap="square" lIns="0" tIns="0" rIns="0" bIns="0" rtlCol="0">
            <a:noAutofit/>
          </a:bodyPr>
          <a:lstStyle/>
          <a:p>
            <a:r>
              <a:rPr lang="en-GB" sz="4200" b="1">
                <a:solidFill>
                  <a:srgbClr val="FFFFFF"/>
                </a:solidFill>
                <a:latin typeface="Aptos" panose="020B0004020202020204" pitchFamily="34" charset="0"/>
              </a:rPr>
              <a:t>The proof is a capability that returns intact</a:t>
            </a:r>
            <a:endParaRPr lang="sv-SE" sz="4200" b="1">
              <a:solidFill>
                <a:srgbClr val="FFFFFF"/>
              </a:solidFill>
              <a:latin typeface="Aptos" panose="020B0004020202020204" pitchFamily="34" charset="0"/>
            </a:endParaRPr>
          </a:p>
        </p:txBody>
      </p:sp>
      <p:sp>
        <p:nvSpPr>
          <p:cNvPr id="9" name="Slide-18-text-8">
            <a:extLst>
              <a:ext uri="{FF2B5EF4-FFF2-40B4-BE49-F238E27FC236}">
                <a16:creationId xmlns:a16="http://schemas.microsoft.com/office/drawing/2014/main" id="{77D3CD2E-A4D0-382E-E304-D893ADA4F4B3}"/>
              </a:ext>
            </a:extLst>
          </p:cNvPr>
          <p:cNvSpPr txBox="1">
            <a:spLocks/>
          </p:cNvSpPr>
          <p:nvPr/>
        </p:nvSpPr>
        <p:spPr>
          <a:xfrm>
            <a:off x="685800" y="2438399"/>
            <a:ext cx="10287000" cy="939800"/>
          </a:xfrm>
          <a:prstGeom prst="rect">
            <a:avLst/>
          </a:prstGeom>
          <a:noFill/>
        </p:spPr>
        <p:txBody>
          <a:bodyPr vert="horz" wrap="square" lIns="0" tIns="0" rIns="0" bIns="0" rtlCol="0">
            <a:noAutofit/>
          </a:bodyPr>
          <a:lstStyle/>
          <a:p>
            <a:pPr>
              <a:spcAft>
                <a:spcPts val="500"/>
              </a:spcAft>
            </a:pPr>
            <a:r>
              <a:rPr lang="en-GB" sz="2800">
                <a:solidFill>
                  <a:srgbClr val="C6D4D7"/>
                </a:solidFill>
                <a:latin typeface="Aptos" panose="020B0004020202020204" pitchFamily="34" charset="0"/>
              </a:rPr>
              <a:t>Remove it. Download it. Activate it. Keep the user's work.</a:t>
            </a:r>
            <a:endParaRPr lang="sv-SE" sz="2800">
              <a:solidFill>
                <a:srgbClr val="C6D4D7"/>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E996442D-89A6-7ACD-F7A4-1A5DF3A37152}"/>
              </a:ext>
            </a:extLst>
          </p:cNvPr>
          <p:cNvSpPr/>
          <p:nvPr/>
        </p:nvSpPr>
        <p:spPr>
          <a:xfrm>
            <a:off x="660400" y="3810000"/>
            <a:ext cx="5308600" cy="1993900"/>
          </a:xfrm>
          <a:prstGeom prst="roundRect">
            <a:avLst>
              <a:gd name="adj" fmla="val 8000"/>
            </a:avLst>
          </a:prstGeom>
          <a:solidFill>
            <a:srgbClr val="203D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E413AF93-0B56-AADB-6A2D-1FE185022260}"/>
              </a:ext>
            </a:extLst>
          </p:cNvPr>
          <p:cNvSpPr/>
          <p:nvPr/>
        </p:nvSpPr>
        <p:spPr>
          <a:xfrm>
            <a:off x="889000" y="4038600"/>
            <a:ext cx="330200" cy="50800"/>
          </a:xfrm>
          <a:prstGeom prst="rect">
            <a:avLst/>
          </a:prstGeom>
          <a:solidFill>
            <a:srgbClr val="FFB3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18-text-11">
            <a:extLst>
              <a:ext uri="{FF2B5EF4-FFF2-40B4-BE49-F238E27FC236}">
                <a16:creationId xmlns:a16="http://schemas.microsoft.com/office/drawing/2014/main" id="{92EA8BCA-B7D0-89D3-1218-8F3EB506A0CA}"/>
              </a:ext>
            </a:extLst>
          </p:cNvPr>
          <p:cNvSpPr txBox="1">
            <a:spLocks/>
          </p:cNvSpPr>
          <p:nvPr/>
        </p:nvSpPr>
        <p:spPr>
          <a:xfrm>
            <a:off x="889000" y="4254499"/>
            <a:ext cx="4851400" cy="609600"/>
          </a:xfrm>
          <a:prstGeom prst="rect">
            <a:avLst/>
          </a:prstGeom>
          <a:noFill/>
        </p:spPr>
        <p:txBody>
          <a:bodyPr vert="horz" wrap="square" lIns="0" tIns="0" rIns="0" bIns="0" rtlCol="0">
            <a:noAutofit/>
          </a:bodyPr>
          <a:lstStyle/>
          <a:p>
            <a:r>
              <a:rPr lang="sv-SE" sz="2200" b="1">
                <a:solidFill>
                  <a:srgbClr val="FFFFFF"/>
                </a:solidFill>
                <a:latin typeface="Aptos" panose="020B0004020202020204" pitchFamily="34" charset="0"/>
              </a:rPr>
              <a:t>First evidence</a:t>
            </a:r>
          </a:p>
        </p:txBody>
      </p:sp>
      <p:sp>
        <p:nvSpPr>
          <p:cNvPr id="13" name="Slide-18-text-12">
            <a:extLst>
              <a:ext uri="{FF2B5EF4-FFF2-40B4-BE49-F238E27FC236}">
                <a16:creationId xmlns:a16="http://schemas.microsoft.com/office/drawing/2014/main" id="{617EF83C-830F-6FD5-0421-326955126840}"/>
              </a:ext>
            </a:extLst>
          </p:cNvPr>
          <p:cNvSpPr txBox="1">
            <a:spLocks/>
          </p:cNvSpPr>
          <p:nvPr/>
        </p:nvSpPr>
        <p:spPr>
          <a:xfrm>
            <a:off x="889000" y="4978399"/>
            <a:ext cx="4851400" cy="609600"/>
          </a:xfrm>
          <a:prstGeom prst="rect">
            <a:avLst/>
          </a:prstGeom>
          <a:noFill/>
        </p:spPr>
        <p:txBody>
          <a:bodyPr vert="horz" wrap="square" lIns="0" tIns="0" rIns="0" bIns="0" rtlCol="0">
            <a:noAutofit/>
          </a:bodyPr>
          <a:lstStyle/>
          <a:p>
            <a:pPr>
              <a:spcAft>
                <a:spcPts val="500"/>
              </a:spcAft>
            </a:pPr>
            <a:r>
              <a:rPr lang="en-GB" sz="1650">
                <a:solidFill>
                  <a:srgbClr val="C6D4D7"/>
                </a:solidFill>
                <a:latin typeface="Aptos" panose="020B0004020202020204" pitchFamily="34" charset="0"/>
              </a:rPr>
              <a:t>An existing device and block restored from a real local library.</a:t>
            </a:r>
            <a:endParaRPr lang="sv-SE" sz="1650">
              <a:solidFill>
                <a:srgbClr val="C6D4D7"/>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8E9088A6-DA9D-3026-6C41-BB4CD2B55708}"/>
              </a:ext>
            </a:extLst>
          </p:cNvPr>
          <p:cNvSpPr/>
          <p:nvPr/>
        </p:nvSpPr>
        <p:spPr>
          <a:xfrm>
            <a:off x="6223000" y="3810000"/>
            <a:ext cx="5308600" cy="1993900"/>
          </a:xfrm>
          <a:prstGeom prst="roundRect">
            <a:avLst>
              <a:gd name="adj" fmla="val 8000"/>
            </a:avLst>
          </a:prstGeom>
          <a:solidFill>
            <a:srgbClr val="203D4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7FF281A5-8800-28E0-6F2B-FB50B9A2548A}"/>
              </a:ext>
            </a:extLst>
          </p:cNvPr>
          <p:cNvSpPr/>
          <p:nvPr/>
        </p:nvSpPr>
        <p:spPr>
          <a:xfrm>
            <a:off x="6451600" y="4038600"/>
            <a:ext cx="330200" cy="50800"/>
          </a:xfrm>
          <a:prstGeom prst="rect">
            <a:avLst/>
          </a:prstGeom>
          <a:solidFill>
            <a:srgbClr val="FFB37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18-text-15">
            <a:extLst>
              <a:ext uri="{FF2B5EF4-FFF2-40B4-BE49-F238E27FC236}">
                <a16:creationId xmlns:a16="http://schemas.microsoft.com/office/drawing/2014/main" id="{A9E21351-D97C-D015-DFC2-74BA0C0D2D74}"/>
              </a:ext>
            </a:extLst>
          </p:cNvPr>
          <p:cNvSpPr txBox="1">
            <a:spLocks/>
          </p:cNvSpPr>
          <p:nvPr/>
        </p:nvSpPr>
        <p:spPr>
          <a:xfrm>
            <a:off x="6451600" y="4254499"/>
            <a:ext cx="4851400" cy="609600"/>
          </a:xfrm>
          <a:prstGeom prst="rect">
            <a:avLst/>
          </a:prstGeom>
          <a:noFill/>
        </p:spPr>
        <p:txBody>
          <a:bodyPr vert="horz" wrap="square" lIns="0" tIns="0" rIns="0" bIns="0" rtlCol="0">
            <a:noAutofit/>
          </a:bodyPr>
          <a:lstStyle/>
          <a:p>
            <a:r>
              <a:rPr lang="sv-SE" sz="2200" b="1">
                <a:solidFill>
                  <a:srgbClr val="FFFFFF"/>
                </a:solidFill>
                <a:latin typeface="Aptos" panose="020B0004020202020204" pitchFamily="34" charset="0"/>
              </a:rPr>
              <a:t>Platform evidence</a:t>
            </a:r>
          </a:p>
        </p:txBody>
      </p:sp>
      <p:sp>
        <p:nvSpPr>
          <p:cNvPr id="17" name="Slide-18-text-16">
            <a:extLst>
              <a:ext uri="{FF2B5EF4-FFF2-40B4-BE49-F238E27FC236}">
                <a16:creationId xmlns:a16="http://schemas.microsoft.com/office/drawing/2014/main" id="{AAEC2734-DB02-6D71-2ECE-7ED249C043D2}"/>
              </a:ext>
            </a:extLst>
          </p:cNvPr>
          <p:cNvSpPr txBox="1">
            <a:spLocks/>
          </p:cNvSpPr>
          <p:nvPr/>
        </p:nvSpPr>
        <p:spPr>
          <a:xfrm>
            <a:off x="6451600" y="4978399"/>
            <a:ext cx="4851400" cy="609600"/>
          </a:xfrm>
          <a:prstGeom prst="rect">
            <a:avLst/>
          </a:prstGeom>
          <a:noFill/>
        </p:spPr>
        <p:txBody>
          <a:bodyPr vert="horz" wrap="square" lIns="0" tIns="0" rIns="0" bIns="0" rtlCol="0">
            <a:noAutofit/>
          </a:bodyPr>
          <a:lstStyle/>
          <a:p>
            <a:pPr>
              <a:spcAft>
                <a:spcPts val="500"/>
              </a:spcAft>
            </a:pPr>
            <a:r>
              <a:rPr lang="en-GB" sz="1650">
                <a:solidFill>
                  <a:srgbClr val="C6D4D7"/>
                </a:solidFill>
                <a:latin typeface="Aptos" panose="020B0004020202020204" pitchFamily="34" charset="0"/>
              </a:rPr>
              <a:t>Every default capability installable; new modules created without core edits.</a:t>
            </a:r>
            <a:endParaRPr lang="sv-SE" sz="1650">
              <a:solidFill>
                <a:srgbClr val="C6D4D7"/>
              </a:solidFill>
              <a:latin typeface="Aptos" panose="020B0004020202020204" pitchFamily="34" charset="0"/>
            </a:endParaRPr>
          </a:p>
        </p:txBody>
      </p:sp>
    </p:spTree>
    <p:extLst>
      <p:ext uri="{BB962C8B-B14F-4D97-AF65-F5344CB8AC3E}">
        <p14:creationId xmlns:p14="http://schemas.microsoft.com/office/powerpoint/2010/main" val="2053974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7D2171-9CC2-F3D6-F988-AB64BA8BE75E}"/>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19-text-2">
            <a:extLst>
              <a:ext uri="{FF2B5EF4-FFF2-40B4-BE49-F238E27FC236}">
                <a16:creationId xmlns:a16="http://schemas.microsoft.com/office/drawing/2014/main" id="{51BE1AFE-5FA7-1357-0EA8-239D18A2A6CA}"/>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PLATFORM COMPARISON</a:t>
            </a:r>
          </a:p>
        </p:txBody>
      </p:sp>
      <p:sp>
        <p:nvSpPr>
          <p:cNvPr id="4" name="Slide-19-text-3">
            <a:extLst>
              <a:ext uri="{FF2B5EF4-FFF2-40B4-BE49-F238E27FC236}">
                <a16:creationId xmlns:a16="http://schemas.microsoft.com/office/drawing/2014/main" id="{C01C1F51-CCF4-20D2-D964-45040604193B}"/>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4E9CD387-3D76-F42E-F17C-DAE5BBD4F4CB}"/>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19-text-5">
            <a:extLst>
              <a:ext uri="{FF2B5EF4-FFF2-40B4-BE49-F238E27FC236}">
                <a16:creationId xmlns:a16="http://schemas.microsoft.com/office/drawing/2014/main" id="{42E22D69-AD0C-D642-4B38-CEB9A56A992A}"/>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The contracts are the reusable idea; our lifecycle still needs proof.</a:t>
            </a:r>
            <a:endParaRPr lang="sv-SE" sz="1500" b="1">
              <a:solidFill>
                <a:srgbClr val="087F75"/>
              </a:solidFill>
              <a:latin typeface="Aptos" panose="020B0004020202020204" pitchFamily="34" charset="0"/>
            </a:endParaRPr>
          </a:p>
        </p:txBody>
      </p:sp>
      <p:sp>
        <p:nvSpPr>
          <p:cNvPr id="7" name="Slide-19-text-6">
            <a:extLst>
              <a:ext uri="{FF2B5EF4-FFF2-40B4-BE49-F238E27FC236}">
                <a16:creationId xmlns:a16="http://schemas.microsoft.com/office/drawing/2014/main" id="{0B49E1B7-B730-4B62-BABC-E82B3DF2E3F0}"/>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19 / 22</a:t>
            </a:r>
          </a:p>
        </p:txBody>
      </p:sp>
      <p:sp>
        <p:nvSpPr>
          <p:cNvPr id="8" name="Slide-19-text-7">
            <a:extLst>
              <a:ext uri="{FF2B5EF4-FFF2-40B4-BE49-F238E27FC236}">
                <a16:creationId xmlns:a16="http://schemas.microsoft.com/office/drawing/2014/main" id="{8713091E-E3C1-ABBD-E4E9-0AD75B3DB456}"/>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Appendix: what to borrow, and where the analogy stops</a:t>
            </a:r>
            <a:endParaRPr lang="sv-SE" sz="3400" b="1">
              <a:solidFill>
                <a:srgbClr val="142D3A"/>
              </a:solidFill>
              <a:latin typeface="Aptos" panose="020B0004020202020204" pitchFamily="34" charset="0"/>
            </a:endParaRPr>
          </a:p>
        </p:txBody>
      </p:sp>
      <p:sp>
        <p:nvSpPr>
          <p:cNvPr id="9" name="Slide-19-text-8">
            <a:extLst>
              <a:ext uri="{FF2B5EF4-FFF2-40B4-BE49-F238E27FC236}">
                <a16:creationId xmlns:a16="http://schemas.microsoft.com/office/drawing/2014/main" id="{58722824-07CC-8F74-9217-650DE12C3FBF}"/>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Similar projects solve parts of this problem; none remove our integration work.</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AC7D5B2F-A96B-F06C-FB47-EF048F7A2A57}"/>
              </a:ext>
            </a:extLst>
          </p:cNvPr>
          <p:cNvSpPr/>
          <p:nvPr/>
        </p:nvSpPr>
        <p:spPr>
          <a:xfrm>
            <a:off x="6604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F266B070-2F1F-B0A6-D109-7E57FC356185}"/>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19-text-11">
            <a:extLst>
              <a:ext uri="{FF2B5EF4-FFF2-40B4-BE49-F238E27FC236}">
                <a16:creationId xmlns:a16="http://schemas.microsoft.com/office/drawing/2014/main" id="{868EEF38-75A0-DE12-E8F1-71D189655A5C}"/>
              </a:ext>
            </a:extLst>
          </p:cNvPr>
          <p:cNvSpPr txBox="1">
            <a:spLocks/>
          </p:cNvSpPr>
          <p:nvPr/>
        </p:nvSpPr>
        <p:spPr>
          <a:xfrm>
            <a:off x="8890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Node-RED</a:t>
            </a:r>
          </a:p>
        </p:txBody>
      </p:sp>
      <p:sp>
        <p:nvSpPr>
          <p:cNvPr id="13" name="Slide-19-text-12">
            <a:extLst>
              <a:ext uri="{FF2B5EF4-FFF2-40B4-BE49-F238E27FC236}">
                <a16:creationId xmlns:a16="http://schemas.microsoft.com/office/drawing/2014/main" id="{400BC557-CD24-B2B8-380C-F457AE38DD7F}"/>
              </a:ext>
            </a:extLst>
          </p:cNvPr>
          <p:cNvSpPr txBox="1">
            <a:spLocks/>
          </p:cNvSpPr>
          <p:nvPr/>
        </p:nvSpPr>
        <p:spPr>
          <a:xfrm>
            <a:off x="889000" y="4330699"/>
            <a:ext cx="2997200" cy="1295400"/>
          </a:xfrm>
          <a:prstGeom prst="rect">
            <a:avLst/>
          </a:prstGeom>
          <a:noFill/>
        </p:spPr>
        <p:txBody>
          <a:bodyPr vert="horz" wrap="square" lIns="0" tIns="0" rIns="0" bIns="0" rtlCol="0">
            <a:noAutofit/>
          </a:bodyPr>
          <a:lstStyle/>
          <a:p>
            <a:pPr>
              <a:spcAft>
                <a:spcPts val="500"/>
              </a:spcAft>
            </a:pPr>
            <a:r>
              <a:rPr lang="en-GB" sz="1700">
                <a:solidFill>
                  <a:srgbClr val="536873"/>
                </a:solidFill>
                <a:latin typeface="Aptos" panose="020B0004020202020204" pitchFamily="34" charset="0"/>
              </a:rPr>
              <a:t>Borrow: a package with runtime, editor help, and examples.
Difference: our library owns central artifact delivery.</a:t>
            </a:r>
            <a:endParaRPr lang="sv-SE" sz="1700">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F6946485-8FFD-F25C-BA93-AD7165A2E783}"/>
              </a:ext>
            </a:extLst>
          </p:cNvPr>
          <p:cNvSpPr/>
          <p:nvPr/>
        </p:nvSpPr>
        <p:spPr>
          <a:xfrm>
            <a:off x="43688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62F12471-A5CA-27A7-52BD-B7791FD3C8BC}"/>
              </a:ext>
            </a:extLst>
          </p:cNvPr>
          <p:cNvSpPr/>
          <p:nvPr/>
        </p:nvSpPr>
        <p:spPr>
          <a:xfrm>
            <a:off x="45974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19-text-15">
            <a:extLst>
              <a:ext uri="{FF2B5EF4-FFF2-40B4-BE49-F238E27FC236}">
                <a16:creationId xmlns:a16="http://schemas.microsoft.com/office/drawing/2014/main" id="{D761EA67-1C57-9DB6-0BAE-0941A55B9ACC}"/>
              </a:ext>
            </a:extLst>
          </p:cNvPr>
          <p:cNvSpPr txBox="1">
            <a:spLocks/>
          </p:cNvSpPr>
          <p:nvPr/>
        </p:nvSpPr>
        <p:spPr>
          <a:xfrm>
            <a:off x="45974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Home Assistant</a:t>
            </a:r>
          </a:p>
        </p:txBody>
      </p:sp>
      <p:sp>
        <p:nvSpPr>
          <p:cNvPr id="17" name="Slide-19-text-16">
            <a:extLst>
              <a:ext uri="{FF2B5EF4-FFF2-40B4-BE49-F238E27FC236}">
                <a16:creationId xmlns:a16="http://schemas.microsoft.com/office/drawing/2014/main" id="{2510AB66-AF58-4FCA-81F5-D672B05E8E2D}"/>
              </a:ext>
            </a:extLst>
          </p:cNvPr>
          <p:cNvSpPr txBox="1">
            <a:spLocks/>
          </p:cNvSpPr>
          <p:nvPr/>
        </p:nvSpPr>
        <p:spPr>
          <a:xfrm>
            <a:off x="4597400" y="4330699"/>
            <a:ext cx="2997200" cy="1295400"/>
          </a:xfrm>
          <a:prstGeom prst="rect">
            <a:avLst/>
          </a:prstGeom>
          <a:noFill/>
        </p:spPr>
        <p:txBody>
          <a:bodyPr vert="horz" wrap="square" lIns="0" tIns="0" rIns="0" bIns="0" rtlCol="0">
            <a:noAutofit/>
          </a:bodyPr>
          <a:lstStyle/>
          <a:p>
            <a:pPr>
              <a:spcAft>
                <a:spcPts val="500"/>
              </a:spcAft>
            </a:pPr>
            <a:r>
              <a:rPr lang="en-GB" sz="1600">
                <a:solidFill>
                  <a:srgbClr val="536873"/>
                </a:solidFill>
                <a:latin typeface="Aptos" panose="020B0004020202020204" pitchFamily="34" charset="0"/>
              </a:rPr>
              <a:t>Borrow: distinct integration metadata and host-runtime configuration.
Difference: our supervisor is new work.</a:t>
            </a:r>
            <a:endParaRPr lang="sv-SE" sz="1600">
              <a:solidFill>
                <a:srgbClr val="536873"/>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82F95FD5-A6A1-8CFF-9C9A-ECC35483B12F}"/>
              </a:ext>
            </a:extLst>
          </p:cNvPr>
          <p:cNvSpPr/>
          <p:nvPr/>
        </p:nvSpPr>
        <p:spPr>
          <a:xfrm>
            <a:off x="80772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a:extLst>
              <a:ext uri="{FF2B5EF4-FFF2-40B4-BE49-F238E27FC236}">
                <a16:creationId xmlns:a16="http://schemas.microsoft.com/office/drawing/2014/main" id="{54D97C7A-F193-9992-4301-ECF16745D5C3}"/>
              </a:ext>
            </a:extLst>
          </p:cNvPr>
          <p:cNvSpPr/>
          <p:nvPr/>
        </p:nvSpPr>
        <p:spPr>
          <a:xfrm>
            <a:off x="83058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Slide-19-text-19">
            <a:extLst>
              <a:ext uri="{FF2B5EF4-FFF2-40B4-BE49-F238E27FC236}">
                <a16:creationId xmlns:a16="http://schemas.microsoft.com/office/drawing/2014/main" id="{0B460A72-B64E-115C-6C85-F83F734C51F9}"/>
              </a:ext>
            </a:extLst>
          </p:cNvPr>
          <p:cNvSpPr txBox="1">
            <a:spLocks/>
          </p:cNvSpPr>
          <p:nvPr/>
        </p:nvSpPr>
        <p:spPr>
          <a:xfrm>
            <a:off x="83058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VS Code</a:t>
            </a:r>
          </a:p>
        </p:txBody>
      </p:sp>
      <p:sp>
        <p:nvSpPr>
          <p:cNvPr id="21" name="Slide-19-text-20">
            <a:extLst>
              <a:ext uri="{FF2B5EF4-FFF2-40B4-BE49-F238E27FC236}">
                <a16:creationId xmlns:a16="http://schemas.microsoft.com/office/drawing/2014/main" id="{EC8E887E-17D0-7415-F360-563350AA996A}"/>
              </a:ext>
            </a:extLst>
          </p:cNvPr>
          <p:cNvSpPr txBox="1">
            <a:spLocks/>
          </p:cNvSpPr>
          <p:nvPr/>
        </p:nvSpPr>
        <p:spPr>
          <a:xfrm>
            <a:off x="8305800" y="4330699"/>
            <a:ext cx="2997200" cy="1295400"/>
          </a:xfrm>
          <a:prstGeom prst="rect">
            <a:avLst/>
          </a:prstGeom>
          <a:noFill/>
        </p:spPr>
        <p:txBody>
          <a:bodyPr vert="horz" wrap="square" lIns="0" tIns="0" rIns="0" bIns="0" rtlCol="0">
            <a:noAutofit/>
          </a:bodyPr>
          <a:lstStyle/>
          <a:p>
            <a:pPr>
              <a:spcAft>
                <a:spcPts val="500"/>
              </a:spcAft>
            </a:pPr>
            <a:r>
              <a:rPr lang="en-GB" sz="1600">
                <a:solidFill>
                  <a:srgbClr val="536873"/>
                </a:solidFill>
                <a:latin typeface="Aptos" panose="020B0004020202020204" pitchFamily="34" charset="0"/>
              </a:rPr>
              <a:t>Borrow: contribution contracts and an extension host.
Difference: our root-capable modules carry broader host trust.</a:t>
            </a:r>
            <a:endParaRPr lang="sv-SE" sz="1600">
              <a:solidFill>
                <a:srgbClr val="536873"/>
              </a:solidFill>
              <a:latin typeface="Aptos" panose="020B0004020202020204" pitchFamily="34" charset="0"/>
            </a:endParaRPr>
          </a:p>
        </p:txBody>
      </p:sp>
    </p:spTree>
    <p:extLst>
      <p:ext uri="{BB962C8B-B14F-4D97-AF65-F5344CB8AC3E}">
        <p14:creationId xmlns:p14="http://schemas.microsoft.com/office/powerpoint/2010/main" val="2469121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6CBE7A-49CE-AE64-2F5C-A8C36E163539}"/>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20-text-2">
            <a:extLst>
              <a:ext uri="{FF2B5EF4-FFF2-40B4-BE49-F238E27FC236}">
                <a16:creationId xmlns:a16="http://schemas.microsoft.com/office/drawing/2014/main" id="{0BB18FF5-AE89-69B0-AC20-A8E98FF1B4C6}"/>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ALTERNATIVES TO RESOLVE LATER</a:t>
            </a:r>
          </a:p>
        </p:txBody>
      </p:sp>
      <p:sp>
        <p:nvSpPr>
          <p:cNvPr id="4" name="Slide-20-text-3">
            <a:extLst>
              <a:ext uri="{FF2B5EF4-FFF2-40B4-BE49-F238E27FC236}">
                <a16:creationId xmlns:a16="http://schemas.microsoft.com/office/drawing/2014/main" id="{A09E086E-938A-3DCA-8566-46851E91CB3B}"/>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C5BD215D-E065-7A09-7A30-B72199EFC62C}"/>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20-text-5">
            <a:extLst>
              <a:ext uri="{FF2B5EF4-FFF2-40B4-BE49-F238E27FC236}">
                <a16:creationId xmlns:a16="http://schemas.microsoft.com/office/drawing/2014/main" id="{733CC5DF-B4AF-B960-7792-301C1D63970A}"/>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Publication rules can be stricter than local module execution.</a:t>
            </a:r>
            <a:endParaRPr lang="sv-SE" sz="1500" b="1">
              <a:solidFill>
                <a:srgbClr val="087F75"/>
              </a:solidFill>
              <a:latin typeface="Aptos" panose="020B0004020202020204" pitchFamily="34" charset="0"/>
            </a:endParaRPr>
          </a:p>
        </p:txBody>
      </p:sp>
      <p:sp>
        <p:nvSpPr>
          <p:cNvPr id="7" name="Slide-20-text-6">
            <a:extLst>
              <a:ext uri="{FF2B5EF4-FFF2-40B4-BE49-F238E27FC236}">
                <a16:creationId xmlns:a16="http://schemas.microsoft.com/office/drawing/2014/main" id="{F4A45262-7F10-6B01-CCFF-6137CB7654DA}"/>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20 / 22</a:t>
            </a:r>
          </a:p>
        </p:txBody>
      </p:sp>
      <p:sp>
        <p:nvSpPr>
          <p:cNvPr id="8" name="Slide-20-text-7">
            <a:extLst>
              <a:ext uri="{FF2B5EF4-FFF2-40B4-BE49-F238E27FC236}">
                <a16:creationId xmlns:a16="http://schemas.microsoft.com/office/drawing/2014/main" id="{1F6FB218-405D-669B-1DE4-D3E32663BE14}"/>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sv-SE" sz="3400" b="1">
                <a:solidFill>
                  <a:srgbClr val="142D3A"/>
                </a:solidFill>
                <a:latin typeface="Aptos" panose="020B0004020202020204" pitchFamily="34" charset="0"/>
              </a:rPr>
              <a:t>Appendix: public-library policy choices</a:t>
            </a:r>
          </a:p>
        </p:txBody>
      </p:sp>
      <p:sp>
        <p:nvSpPr>
          <p:cNvPr id="9" name="Slide-20-text-8">
            <a:extLst>
              <a:ext uri="{FF2B5EF4-FFF2-40B4-BE49-F238E27FC236}">
                <a16:creationId xmlns:a16="http://schemas.microsoft.com/office/drawing/2014/main" id="{D6A7CB74-5BEE-9C6D-F867-774C4719DEDD}"/>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Each choice balances developer access, operator control, and service responsibility.</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7A53383B-C793-78E3-23F4-8DE7DDB0286A}"/>
              </a:ext>
            </a:extLst>
          </p:cNvPr>
          <p:cNvSpPr/>
          <p:nvPr/>
        </p:nvSpPr>
        <p:spPr>
          <a:xfrm>
            <a:off x="6604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ctangle 10">
            <a:extLst>
              <a:ext uri="{FF2B5EF4-FFF2-40B4-BE49-F238E27FC236}">
                <a16:creationId xmlns:a16="http://schemas.microsoft.com/office/drawing/2014/main" id="{64519F14-7A6D-869D-E33E-59CDA6888A46}"/>
              </a:ext>
            </a:extLst>
          </p:cNvPr>
          <p:cNvSpPr/>
          <p:nvPr/>
        </p:nvSpPr>
        <p:spPr>
          <a:xfrm>
            <a:off x="8890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Slide-20-text-11">
            <a:extLst>
              <a:ext uri="{FF2B5EF4-FFF2-40B4-BE49-F238E27FC236}">
                <a16:creationId xmlns:a16="http://schemas.microsoft.com/office/drawing/2014/main" id="{D0B10CE3-DF14-1308-48A0-A3A0882CEFAF}"/>
              </a:ext>
            </a:extLst>
          </p:cNvPr>
          <p:cNvSpPr txBox="1">
            <a:spLocks/>
          </p:cNvSpPr>
          <p:nvPr/>
        </p:nvSpPr>
        <p:spPr>
          <a:xfrm>
            <a:off x="8890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Publication</a:t>
            </a:r>
          </a:p>
        </p:txBody>
      </p:sp>
      <p:sp>
        <p:nvSpPr>
          <p:cNvPr id="13" name="Slide-20-text-12">
            <a:extLst>
              <a:ext uri="{FF2B5EF4-FFF2-40B4-BE49-F238E27FC236}">
                <a16:creationId xmlns:a16="http://schemas.microsoft.com/office/drawing/2014/main" id="{839F1B91-79E9-AA21-36A5-215281DF5860}"/>
              </a:ext>
            </a:extLst>
          </p:cNvPr>
          <p:cNvSpPr txBox="1">
            <a:spLocks/>
          </p:cNvSpPr>
          <p:nvPr/>
        </p:nvSpPr>
        <p:spPr>
          <a:xfrm>
            <a:off x="8890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Immediate listing: fast access, greater moderation exposure.
Review first: slower access, more operating work.</a:t>
            </a:r>
            <a:endParaRPr lang="sv-SE">
              <a:solidFill>
                <a:srgbClr val="536873"/>
              </a:solidFill>
              <a:latin typeface="Aptos" panose="020B0004020202020204" pitchFamily="34" charset="0"/>
            </a:endParaRPr>
          </a:p>
        </p:txBody>
      </p:sp>
      <p:sp>
        <p:nvSpPr>
          <p:cNvPr id="14" name="Rectangle: Rounded Corners 13">
            <a:extLst>
              <a:ext uri="{FF2B5EF4-FFF2-40B4-BE49-F238E27FC236}">
                <a16:creationId xmlns:a16="http://schemas.microsoft.com/office/drawing/2014/main" id="{03B64B77-2C63-27BC-5910-662BA8A5ABEC}"/>
              </a:ext>
            </a:extLst>
          </p:cNvPr>
          <p:cNvSpPr/>
          <p:nvPr/>
        </p:nvSpPr>
        <p:spPr>
          <a:xfrm>
            <a:off x="43688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ctangle 14">
            <a:extLst>
              <a:ext uri="{FF2B5EF4-FFF2-40B4-BE49-F238E27FC236}">
                <a16:creationId xmlns:a16="http://schemas.microsoft.com/office/drawing/2014/main" id="{C783CD15-ECDF-E24B-49C8-2690D070BA24}"/>
              </a:ext>
            </a:extLst>
          </p:cNvPr>
          <p:cNvSpPr/>
          <p:nvPr/>
        </p:nvSpPr>
        <p:spPr>
          <a:xfrm>
            <a:off x="45974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Slide-20-text-15">
            <a:extLst>
              <a:ext uri="{FF2B5EF4-FFF2-40B4-BE49-F238E27FC236}">
                <a16:creationId xmlns:a16="http://schemas.microsoft.com/office/drawing/2014/main" id="{D6E36D24-FA2B-7BBF-0F65-3C2814520A24}"/>
              </a:ext>
            </a:extLst>
          </p:cNvPr>
          <p:cNvSpPr txBox="1">
            <a:spLocks/>
          </p:cNvSpPr>
          <p:nvPr/>
        </p:nvSpPr>
        <p:spPr>
          <a:xfrm>
            <a:off x="45974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Updates</a:t>
            </a:r>
          </a:p>
        </p:txBody>
      </p:sp>
      <p:sp>
        <p:nvSpPr>
          <p:cNvPr id="17" name="Slide-20-text-16">
            <a:extLst>
              <a:ext uri="{FF2B5EF4-FFF2-40B4-BE49-F238E27FC236}">
                <a16:creationId xmlns:a16="http://schemas.microsoft.com/office/drawing/2014/main" id="{032DF2FE-85A2-CCD4-3C22-1E2F8EDD17D1}"/>
              </a:ext>
            </a:extLst>
          </p:cNvPr>
          <p:cNvSpPr txBox="1">
            <a:spLocks/>
          </p:cNvSpPr>
          <p:nvPr/>
        </p:nvSpPr>
        <p:spPr>
          <a:xfrm>
            <a:off x="4597400" y="4330699"/>
            <a:ext cx="2997200" cy="1295400"/>
          </a:xfrm>
          <a:prstGeom prst="rect">
            <a:avLst/>
          </a:prstGeom>
          <a:noFill/>
        </p:spPr>
        <p:txBody>
          <a:bodyPr vert="horz" wrap="square" lIns="0" tIns="0" rIns="0" bIns="0" rtlCol="0">
            <a:noAutofit/>
          </a:bodyPr>
          <a:lstStyle/>
          <a:p>
            <a:pPr>
              <a:spcAft>
                <a:spcPts val="500"/>
              </a:spcAft>
            </a:pPr>
            <a:r>
              <a:rPr lang="en-GB">
                <a:solidFill>
                  <a:srgbClr val="536873"/>
                </a:solidFill>
                <a:latin typeface="Aptos" panose="020B0004020202020204" pitchFamily="34" charset="0"/>
              </a:rPr>
              <a:t>Manual activation: operator timing, slower patch uptake.
Automatic activation: faster fixes, more disruption risk.</a:t>
            </a:r>
            <a:endParaRPr lang="sv-SE">
              <a:solidFill>
                <a:srgbClr val="536873"/>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27813F32-A165-4696-D610-BC6BF8B074F2}"/>
              </a:ext>
            </a:extLst>
          </p:cNvPr>
          <p:cNvSpPr/>
          <p:nvPr/>
        </p:nvSpPr>
        <p:spPr>
          <a:xfrm>
            <a:off x="8077200" y="3048000"/>
            <a:ext cx="3454400" cy="27940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ctangle 18">
            <a:extLst>
              <a:ext uri="{FF2B5EF4-FFF2-40B4-BE49-F238E27FC236}">
                <a16:creationId xmlns:a16="http://schemas.microsoft.com/office/drawing/2014/main" id="{482B0DCD-E27C-04FF-53E2-3D0CF71B1A6D}"/>
              </a:ext>
            </a:extLst>
          </p:cNvPr>
          <p:cNvSpPr/>
          <p:nvPr/>
        </p:nvSpPr>
        <p:spPr>
          <a:xfrm>
            <a:off x="8305800" y="3276600"/>
            <a:ext cx="330200" cy="50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Slide-20-text-19">
            <a:extLst>
              <a:ext uri="{FF2B5EF4-FFF2-40B4-BE49-F238E27FC236}">
                <a16:creationId xmlns:a16="http://schemas.microsoft.com/office/drawing/2014/main" id="{069CCD8C-1E74-7BC4-DDAF-A549C16A5507}"/>
              </a:ext>
            </a:extLst>
          </p:cNvPr>
          <p:cNvSpPr txBox="1">
            <a:spLocks/>
          </p:cNvSpPr>
          <p:nvPr/>
        </p:nvSpPr>
        <p:spPr>
          <a:xfrm>
            <a:off x="8305800" y="3492499"/>
            <a:ext cx="2997200" cy="723900"/>
          </a:xfrm>
          <a:prstGeom prst="rect">
            <a:avLst/>
          </a:prstGeom>
          <a:noFill/>
        </p:spPr>
        <p:txBody>
          <a:bodyPr vert="horz" wrap="square" lIns="0" tIns="0" rIns="0" bIns="0" rtlCol="0">
            <a:noAutofit/>
          </a:bodyPr>
          <a:lstStyle/>
          <a:p>
            <a:r>
              <a:rPr lang="sv-SE" sz="2000" b="1">
                <a:solidFill>
                  <a:srgbClr val="142D3A"/>
                </a:solidFill>
                <a:latin typeface="Aptos" panose="020B0004020202020204" pitchFamily="34" charset="0"/>
              </a:rPr>
              <a:t>Withdrawal</a:t>
            </a:r>
          </a:p>
        </p:txBody>
      </p:sp>
      <p:sp>
        <p:nvSpPr>
          <p:cNvPr id="21" name="Slide-20-text-20">
            <a:extLst>
              <a:ext uri="{FF2B5EF4-FFF2-40B4-BE49-F238E27FC236}">
                <a16:creationId xmlns:a16="http://schemas.microsoft.com/office/drawing/2014/main" id="{38830C76-9857-5910-66FE-F9ECF420743C}"/>
              </a:ext>
            </a:extLst>
          </p:cNvPr>
          <p:cNvSpPr txBox="1">
            <a:spLocks/>
          </p:cNvSpPr>
          <p:nvPr/>
        </p:nvSpPr>
        <p:spPr>
          <a:xfrm>
            <a:off x="8305800" y="4330699"/>
            <a:ext cx="2997200" cy="1295400"/>
          </a:xfrm>
          <a:prstGeom prst="rect">
            <a:avLst/>
          </a:prstGeom>
          <a:noFill/>
        </p:spPr>
        <p:txBody>
          <a:bodyPr vert="horz" wrap="square" lIns="0" tIns="0" rIns="0" bIns="0" rtlCol="0">
            <a:noAutofit/>
          </a:bodyPr>
          <a:lstStyle/>
          <a:p>
            <a:pPr>
              <a:spcAft>
                <a:spcPts val="500"/>
              </a:spcAft>
            </a:pPr>
            <a:r>
              <a:rPr lang="en-GB" sz="1650">
                <a:solidFill>
                  <a:srgbClr val="536873"/>
                </a:solidFill>
                <a:latin typeface="Aptos" panose="020B0004020202020204" pitchFamily="34" charset="0"/>
              </a:rPr>
              <a:t>Advisories: operator control, installed risk remains.
Remote disable: faster response, can interrupt real devices.</a:t>
            </a:r>
            <a:endParaRPr lang="sv-SE" sz="1650">
              <a:solidFill>
                <a:srgbClr val="536873"/>
              </a:solidFill>
              <a:latin typeface="Aptos" panose="020B0004020202020204" pitchFamily="34" charset="0"/>
            </a:endParaRPr>
          </a:p>
        </p:txBody>
      </p:sp>
    </p:spTree>
    <p:extLst>
      <p:ext uri="{BB962C8B-B14F-4D97-AF65-F5344CB8AC3E}">
        <p14:creationId xmlns:p14="http://schemas.microsoft.com/office/powerpoint/2010/main" val="1496045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DB1855C-3302-B947-F46C-F3D33BF00C6E}"/>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21-text-2">
            <a:extLst>
              <a:ext uri="{FF2B5EF4-FFF2-40B4-BE49-F238E27FC236}">
                <a16:creationId xmlns:a16="http://schemas.microsoft.com/office/drawing/2014/main" id="{CA2C8D06-9D29-AD2F-2A59-2A7B8F8601C5}"/>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en-GB" sz="1050" b="1">
                <a:solidFill>
                  <a:srgbClr val="536873"/>
                </a:solidFill>
                <a:latin typeface="Aptos" panose="020B0004020202020204" pitchFamily="34" charset="0"/>
              </a:rPr>
              <a:t>PRIMARY SOURCES / CHECKED 20 OCT 2026</a:t>
            </a:r>
            <a:endParaRPr lang="sv-SE" sz="1050" b="1">
              <a:solidFill>
                <a:srgbClr val="536873"/>
              </a:solidFill>
              <a:latin typeface="Aptos" panose="020B0004020202020204" pitchFamily="34" charset="0"/>
            </a:endParaRPr>
          </a:p>
        </p:txBody>
      </p:sp>
      <p:sp>
        <p:nvSpPr>
          <p:cNvPr id="4" name="Slide-21-text-3">
            <a:extLst>
              <a:ext uri="{FF2B5EF4-FFF2-40B4-BE49-F238E27FC236}">
                <a16:creationId xmlns:a16="http://schemas.microsoft.com/office/drawing/2014/main" id="{28910096-900A-0194-AED4-F70C96F4E2A3}"/>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24D75465-72ED-C70C-6F0D-36E162C26409}"/>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21-text-5">
            <a:extLst>
              <a:ext uri="{FF2B5EF4-FFF2-40B4-BE49-F238E27FC236}">
                <a16:creationId xmlns:a16="http://schemas.microsoft.com/office/drawing/2014/main" id="{DEAC0DB7-41E6-6A2F-96D8-2544B7B32D6B}"/>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Detailed citations and alternatives are in the companion discussion document.</a:t>
            </a:r>
            <a:endParaRPr lang="sv-SE" sz="1500" b="1">
              <a:solidFill>
                <a:srgbClr val="087F75"/>
              </a:solidFill>
              <a:latin typeface="Aptos" panose="020B0004020202020204" pitchFamily="34" charset="0"/>
            </a:endParaRPr>
          </a:p>
        </p:txBody>
      </p:sp>
      <p:sp>
        <p:nvSpPr>
          <p:cNvPr id="7" name="Slide-21-text-6">
            <a:extLst>
              <a:ext uri="{FF2B5EF4-FFF2-40B4-BE49-F238E27FC236}">
                <a16:creationId xmlns:a16="http://schemas.microsoft.com/office/drawing/2014/main" id="{5B363FB3-A294-AAE3-C44D-0C7226FF179E}"/>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21 / 22</a:t>
            </a:r>
          </a:p>
        </p:txBody>
      </p:sp>
      <p:sp>
        <p:nvSpPr>
          <p:cNvPr id="8" name="Slide-21-text-7">
            <a:extLst>
              <a:ext uri="{FF2B5EF4-FFF2-40B4-BE49-F238E27FC236}">
                <a16:creationId xmlns:a16="http://schemas.microsoft.com/office/drawing/2014/main" id="{026CB39A-B21B-9CED-6429-D9410A48E782}"/>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sv-SE" sz="3400" b="1">
                <a:solidFill>
                  <a:srgbClr val="142D3A"/>
                </a:solidFill>
                <a:latin typeface="Aptos" panose="020B0004020202020204" pitchFamily="34" charset="0"/>
              </a:rPr>
              <a:t>Appendix: official research sources</a:t>
            </a:r>
          </a:p>
        </p:txBody>
      </p:sp>
      <p:sp>
        <p:nvSpPr>
          <p:cNvPr id="9" name="Slide-21-text-8">
            <a:extLst>
              <a:ext uri="{FF2B5EF4-FFF2-40B4-BE49-F238E27FC236}">
                <a16:creationId xmlns:a16="http://schemas.microsoft.com/office/drawing/2014/main" id="{DE4789B8-1BC7-6808-E6E4-F393095EBD20}"/>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External facts are sourced; Edge Studio recommendations are our interpretation.</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A61971F5-DD82-9023-FEB5-6A074015CCCB}"/>
              </a:ext>
            </a:extLst>
          </p:cNvPr>
          <p:cNvSpPr/>
          <p:nvPr/>
        </p:nvSpPr>
        <p:spPr>
          <a:xfrm>
            <a:off x="660400" y="2984500"/>
            <a:ext cx="10871200" cy="876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Slide-21-text-10">
            <a:extLst>
              <a:ext uri="{FF2B5EF4-FFF2-40B4-BE49-F238E27FC236}">
                <a16:creationId xmlns:a16="http://schemas.microsoft.com/office/drawing/2014/main" id="{2EAA101A-85F0-A4C5-A3A1-7559F33002AC}"/>
              </a:ext>
            </a:extLst>
          </p:cNvPr>
          <p:cNvSpPr txBox="1">
            <a:spLocks/>
          </p:cNvSpPr>
          <p:nvPr/>
        </p:nvSpPr>
        <p:spPr>
          <a:xfrm>
            <a:off x="863600" y="3098799"/>
            <a:ext cx="10477500" cy="317500"/>
          </a:xfrm>
          <a:prstGeom prst="rect">
            <a:avLst/>
          </a:prstGeom>
          <a:noFill/>
        </p:spPr>
        <p:txBody>
          <a:bodyPr vert="horz" wrap="square" lIns="0" tIns="0" rIns="0" bIns="0" rtlCol="0">
            <a:noAutofit/>
          </a:bodyPr>
          <a:lstStyle/>
          <a:p>
            <a:r>
              <a:rPr lang="en-GB" sz="1700" b="1">
                <a:solidFill>
                  <a:srgbClr val="142D3A"/>
                </a:solidFill>
                <a:latin typeface="Aptos" panose="020B0004020202020204" pitchFamily="34" charset="0"/>
              </a:rPr>
              <a:t>Node-RED / custom nodes and packaging</a:t>
            </a:r>
            <a:endParaRPr lang="sv-SE" sz="1700" b="1">
              <a:solidFill>
                <a:srgbClr val="142D3A"/>
              </a:solidFill>
              <a:latin typeface="Aptos" panose="020B0004020202020204" pitchFamily="34" charset="0"/>
            </a:endParaRPr>
          </a:p>
        </p:txBody>
      </p:sp>
      <p:sp>
        <p:nvSpPr>
          <p:cNvPr id="12" name="Slide-21-text-11">
            <a:extLst>
              <a:ext uri="{FF2B5EF4-FFF2-40B4-BE49-F238E27FC236}">
                <a16:creationId xmlns:a16="http://schemas.microsoft.com/office/drawing/2014/main" id="{2B4396CB-0901-2087-247C-814A8EE463DE}"/>
              </a:ext>
            </a:extLst>
          </p:cNvPr>
          <p:cNvSpPr txBox="1">
            <a:spLocks/>
          </p:cNvSpPr>
          <p:nvPr/>
        </p:nvSpPr>
        <p:spPr>
          <a:xfrm>
            <a:off x="863600" y="3454399"/>
            <a:ext cx="10477500" cy="393700"/>
          </a:xfrm>
          <a:prstGeom prst="rect">
            <a:avLst/>
          </a:prstGeom>
          <a:noFill/>
        </p:spPr>
        <p:txBody>
          <a:bodyPr vert="horz" wrap="square" lIns="0" tIns="0" rIns="0" bIns="0" rtlCol="0">
            <a:noAutofit/>
          </a:bodyPr>
          <a:lstStyle/>
          <a:p>
            <a:r>
              <a:rPr lang="sv-SE" sz="1150">
                <a:solidFill>
                  <a:srgbClr val="536873"/>
                </a:solidFill>
                <a:latin typeface="Aptos" panose="020B0004020202020204" pitchFamily="34" charset="0"/>
              </a:rPr>
              <a:t>https://nodered.org/docs/creating-nodes/
https://nodered.org/docs/creating-nodes/packaging</a:t>
            </a:r>
          </a:p>
        </p:txBody>
      </p:sp>
      <p:sp>
        <p:nvSpPr>
          <p:cNvPr id="13" name="Rectangle: Rounded Corners 12">
            <a:extLst>
              <a:ext uri="{FF2B5EF4-FFF2-40B4-BE49-F238E27FC236}">
                <a16:creationId xmlns:a16="http://schemas.microsoft.com/office/drawing/2014/main" id="{77768090-2B53-35D4-BCD9-ABCD21D6587D}"/>
              </a:ext>
            </a:extLst>
          </p:cNvPr>
          <p:cNvSpPr/>
          <p:nvPr/>
        </p:nvSpPr>
        <p:spPr>
          <a:xfrm>
            <a:off x="660400" y="3962400"/>
            <a:ext cx="10871200" cy="876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Slide-21-text-13">
            <a:extLst>
              <a:ext uri="{FF2B5EF4-FFF2-40B4-BE49-F238E27FC236}">
                <a16:creationId xmlns:a16="http://schemas.microsoft.com/office/drawing/2014/main" id="{F92B7748-E437-B51C-82E0-C79683AF5239}"/>
              </a:ext>
            </a:extLst>
          </p:cNvPr>
          <p:cNvSpPr txBox="1">
            <a:spLocks/>
          </p:cNvSpPr>
          <p:nvPr/>
        </p:nvSpPr>
        <p:spPr>
          <a:xfrm>
            <a:off x="863600" y="4076699"/>
            <a:ext cx="10477500" cy="317500"/>
          </a:xfrm>
          <a:prstGeom prst="rect">
            <a:avLst/>
          </a:prstGeom>
          <a:noFill/>
        </p:spPr>
        <p:txBody>
          <a:bodyPr vert="horz" wrap="square" lIns="0" tIns="0" rIns="0" bIns="0" rtlCol="0">
            <a:noAutofit/>
          </a:bodyPr>
          <a:lstStyle/>
          <a:p>
            <a:r>
              <a:rPr lang="en-GB" sz="1700" b="1">
                <a:solidFill>
                  <a:srgbClr val="142D3A"/>
                </a:solidFill>
                <a:latin typeface="Aptos" panose="020B0004020202020204" pitchFamily="34" charset="0"/>
              </a:rPr>
              <a:t>Home Assistant / integrations and apps</a:t>
            </a:r>
            <a:endParaRPr lang="sv-SE" sz="1700" b="1">
              <a:solidFill>
                <a:srgbClr val="142D3A"/>
              </a:solidFill>
              <a:latin typeface="Aptos" panose="020B0004020202020204" pitchFamily="34" charset="0"/>
            </a:endParaRPr>
          </a:p>
        </p:txBody>
      </p:sp>
      <p:sp>
        <p:nvSpPr>
          <p:cNvPr id="15" name="Slide-21-text-14">
            <a:extLst>
              <a:ext uri="{FF2B5EF4-FFF2-40B4-BE49-F238E27FC236}">
                <a16:creationId xmlns:a16="http://schemas.microsoft.com/office/drawing/2014/main" id="{B147A4E6-ABBE-A80F-8896-1E346E275078}"/>
              </a:ext>
            </a:extLst>
          </p:cNvPr>
          <p:cNvSpPr txBox="1">
            <a:spLocks/>
          </p:cNvSpPr>
          <p:nvPr/>
        </p:nvSpPr>
        <p:spPr>
          <a:xfrm>
            <a:off x="863600" y="4432299"/>
            <a:ext cx="10477500" cy="393700"/>
          </a:xfrm>
          <a:prstGeom prst="rect">
            <a:avLst/>
          </a:prstGeom>
          <a:noFill/>
        </p:spPr>
        <p:txBody>
          <a:bodyPr vert="horz" wrap="square" lIns="0" tIns="0" rIns="0" bIns="0" rtlCol="0">
            <a:noAutofit/>
          </a:bodyPr>
          <a:lstStyle/>
          <a:p>
            <a:r>
              <a:rPr lang="sv-SE" sz="1150">
                <a:solidFill>
                  <a:srgbClr val="536873"/>
                </a:solidFill>
                <a:latin typeface="Aptos" panose="020B0004020202020204" pitchFamily="34" charset="0"/>
              </a:rPr>
              <a:t>https://contributors.home-assistant.io/core/integrations/manifest/
https://contributors.home-assistant.io/apps/reference/configuration/</a:t>
            </a:r>
          </a:p>
        </p:txBody>
      </p:sp>
      <p:sp>
        <p:nvSpPr>
          <p:cNvPr id="16" name="Rectangle: Rounded Corners 15">
            <a:extLst>
              <a:ext uri="{FF2B5EF4-FFF2-40B4-BE49-F238E27FC236}">
                <a16:creationId xmlns:a16="http://schemas.microsoft.com/office/drawing/2014/main" id="{AF399953-6F92-808F-34DF-3CAF1CE9158F}"/>
              </a:ext>
            </a:extLst>
          </p:cNvPr>
          <p:cNvSpPr/>
          <p:nvPr/>
        </p:nvSpPr>
        <p:spPr>
          <a:xfrm>
            <a:off x="660400" y="4940300"/>
            <a:ext cx="10871200" cy="10795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Slide-21-text-16">
            <a:extLst>
              <a:ext uri="{FF2B5EF4-FFF2-40B4-BE49-F238E27FC236}">
                <a16:creationId xmlns:a16="http://schemas.microsoft.com/office/drawing/2014/main" id="{53FB8155-B502-0798-1755-AB392C0F36D5}"/>
              </a:ext>
            </a:extLst>
          </p:cNvPr>
          <p:cNvSpPr txBox="1">
            <a:spLocks/>
          </p:cNvSpPr>
          <p:nvPr/>
        </p:nvSpPr>
        <p:spPr>
          <a:xfrm>
            <a:off x="863600" y="5054599"/>
            <a:ext cx="10477500" cy="317500"/>
          </a:xfrm>
          <a:prstGeom prst="rect">
            <a:avLst/>
          </a:prstGeom>
          <a:noFill/>
        </p:spPr>
        <p:txBody>
          <a:bodyPr vert="horz" wrap="square" lIns="0" tIns="0" rIns="0" bIns="0" rtlCol="0">
            <a:noAutofit/>
          </a:bodyPr>
          <a:lstStyle/>
          <a:p>
            <a:r>
              <a:rPr lang="sv-SE" sz="1700" b="1">
                <a:solidFill>
                  <a:srgbClr val="142D3A"/>
                </a:solidFill>
                <a:latin typeface="Aptos" panose="020B0004020202020204" pitchFamily="34" charset="0"/>
              </a:rPr>
              <a:t>VS Code / contributions and extension execution</a:t>
            </a:r>
          </a:p>
        </p:txBody>
      </p:sp>
      <p:sp>
        <p:nvSpPr>
          <p:cNvPr id="18" name="Slide-21-text-17">
            <a:extLst>
              <a:ext uri="{FF2B5EF4-FFF2-40B4-BE49-F238E27FC236}">
                <a16:creationId xmlns:a16="http://schemas.microsoft.com/office/drawing/2014/main" id="{E3EE17C8-A212-1BD7-54BA-12101AB662CE}"/>
              </a:ext>
            </a:extLst>
          </p:cNvPr>
          <p:cNvSpPr txBox="1">
            <a:spLocks/>
          </p:cNvSpPr>
          <p:nvPr/>
        </p:nvSpPr>
        <p:spPr>
          <a:xfrm>
            <a:off x="863600" y="5410199"/>
            <a:ext cx="10477500" cy="596900"/>
          </a:xfrm>
          <a:prstGeom prst="rect">
            <a:avLst/>
          </a:prstGeom>
          <a:noFill/>
        </p:spPr>
        <p:txBody>
          <a:bodyPr vert="horz" wrap="square" lIns="0" tIns="0" rIns="0" bIns="0" rtlCol="0">
            <a:noAutofit/>
          </a:bodyPr>
          <a:lstStyle/>
          <a:p>
            <a:r>
              <a:rPr lang="sv-SE" sz="1150">
                <a:solidFill>
                  <a:srgbClr val="536873"/>
                </a:solidFill>
                <a:latin typeface="Aptos" panose="020B0004020202020204" pitchFamily="34" charset="0"/>
              </a:rPr>
              <a:t>https://code.visualstudio.com/api/references/extension-manifest
https://code.visualstudio.com/api/advanced-topics/extension-host
https://code.visualstudio.com/docs/configure/extensions/extension-runtime-security</a:t>
            </a:r>
          </a:p>
        </p:txBody>
      </p:sp>
    </p:spTree>
    <p:extLst>
      <p:ext uri="{BB962C8B-B14F-4D97-AF65-F5344CB8AC3E}">
        <p14:creationId xmlns:p14="http://schemas.microsoft.com/office/powerpoint/2010/main" val="3606142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3ED"/>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7F6720-001D-E246-BB1A-C4AAF05A7076}"/>
              </a:ext>
            </a:extLst>
          </p:cNvPr>
          <p:cNvSpPr/>
          <p:nvPr/>
        </p:nvSpPr>
        <p:spPr>
          <a:xfrm>
            <a:off x="660400" y="368300"/>
            <a:ext cx="177800" cy="177800"/>
          </a:xfrm>
          <a:prstGeom prst="rect">
            <a:avLst/>
          </a:prstGeom>
          <a:solidFill>
            <a:srgbClr val="087F7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Slide-22-text-2">
            <a:extLst>
              <a:ext uri="{FF2B5EF4-FFF2-40B4-BE49-F238E27FC236}">
                <a16:creationId xmlns:a16="http://schemas.microsoft.com/office/drawing/2014/main" id="{5F399804-0539-086E-4CD8-DCB3DCC42F6F}"/>
              </a:ext>
            </a:extLst>
          </p:cNvPr>
          <p:cNvSpPr txBox="1">
            <a:spLocks/>
          </p:cNvSpPr>
          <p:nvPr/>
        </p:nvSpPr>
        <p:spPr>
          <a:xfrm>
            <a:off x="965200" y="355599"/>
            <a:ext cx="91440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SUPPORTING MATERIAL</a:t>
            </a:r>
          </a:p>
        </p:txBody>
      </p:sp>
      <p:sp>
        <p:nvSpPr>
          <p:cNvPr id="4" name="Slide-22-text-3">
            <a:extLst>
              <a:ext uri="{FF2B5EF4-FFF2-40B4-BE49-F238E27FC236}">
                <a16:creationId xmlns:a16="http://schemas.microsoft.com/office/drawing/2014/main" id="{54225BFE-C4EC-AB44-8D13-841BD2CA71C9}"/>
              </a:ext>
            </a:extLst>
          </p:cNvPr>
          <p:cNvSpPr txBox="1">
            <a:spLocks/>
          </p:cNvSpPr>
          <p:nvPr/>
        </p:nvSpPr>
        <p:spPr>
          <a:xfrm>
            <a:off x="10287000" y="355599"/>
            <a:ext cx="1244600" cy="279400"/>
          </a:xfrm>
          <a:prstGeom prst="rect">
            <a:avLst/>
          </a:prstGeom>
          <a:noFill/>
        </p:spPr>
        <p:txBody>
          <a:bodyPr vert="horz" wrap="square" lIns="0" tIns="0" rIns="0" bIns="0" rtlCol="0">
            <a:noAutofit/>
          </a:bodyPr>
          <a:lstStyle/>
          <a:p>
            <a:r>
              <a:rPr lang="sv-SE" sz="1050" b="1">
                <a:solidFill>
                  <a:srgbClr val="536873"/>
                </a:solidFill>
                <a:latin typeface="Aptos" panose="020B0004020202020204" pitchFamily="34" charset="0"/>
              </a:rPr>
              <a:t>EDGE STUDIO</a:t>
            </a:r>
          </a:p>
        </p:txBody>
      </p:sp>
      <p:sp>
        <p:nvSpPr>
          <p:cNvPr id="5" name="Rectangle 4">
            <a:extLst>
              <a:ext uri="{FF2B5EF4-FFF2-40B4-BE49-F238E27FC236}">
                <a16:creationId xmlns:a16="http://schemas.microsoft.com/office/drawing/2014/main" id="{D83C1D8C-9A1B-5C11-626E-02880A23115C}"/>
              </a:ext>
            </a:extLst>
          </p:cNvPr>
          <p:cNvSpPr/>
          <p:nvPr/>
        </p:nvSpPr>
        <p:spPr>
          <a:xfrm>
            <a:off x="660400" y="6057900"/>
            <a:ext cx="10871200" cy="12700"/>
          </a:xfrm>
          <a:prstGeom prst="rect">
            <a:avLst/>
          </a:prstGeom>
          <a:solidFill>
            <a:srgbClr val="DCE1D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Slide-22-text-5">
            <a:extLst>
              <a:ext uri="{FF2B5EF4-FFF2-40B4-BE49-F238E27FC236}">
                <a16:creationId xmlns:a16="http://schemas.microsoft.com/office/drawing/2014/main" id="{9EC066D0-5119-9C0E-4AC4-04FEFA43792F}"/>
              </a:ext>
            </a:extLst>
          </p:cNvPr>
          <p:cNvSpPr txBox="1">
            <a:spLocks/>
          </p:cNvSpPr>
          <p:nvPr/>
        </p:nvSpPr>
        <p:spPr>
          <a:xfrm>
            <a:off x="660400" y="6210299"/>
            <a:ext cx="10033000" cy="406400"/>
          </a:xfrm>
          <a:prstGeom prst="rect">
            <a:avLst/>
          </a:prstGeom>
          <a:noFill/>
        </p:spPr>
        <p:txBody>
          <a:bodyPr vert="horz" wrap="square" lIns="0" tIns="0" rIns="0" bIns="0" rtlCol="0">
            <a:noAutofit/>
          </a:bodyPr>
          <a:lstStyle/>
          <a:p>
            <a:r>
              <a:rPr lang="en-GB" sz="1500" b="1">
                <a:solidFill>
                  <a:srgbClr val="087F75"/>
                </a:solidFill>
                <a:latin typeface="Aptos" panose="020B0004020202020204" pitchFamily="34" charset="0"/>
              </a:rPr>
              <a:t>Current application security policy changes only when implementation lands.</a:t>
            </a:r>
            <a:endParaRPr lang="sv-SE" sz="1500" b="1">
              <a:solidFill>
                <a:srgbClr val="087F75"/>
              </a:solidFill>
              <a:latin typeface="Aptos" panose="020B0004020202020204" pitchFamily="34" charset="0"/>
            </a:endParaRPr>
          </a:p>
        </p:txBody>
      </p:sp>
      <p:sp>
        <p:nvSpPr>
          <p:cNvPr id="7" name="Slide-22-text-6">
            <a:extLst>
              <a:ext uri="{FF2B5EF4-FFF2-40B4-BE49-F238E27FC236}">
                <a16:creationId xmlns:a16="http://schemas.microsoft.com/office/drawing/2014/main" id="{963E78D4-82E7-62E9-CAAB-33E59DFA8145}"/>
              </a:ext>
            </a:extLst>
          </p:cNvPr>
          <p:cNvSpPr txBox="1">
            <a:spLocks/>
          </p:cNvSpPr>
          <p:nvPr/>
        </p:nvSpPr>
        <p:spPr>
          <a:xfrm>
            <a:off x="10845800" y="6222999"/>
            <a:ext cx="762000" cy="292100"/>
          </a:xfrm>
          <a:prstGeom prst="rect">
            <a:avLst/>
          </a:prstGeom>
          <a:noFill/>
        </p:spPr>
        <p:txBody>
          <a:bodyPr vert="horz" wrap="square" lIns="0" tIns="0" rIns="0" bIns="0" rtlCol="0">
            <a:noAutofit/>
          </a:bodyPr>
          <a:lstStyle/>
          <a:p>
            <a:r>
              <a:rPr lang="sv-SE" sz="1050">
                <a:solidFill>
                  <a:srgbClr val="536873"/>
                </a:solidFill>
                <a:latin typeface="Aptos" panose="020B0004020202020204" pitchFamily="34" charset="0"/>
              </a:rPr>
              <a:t>22 / 22</a:t>
            </a:r>
          </a:p>
        </p:txBody>
      </p:sp>
      <p:sp>
        <p:nvSpPr>
          <p:cNvPr id="8" name="Slide-22-text-7">
            <a:extLst>
              <a:ext uri="{FF2B5EF4-FFF2-40B4-BE49-F238E27FC236}">
                <a16:creationId xmlns:a16="http://schemas.microsoft.com/office/drawing/2014/main" id="{8F967552-1804-2BC3-5185-33DE1036B4E4}"/>
              </a:ext>
            </a:extLst>
          </p:cNvPr>
          <p:cNvSpPr txBox="1">
            <a:spLocks/>
          </p:cNvSpPr>
          <p:nvPr/>
        </p:nvSpPr>
        <p:spPr>
          <a:xfrm>
            <a:off x="660400" y="1003299"/>
            <a:ext cx="10871200" cy="1104900"/>
          </a:xfrm>
          <a:prstGeom prst="rect">
            <a:avLst/>
          </a:prstGeom>
          <a:noFill/>
        </p:spPr>
        <p:txBody>
          <a:bodyPr vert="horz" wrap="square" lIns="0" tIns="0" rIns="0" bIns="0" rtlCol="0">
            <a:noAutofit/>
          </a:bodyPr>
          <a:lstStyle/>
          <a:p>
            <a:r>
              <a:rPr lang="en-GB" sz="3400" b="1">
                <a:solidFill>
                  <a:srgbClr val="142D3A"/>
                </a:solidFill>
                <a:latin typeface="Aptos" panose="020B0004020202020204" pitchFamily="34" charset="0"/>
              </a:rPr>
              <a:t>Appendix: trust and internal references</a:t>
            </a:r>
            <a:endParaRPr lang="sv-SE" sz="3400" b="1">
              <a:solidFill>
                <a:srgbClr val="142D3A"/>
              </a:solidFill>
              <a:latin typeface="Aptos" panose="020B0004020202020204" pitchFamily="34" charset="0"/>
            </a:endParaRPr>
          </a:p>
        </p:txBody>
      </p:sp>
      <p:sp>
        <p:nvSpPr>
          <p:cNvPr id="9" name="Slide-22-text-8">
            <a:extLst>
              <a:ext uri="{FF2B5EF4-FFF2-40B4-BE49-F238E27FC236}">
                <a16:creationId xmlns:a16="http://schemas.microsoft.com/office/drawing/2014/main" id="{9AEFF8EF-85E9-6B38-F6BC-E0649FFAB91F}"/>
              </a:ext>
            </a:extLst>
          </p:cNvPr>
          <p:cNvSpPr txBox="1">
            <a:spLocks/>
          </p:cNvSpPr>
          <p:nvPr/>
        </p:nvSpPr>
        <p:spPr>
          <a:xfrm>
            <a:off x="660400" y="2184399"/>
            <a:ext cx="10795000" cy="698500"/>
          </a:xfrm>
          <a:prstGeom prst="rect">
            <a:avLst/>
          </a:prstGeom>
          <a:noFill/>
        </p:spPr>
        <p:txBody>
          <a:bodyPr vert="horz" wrap="square" lIns="0" tIns="0" rIns="0" bIns="0" rtlCol="0">
            <a:noAutofit/>
          </a:bodyPr>
          <a:lstStyle/>
          <a:p>
            <a:pPr>
              <a:spcAft>
                <a:spcPts val="500"/>
              </a:spcAft>
            </a:pPr>
            <a:r>
              <a:rPr lang="en-GB" sz="1850">
                <a:solidFill>
                  <a:srgbClr val="536873"/>
                </a:solidFill>
                <a:latin typeface="Aptos" panose="020B0004020202020204" pitchFamily="34" charset="0"/>
              </a:rPr>
              <a:t>The plan defines delivery; the discussion records unresolved choices and alternatives.</a:t>
            </a:r>
            <a:endParaRPr lang="sv-SE" sz="1850">
              <a:solidFill>
                <a:srgbClr val="536873"/>
              </a:solidFill>
              <a:latin typeface="Aptos" panose="020B0004020202020204" pitchFamily="34" charset="0"/>
            </a:endParaRPr>
          </a:p>
        </p:txBody>
      </p:sp>
      <p:sp>
        <p:nvSpPr>
          <p:cNvPr id="10" name="Rectangle: Rounded Corners 9">
            <a:extLst>
              <a:ext uri="{FF2B5EF4-FFF2-40B4-BE49-F238E27FC236}">
                <a16:creationId xmlns:a16="http://schemas.microsoft.com/office/drawing/2014/main" id="{23710234-1BEA-030E-74D9-0D52A503F9A5}"/>
              </a:ext>
            </a:extLst>
          </p:cNvPr>
          <p:cNvSpPr/>
          <p:nvPr/>
        </p:nvSpPr>
        <p:spPr>
          <a:xfrm>
            <a:off x="660400" y="2984500"/>
            <a:ext cx="10871200" cy="876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Slide-22-text-10">
            <a:extLst>
              <a:ext uri="{FF2B5EF4-FFF2-40B4-BE49-F238E27FC236}">
                <a16:creationId xmlns:a16="http://schemas.microsoft.com/office/drawing/2014/main" id="{4DB69279-839E-3F37-4284-46B1C8D1560E}"/>
              </a:ext>
            </a:extLst>
          </p:cNvPr>
          <p:cNvSpPr txBox="1">
            <a:spLocks/>
          </p:cNvSpPr>
          <p:nvPr/>
        </p:nvSpPr>
        <p:spPr>
          <a:xfrm>
            <a:off x="863600" y="3098799"/>
            <a:ext cx="10477500" cy="317500"/>
          </a:xfrm>
          <a:prstGeom prst="rect">
            <a:avLst/>
          </a:prstGeom>
          <a:noFill/>
        </p:spPr>
        <p:txBody>
          <a:bodyPr vert="horz" wrap="square" lIns="0" tIns="0" rIns="0" bIns="0" rtlCol="0">
            <a:noAutofit/>
          </a:bodyPr>
          <a:lstStyle/>
          <a:p>
            <a:r>
              <a:rPr lang="en-GB" sz="1700" b="1">
                <a:solidFill>
                  <a:srgbClr val="142D3A"/>
                </a:solidFill>
                <a:latin typeface="Aptos" panose="020B0004020202020204" pitchFamily="34" charset="0"/>
              </a:rPr>
              <a:t>TUF / update metadata and repository trust</a:t>
            </a:r>
            <a:endParaRPr lang="sv-SE" sz="1700" b="1">
              <a:solidFill>
                <a:srgbClr val="142D3A"/>
              </a:solidFill>
              <a:latin typeface="Aptos" panose="020B0004020202020204" pitchFamily="34" charset="0"/>
            </a:endParaRPr>
          </a:p>
        </p:txBody>
      </p:sp>
      <p:sp>
        <p:nvSpPr>
          <p:cNvPr id="12" name="Slide-22-text-11">
            <a:extLst>
              <a:ext uri="{FF2B5EF4-FFF2-40B4-BE49-F238E27FC236}">
                <a16:creationId xmlns:a16="http://schemas.microsoft.com/office/drawing/2014/main" id="{46F8F50E-55BC-9F1B-7FFA-7E5F8FD0EF93}"/>
              </a:ext>
            </a:extLst>
          </p:cNvPr>
          <p:cNvSpPr txBox="1">
            <a:spLocks/>
          </p:cNvSpPr>
          <p:nvPr/>
        </p:nvSpPr>
        <p:spPr>
          <a:xfrm>
            <a:off x="863600" y="3454399"/>
            <a:ext cx="10477500" cy="393700"/>
          </a:xfrm>
          <a:prstGeom prst="rect">
            <a:avLst/>
          </a:prstGeom>
          <a:noFill/>
        </p:spPr>
        <p:txBody>
          <a:bodyPr vert="horz" wrap="square" lIns="0" tIns="0" rIns="0" bIns="0" rtlCol="0">
            <a:noAutofit/>
          </a:bodyPr>
          <a:lstStyle/>
          <a:p>
            <a:r>
              <a:rPr lang="sv-SE" sz="1150">
                <a:solidFill>
                  <a:srgbClr val="536873"/>
                </a:solidFill>
                <a:latin typeface="Aptos" panose="020B0004020202020204" pitchFamily="34" charset="0"/>
              </a:rPr>
              <a:t>https://theupdateframework.io/docs/overview/</a:t>
            </a:r>
          </a:p>
        </p:txBody>
      </p:sp>
      <p:sp>
        <p:nvSpPr>
          <p:cNvPr id="13" name="Rectangle: Rounded Corners 12">
            <a:extLst>
              <a:ext uri="{FF2B5EF4-FFF2-40B4-BE49-F238E27FC236}">
                <a16:creationId xmlns:a16="http://schemas.microsoft.com/office/drawing/2014/main" id="{63922C5F-011D-A13B-A421-DEDD39B29A50}"/>
              </a:ext>
            </a:extLst>
          </p:cNvPr>
          <p:cNvSpPr/>
          <p:nvPr/>
        </p:nvSpPr>
        <p:spPr>
          <a:xfrm>
            <a:off x="660400" y="3962400"/>
            <a:ext cx="10871200" cy="8763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Slide-22-text-13">
            <a:extLst>
              <a:ext uri="{FF2B5EF4-FFF2-40B4-BE49-F238E27FC236}">
                <a16:creationId xmlns:a16="http://schemas.microsoft.com/office/drawing/2014/main" id="{28FA1553-2B4C-7F3D-2813-FBA7886646AE}"/>
              </a:ext>
            </a:extLst>
          </p:cNvPr>
          <p:cNvSpPr txBox="1">
            <a:spLocks/>
          </p:cNvSpPr>
          <p:nvPr/>
        </p:nvSpPr>
        <p:spPr>
          <a:xfrm>
            <a:off x="863600" y="4076699"/>
            <a:ext cx="10477500" cy="317500"/>
          </a:xfrm>
          <a:prstGeom prst="rect">
            <a:avLst/>
          </a:prstGeom>
          <a:noFill/>
        </p:spPr>
        <p:txBody>
          <a:bodyPr vert="horz" wrap="square" lIns="0" tIns="0" rIns="0" bIns="0" rtlCol="0">
            <a:noAutofit/>
          </a:bodyPr>
          <a:lstStyle/>
          <a:p>
            <a:r>
              <a:rPr lang="en-GB" sz="1700" b="1">
                <a:solidFill>
                  <a:srgbClr val="142D3A"/>
                </a:solidFill>
                <a:latin typeface="Aptos" panose="020B0004020202020204" pitchFamily="34" charset="0"/>
              </a:rPr>
              <a:t>Docker / daemon control and host exposure</a:t>
            </a:r>
            <a:endParaRPr lang="sv-SE" sz="1700" b="1">
              <a:solidFill>
                <a:srgbClr val="142D3A"/>
              </a:solidFill>
              <a:latin typeface="Aptos" panose="020B0004020202020204" pitchFamily="34" charset="0"/>
            </a:endParaRPr>
          </a:p>
        </p:txBody>
      </p:sp>
      <p:sp>
        <p:nvSpPr>
          <p:cNvPr id="15" name="Slide-22-text-14">
            <a:extLst>
              <a:ext uri="{FF2B5EF4-FFF2-40B4-BE49-F238E27FC236}">
                <a16:creationId xmlns:a16="http://schemas.microsoft.com/office/drawing/2014/main" id="{191DDE1D-CB9B-C697-68F5-9B6D80C1C55C}"/>
              </a:ext>
            </a:extLst>
          </p:cNvPr>
          <p:cNvSpPr txBox="1">
            <a:spLocks/>
          </p:cNvSpPr>
          <p:nvPr/>
        </p:nvSpPr>
        <p:spPr>
          <a:xfrm>
            <a:off x="863600" y="4432299"/>
            <a:ext cx="10477500" cy="393700"/>
          </a:xfrm>
          <a:prstGeom prst="rect">
            <a:avLst/>
          </a:prstGeom>
          <a:noFill/>
        </p:spPr>
        <p:txBody>
          <a:bodyPr vert="horz" wrap="square" lIns="0" tIns="0" rIns="0" bIns="0" rtlCol="0">
            <a:noAutofit/>
          </a:bodyPr>
          <a:lstStyle/>
          <a:p>
            <a:r>
              <a:rPr lang="sv-SE" sz="1150">
                <a:solidFill>
                  <a:srgbClr val="536873"/>
                </a:solidFill>
                <a:latin typeface="Aptos" panose="020B0004020202020204" pitchFamily="34" charset="0"/>
              </a:rPr>
              <a:t>https://docs.docker.com/engine/security/</a:t>
            </a:r>
          </a:p>
        </p:txBody>
      </p:sp>
      <p:sp>
        <p:nvSpPr>
          <p:cNvPr id="16" name="Rectangle: Rounded Corners 15">
            <a:extLst>
              <a:ext uri="{FF2B5EF4-FFF2-40B4-BE49-F238E27FC236}">
                <a16:creationId xmlns:a16="http://schemas.microsoft.com/office/drawing/2014/main" id="{4A6E4781-77BF-D459-1513-E9B0C71BB9AD}"/>
              </a:ext>
            </a:extLst>
          </p:cNvPr>
          <p:cNvSpPr/>
          <p:nvPr/>
        </p:nvSpPr>
        <p:spPr>
          <a:xfrm>
            <a:off x="660400" y="4940300"/>
            <a:ext cx="10871200" cy="1079500"/>
          </a:xfrm>
          <a:prstGeom prst="roundRect">
            <a:avLst>
              <a:gd name="adj" fmla="val 8000"/>
            </a:avLst>
          </a:prstGeom>
          <a:solidFill>
            <a:srgbClr val="FFFFFF"/>
          </a:solidFill>
          <a:ln w="8890">
            <a:solidFill>
              <a:srgbClr val="DCE1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Slide-22-text-16">
            <a:extLst>
              <a:ext uri="{FF2B5EF4-FFF2-40B4-BE49-F238E27FC236}">
                <a16:creationId xmlns:a16="http://schemas.microsoft.com/office/drawing/2014/main" id="{1899AC4D-AF53-0068-6DC1-1FFAB813A01C}"/>
              </a:ext>
            </a:extLst>
          </p:cNvPr>
          <p:cNvSpPr txBox="1">
            <a:spLocks/>
          </p:cNvSpPr>
          <p:nvPr/>
        </p:nvSpPr>
        <p:spPr>
          <a:xfrm>
            <a:off x="863600" y="5054599"/>
            <a:ext cx="10477500" cy="317500"/>
          </a:xfrm>
          <a:prstGeom prst="rect">
            <a:avLst/>
          </a:prstGeom>
          <a:noFill/>
        </p:spPr>
        <p:txBody>
          <a:bodyPr vert="horz" wrap="square" lIns="0" tIns="0" rIns="0" bIns="0" rtlCol="0">
            <a:noAutofit/>
          </a:bodyPr>
          <a:lstStyle/>
          <a:p>
            <a:r>
              <a:rPr lang="sv-SE" sz="1700" b="1">
                <a:solidFill>
                  <a:srgbClr val="142D3A"/>
                </a:solidFill>
                <a:latin typeface="Aptos" panose="020B0004020202020204" pitchFamily="34" charset="0"/>
              </a:rPr>
              <a:t>Repository documents</a:t>
            </a:r>
          </a:p>
        </p:txBody>
      </p:sp>
      <p:sp>
        <p:nvSpPr>
          <p:cNvPr id="18" name="Slide-22-text-17">
            <a:extLst>
              <a:ext uri="{FF2B5EF4-FFF2-40B4-BE49-F238E27FC236}">
                <a16:creationId xmlns:a16="http://schemas.microsoft.com/office/drawing/2014/main" id="{42DACC21-EABF-C2D7-77B1-8991D16EC592}"/>
              </a:ext>
            </a:extLst>
          </p:cNvPr>
          <p:cNvSpPr txBox="1">
            <a:spLocks/>
          </p:cNvSpPr>
          <p:nvPr/>
        </p:nvSpPr>
        <p:spPr>
          <a:xfrm>
            <a:off x="863600" y="5410199"/>
            <a:ext cx="10477500" cy="596900"/>
          </a:xfrm>
          <a:prstGeom prst="rect">
            <a:avLst/>
          </a:prstGeom>
          <a:noFill/>
        </p:spPr>
        <p:txBody>
          <a:bodyPr vert="horz" wrap="square" lIns="0" tIns="0" rIns="0" bIns="0" rtlCol="0">
            <a:noAutofit/>
          </a:bodyPr>
          <a:lstStyle/>
          <a:p>
            <a:r>
              <a:rPr lang="en-GB" sz="1150">
                <a:solidFill>
                  <a:srgbClr val="536873"/>
                </a:solidFill>
                <a:latin typeface="Aptos" panose="020B0004020202020204" pitchFamily="34" charset="0"/>
              </a:rPr>
              <a:t>Implementation: docs/plans/module-builder.md
Discussion: docs/plans/module-builder/discussion.md
Presentation source: this stakeholder brief</a:t>
            </a:r>
            <a:endParaRPr lang="sv-SE" sz="1150">
              <a:solidFill>
                <a:srgbClr val="536873"/>
              </a:solidFill>
              <a:latin typeface="Aptos" panose="020B0004020202020204" pitchFamily="34" charset="0"/>
            </a:endParaRPr>
          </a:p>
        </p:txBody>
      </p:sp>
    </p:spTree>
    <p:extLst>
      <p:ext uri="{BB962C8B-B14F-4D97-AF65-F5344CB8AC3E}">
        <p14:creationId xmlns:p14="http://schemas.microsoft.com/office/powerpoint/2010/main" val="1702910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3948</Words>
  <Application>Microsoft Office PowerPoint</Application>
  <PresentationFormat>Custom</PresentationFormat>
  <Paragraphs>323</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Rasmus Wersäll</dc:creator>
  <cp:lastModifiedBy>Rasmus Wersäll</cp:lastModifiedBy>
  <cp:revision>1</cp:revision>
  <dcterms:created xsi:type="dcterms:W3CDTF">2026-10-20T12:23:39Z</dcterms:created>
  <dcterms:modified xsi:type="dcterms:W3CDTF">2026-10-20T12:23:39Z</dcterms:modified>
</cp:coreProperties>
</file>